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1535" r:id="rId2"/>
    <p:sldId id="256" r:id="rId3"/>
    <p:sldId id="271" r:id="rId4"/>
    <p:sldId id="1531" r:id="rId5"/>
    <p:sldId id="258" r:id="rId6"/>
    <p:sldId id="259" r:id="rId7"/>
    <p:sldId id="261" r:id="rId8"/>
    <p:sldId id="1543" r:id="rId9"/>
    <p:sldId id="1547" r:id="rId10"/>
    <p:sldId id="1542" r:id="rId11"/>
    <p:sldId id="1544" r:id="rId12"/>
    <p:sldId id="1545" r:id="rId13"/>
    <p:sldId id="1546" r:id="rId14"/>
    <p:sldId id="1548" r:id="rId15"/>
    <p:sldId id="262" r:id="rId16"/>
    <p:sldId id="264" r:id="rId17"/>
    <p:sldId id="265" r:id="rId18"/>
    <p:sldId id="268" r:id="rId19"/>
    <p:sldId id="266" r:id="rId20"/>
    <p:sldId id="1549" r:id="rId21"/>
    <p:sldId id="270" r:id="rId22"/>
    <p:sldId id="269" r:id="rId23"/>
    <p:sldId id="1550" r:id="rId24"/>
    <p:sldId id="153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909"/>
    <a:srgbClr val="E7EAED"/>
    <a:srgbClr val="0F9ED5"/>
    <a:srgbClr val="0071BA"/>
    <a:srgbClr val="F2F2F2"/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9" d="100"/>
          <a:sy n="89" d="100"/>
        </p:scale>
        <p:origin x="1434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A815E5-AE1E-4249-A377-9F8627FFCACE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5F6DD-274F-4422-9CE4-1D804A963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944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90343-5660-2F5F-2FAC-6D165EAC6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19F28F-C7B6-249E-8304-4082F0DA4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40FB0-2F86-0FCC-30A0-2380B28C5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9253-5311-4014-94D0-2A85F576988C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53EA1-819B-910D-EDA9-B7CF12A28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8F20A-5477-C8E4-F869-E71E38D0C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9D652-F68F-43A5-BF2E-82D6AB474D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371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7ECD3-EA9C-80F5-4D01-2BB3421CD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99589-B7FA-62D5-6E6C-B4C4134FE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AE80B-279E-F076-D1B1-B34F4ABE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9253-5311-4014-94D0-2A85F576988C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74DB7-13AC-D270-AC36-BF607B786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174C9-8CEF-461D-5695-2170F27D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9D652-F68F-43A5-BF2E-82D6AB474D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4284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88C5E-C8C1-DD1D-3FA7-AF3E3AE91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D38BF-29B0-0614-16AE-1E53E47DB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65F93-6AC8-0A8C-9778-F6098AE73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9253-5311-4014-94D0-2A85F576988C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7CDD1-FC44-934B-3581-F5C3D7128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86683-2016-40DE-C037-6793A8606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9D652-F68F-43A5-BF2E-82D6AB474D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884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80CC9-1441-0F53-C274-BEC372B36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038E7-4A10-30CC-EC25-37500643ED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40CFE4-0CA5-4B58-ACD2-11392890A8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EA617-BD37-11B4-6FCC-E9609C02C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9253-5311-4014-94D0-2A85F576988C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CD501-5BE3-986D-FA86-F217D6ED8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0839E-DAC6-6BD8-BE74-A948BF0BE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9D652-F68F-43A5-BF2E-82D6AB474D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634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E0AFB-6555-6671-E2F8-DEC411D71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86483-579C-33F0-DA5B-4C47DDFE7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07B3C7-6999-A7E0-5B16-D33FF7C8C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587F5A-B5B4-44AC-75F6-B9CC051711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AA88D8-EEA3-6A64-EBDE-BE08DCAA1B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8B9BD3-4FB5-FEE2-C935-F22C97366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9253-5311-4014-94D0-2A85F576988C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9554FD-8BA5-9A22-464F-BB1BA1043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7C58B1-B1DE-C4EE-B6B8-88B630A45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9D652-F68F-43A5-BF2E-82D6AB474D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1682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02B9E-71A9-3D05-CEAB-B014B348B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E4D279-ECBA-B036-FA0F-DEE89ECF3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9253-5311-4014-94D0-2A85F576988C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170A04-AE5C-97E5-CBAD-0BEE5A8F0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F759E-90A7-85C6-91CF-B17A19120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9D652-F68F-43A5-BF2E-82D6AB474D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7616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53A2A8-6E94-9BF1-CF40-8FDE8DCF8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9253-5311-4014-94D0-2A85F576988C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09F898-156F-FB1A-3F84-6FC902CBA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F6B3B-ED67-4914-AA75-499FFD977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9D652-F68F-43A5-BF2E-82D6AB474D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5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AA9E7-8C2B-25A6-B3DF-1DF2AF7C1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A7C55-76B2-0090-1236-A6BCC0F14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A34130-68AC-62E5-FAC3-0062188AD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D9433B-6D4F-CEEC-9D57-2080B5E5D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9253-5311-4014-94D0-2A85F576988C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01C963-4A8B-777B-E3B0-C5465896C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1FF49-25FF-A726-5F97-4A7BCA40D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9D652-F68F-43A5-BF2E-82D6AB474D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0617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300BE-6EC4-EC07-A226-DF121ED64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A9A9AD-AA08-A470-D223-53D4A30878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60F0B-102D-DDE4-C373-EF2ACE866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CD0FC-323A-10BF-0B19-ACF0533B8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9253-5311-4014-94D0-2A85F576988C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AF22F-BCA2-424D-1E8D-79469D063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9B34F-8158-3404-4FAF-A9BDB6321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9D652-F68F-43A5-BF2E-82D6AB474D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5108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0C78E-DBAB-09B0-A42D-949643FF2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96829B-9DE1-68C0-3969-76CEA54B9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0B2EC-85F9-3FA1-2BEC-782C95CCE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9253-5311-4014-94D0-2A85F576988C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3A9F8-A027-86D9-40CE-6928BBB46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8987A-58F6-A203-AFA6-C82EE2032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9D652-F68F-43A5-BF2E-82D6AB474D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8567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71B011-49C1-B62C-A770-C1BA9AFC7E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3CC1A-2B77-9DA9-6DA3-4F5088BE5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0E2FA-C156-A406-ED4B-81C070BDD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C9253-5311-4014-94D0-2A85F576988C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5D58A-5CA9-1F56-F69F-9CA3F6107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9149D-6F5F-E8BA-301C-85DCB5D9A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9D652-F68F-43A5-BF2E-82D6AB474D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8634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1464C7-B33F-44C3-FE43-193488B78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165E5-186E-7C95-C888-D1B2D7D8B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A8591-1E03-B0E5-ED81-A01A710E6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5C9253-5311-4014-94D0-2A85F576988C}" type="datetimeFigureOut">
              <a:rPr lang="en-GB" smtClean="0"/>
              <a:t>16/10/2026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E5E43-1E1E-D410-D1E1-F22C1453CE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A4AE6-C942-6351-4C0E-71D9329F90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D9D652-F68F-43A5-BF2E-82D6AB474D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9628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0.png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image" Target="../media/image65.png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F72B1E9-76F2-705A-0740-FAA84D5EE711}"/>
              </a:ext>
            </a:extLst>
          </p:cNvPr>
          <p:cNvSpPr/>
          <p:nvPr/>
        </p:nvSpPr>
        <p:spPr>
          <a:xfrm>
            <a:off x="0" y="6449900"/>
            <a:ext cx="12192000" cy="4081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5FC722-FE00-50EF-E835-F378FFDAA2F7}"/>
              </a:ext>
            </a:extLst>
          </p:cNvPr>
          <p:cNvSpPr/>
          <p:nvPr/>
        </p:nvSpPr>
        <p:spPr>
          <a:xfrm>
            <a:off x="0" y="21488"/>
            <a:ext cx="12192000" cy="6645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A10065-4FE3-0EDD-1066-EA909469B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584" y="884796"/>
            <a:ext cx="1317470" cy="499524"/>
          </a:xfrm>
        </p:spPr>
        <p:txBody>
          <a:bodyPr>
            <a:normAutofit/>
          </a:bodyPr>
          <a:lstStyle/>
          <a:p>
            <a:pPr algn="l"/>
            <a:r>
              <a:rPr lang="en-GB" sz="2400" dirty="0"/>
              <a:t>HYDeep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00438-E24E-43A4-21EB-E2B59E9CBA22}"/>
              </a:ext>
            </a:extLst>
          </p:cNvPr>
          <p:cNvSpPr txBox="1">
            <a:spLocks/>
          </p:cNvSpPr>
          <p:nvPr/>
        </p:nvSpPr>
        <p:spPr>
          <a:xfrm>
            <a:off x="127820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09/2026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  <a:sym typeface="Symbol" panose="05050102010706020507" pitchFamily="18" charset="2"/>
              </a:rPr>
              <a:t>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AF34E9-2852-5600-C36B-0804CB272C28}"/>
              </a:ext>
            </a:extLst>
          </p:cNvPr>
          <p:cNvSpPr txBox="1"/>
          <p:nvPr/>
        </p:nvSpPr>
        <p:spPr>
          <a:xfrm>
            <a:off x="0" y="6500060"/>
            <a:ext cx="522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bad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L. Gündersen</a:t>
            </a:r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A4B18115-4507-4CD5-B56B-E225B322B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077" y="6471387"/>
            <a:ext cx="2743200" cy="365125"/>
          </a:xfrm>
        </p:spPr>
        <p:txBody>
          <a:bodyPr/>
          <a:lstStyle/>
          <a:p>
            <a:fld id="{C45580C8-1F39-4488-AB14-6575A0DF9911}" type="slidenum">
              <a:rPr lang="en-GB" sz="180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1</a:t>
            </a:fld>
            <a:endParaRPr lang="en-GB" sz="1800" dirty="0">
              <a:solidFill>
                <a:schemeClr val="bg1"/>
              </a:solidFill>
              <a:latin typeface="Abadi" panose="020F0502020204030204" pitchFamily="34" charset="0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49C1EF-0F13-E5B2-7430-5FAE6006398B}"/>
              </a:ext>
            </a:extLst>
          </p:cNvPr>
          <p:cNvSpPr txBox="1"/>
          <p:nvPr/>
        </p:nvSpPr>
        <p:spPr>
          <a:xfrm>
            <a:off x="1757845" y="969339"/>
            <a:ext cx="100355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Hybrid Deep modelling of CHO processes for biotherapeutics production optimization</a:t>
            </a:r>
            <a:endParaRPr lang="en-GB" sz="20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97DC48E-E379-9E2C-10A4-3532BA8879CA}"/>
              </a:ext>
            </a:extLst>
          </p:cNvPr>
          <p:cNvSpPr>
            <a:spLocks noChangeAspect="1"/>
          </p:cNvSpPr>
          <p:nvPr/>
        </p:nvSpPr>
        <p:spPr>
          <a:xfrm>
            <a:off x="1641083" y="1142454"/>
            <a:ext cx="54000" cy="5388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71502DF-0ADF-88A6-9BB6-69E36C40888B}"/>
              </a:ext>
            </a:extLst>
          </p:cNvPr>
          <p:cNvSpPr txBox="1">
            <a:spLocks/>
          </p:cNvSpPr>
          <p:nvPr/>
        </p:nvSpPr>
        <p:spPr>
          <a:xfrm>
            <a:off x="499789" y="2099087"/>
            <a:ext cx="9988918" cy="1490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70000"/>
              </a:lnSpc>
              <a:spcBef>
                <a:spcPct val="0"/>
              </a:spcBef>
            </a:pPr>
            <a:r>
              <a:rPr lang="en-GB" sz="1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badi" panose="020F0502020204030204" pitchFamily="34" charset="0"/>
              </a:rPr>
              <a:t>Part I: Regularization and Selection </a:t>
            </a:r>
          </a:p>
          <a:p>
            <a:pPr marL="540000" lvl="1" indent="-144000" algn="l">
              <a:lnSpc>
                <a:spcPct val="17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latin typeface="Abadi" panose="020F0502020204030204" pitchFamily="34" charset="0"/>
              </a:rPr>
              <a:t>Develop metabolic model for the generation of synthetic datasets of CHO-based processes for mAb production; </a:t>
            </a:r>
          </a:p>
          <a:p>
            <a:pPr marL="540000" lvl="1" indent="-144000" algn="l">
              <a:lnSpc>
                <a:spcPct val="17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latin typeface="Abadi" panose="020F0502020204030204" pitchFamily="34" charset="0"/>
              </a:rPr>
              <a:t>Evaluate deep learning and regularization algorithms for selection methods (Akaike Information Criteria and Validation loss) of hybrid models;</a:t>
            </a:r>
          </a:p>
          <a:p>
            <a:pPr marL="540000" lvl="1" indent="-144000" algn="l">
              <a:lnSpc>
                <a:spcPct val="17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latin typeface="Abadi" panose="020F0502020204030204" pitchFamily="34" charset="0"/>
              </a:rPr>
              <a:t>Tune hyperparameters using Optuna and evaluate model performance.</a:t>
            </a:r>
            <a:endParaRPr lang="en-GB" sz="1400" b="1" dirty="0">
              <a:solidFill>
                <a:srgbClr val="FF0000"/>
              </a:solidFill>
              <a:latin typeface="Abad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BC3EEF-0C01-C38F-DC4C-63F5EA54D82E}"/>
              </a:ext>
            </a:extLst>
          </p:cNvPr>
          <p:cNvSpPr txBox="1"/>
          <p:nvPr/>
        </p:nvSpPr>
        <p:spPr>
          <a:xfrm>
            <a:off x="748209" y="1604627"/>
            <a:ext cx="853183" cy="338554"/>
          </a:xfrm>
          <a:prstGeom prst="rect">
            <a:avLst/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n-GB" sz="1600" dirty="0"/>
              <a:t>Goal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AFA489-24B2-C53A-7151-512DEF9D854F}"/>
              </a:ext>
            </a:extLst>
          </p:cNvPr>
          <p:cNvSpPr txBox="1"/>
          <p:nvPr/>
        </p:nvSpPr>
        <p:spPr>
          <a:xfrm>
            <a:off x="1668083" y="1538291"/>
            <a:ext cx="9568629" cy="3815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Abadi" panose="020F0502020204030204" pitchFamily="34" charset="0"/>
              </a:rPr>
              <a:t>Develop a hybrid deep modelling (</a:t>
            </a:r>
            <a:r>
              <a:rPr lang="en-US" sz="1400" dirty="0" err="1">
                <a:latin typeface="Abadi" panose="020F0502020204030204" pitchFamily="34" charset="0"/>
              </a:rPr>
              <a:t>HYDeep</a:t>
            </a:r>
            <a:r>
              <a:rPr lang="en-US" sz="1400" dirty="0">
                <a:latin typeface="Abadi" panose="020F0502020204030204" pitchFamily="34" charset="0"/>
              </a:rPr>
              <a:t>) platform for CHO cell processes towards the production of a </a:t>
            </a:r>
            <a:r>
              <a:rPr lang="en-US" sz="1400" b="1" dirty="0">
                <a:latin typeface="Abadi" panose="020F0502020204030204" pitchFamily="34" charset="0"/>
              </a:rPr>
              <a:t>single</a:t>
            </a:r>
            <a:r>
              <a:rPr lang="en-US" sz="1400" dirty="0">
                <a:latin typeface="Abadi" panose="020F0502020204030204" pitchFamily="34" charset="0"/>
              </a:rPr>
              <a:t> </a:t>
            </a:r>
            <a:r>
              <a:rPr lang="en-US" sz="1400" dirty="0" err="1">
                <a:latin typeface="Abadi" panose="020F0502020204030204" pitchFamily="34" charset="0"/>
              </a:rPr>
              <a:t>mAb</a:t>
            </a:r>
            <a:r>
              <a:rPr lang="en-US" sz="1400" dirty="0">
                <a:latin typeface="Abadi" panose="020F0502020204030204" pitchFamily="34" charset="0"/>
              </a:rPr>
              <a:t>.</a:t>
            </a:r>
            <a:endParaRPr lang="en-GB" sz="1400" dirty="0">
              <a:latin typeface="Abadi" panose="020F0502020204030204" pitchFamily="34" charset="0"/>
            </a:endParaRP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6E09FD30-F855-47B4-A6F3-9EF9F9AB6BAF}"/>
              </a:ext>
            </a:extLst>
          </p:cNvPr>
          <p:cNvSpPr txBox="1">
            <a:spLocks/>
          </p:cNvSpPr>
          <p:nvPr/>
        </p:nvSpPr>
        <p:spPr>
          <a:xfrm>
            <a:off x="499789" y="3693773"/>
            <a:ext cx="7505696" cy="11056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70000"/>
              </a:lnSpc>
              <a:spcBef>
                <a:spcPct val="0"/>
              </a:spcBef>
            </a:pPr>
            <a:r>
              <a:rPr lang="en-GB" sz="1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badi" panose="020F0502020204030204" pitchFamily="34" charset="0"/>
              </a:rPr>
              <a:t>Part II: PCA Implementation</a:t>
            </a:r>
          </a:p>
          <a:p>
            <a:pPr marL="540000" lvl="1" indent="-144000" algn="l">
              <a:lnSpc>
                <a:spcPct val="17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latin typeface="Abadi" panose="020F0502020204030204" pitchFamily="34" charset="0"/>
              </a:rPr>
              <a:t>Perform PCA on synthetic dataset to incorporate eigenvectors (loadings) in the inputs of the Neural Network;</a:t>
            </a:r>
          </a:p>
          <a:p>
            <a:pPr marL="540000" lvl="1" indent="-144000" algn="l">
              <a:lnSpc>
                <a:spcPct val="17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latin typeface="Abadi" panose="020F0502020204030204" pitchFamily="34" charset="0"/>
              </a:rPr>
              <a:t>Tune hyperparameters using Optuna and evaluate optimal number of Principal Components.</a:t>
            </a:r>
            <a:endParaRPr lang="en-GB" sz="1400" b="1" dirty="0">
              <a:solidFill>
                <a:srgbClr val="FF0000"/>
              </a:solidFill>
              <a:latin typeface="Abadi" panose="020F0502020204030204" pitchFamily="34" charset="0"/>
            </a:endParaRP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9F6AB8D8-02F9-4E3A-A7EE-5B13900AA854}"/>
              </a:ext>
            </a:extLst>
          </p:cNvPr>
          <p:cNvSpPr txBox="1">
            <a:spLocks/>
          </p:cNvSpPr>
          <p:nvPr/>
        </p:nvSpPr>
        <p:spPr>
          <a:xfrm>
            <a:off x="499789" y="4903297"/>
            <a:ext cx="7505696" cy="11056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70000"/>
              </a:lnSpc>
              <a:spcBef>
                <a:spcPct val="0"/>
              </a:spcBef>
            </a:pPr>
            <a:r>
              <a:rPr lang="en-GB" sz="1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badi" panose="020F0502020204030204" pitchFamily="34" charset="0"/>
              </a:rPr>
              <a:t>Part III: Glycosylation</a:t>
            </a:r>
          </a:p>
          <a:p>
            <a:pPr marL="540000" lvl="1" indent="-144000" algn="l">
              <a:lnSpc>
                <a:spcPct val="17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latin typeface="Abadi" panose="020F0502020204030204" pitchFamily="34" charset="0"/>
              </a:rPr>
              <a:t>Develop glycosylation model and incorporate it into previous structure;</a:t>
            </a:r>
          </a:p>
          <a:p>
            <a:pPr marL="540000" lvl="1" indent="-144000" algn="l">
              <a:lnSpc>
                <a:spcPct val="17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latin typeface="Abadi" panose="020F0502020204030204" pitchFamily="34" charset="0"/>
              </a:rPr>
              <a:t>Evaluate impact of glycosylation.</a:t>
            </a:r>
            <a:endParaRPr lang="en-GB" sz="1400" b="1" dirty="0">
              <a:solidFill>
                <a:srgbClr val="FF0000"/>
              </a:solidFill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963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F72B1E9-76F2-705A-0740-FAA84D5EE711}"/>
              </a:ext>
            </a:extLst>
          </p:cNvPr>
          <p:cNvSpPr/>
          <p:nvPr/>
        </p:nvSpPr>
        <p:spPr>
          <a:xfrm>
            <a:off x="0" y="6449900"/>
            <a:ext cx="12192000" cy="408100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5FC722-FE00-50EF-E835-F378FFDAA2F7}"/>
              </a:ext>
            </a:extLst>
          </p:cNvPr>
          <p:cNvSpPr/>
          <p:nvPr/>
        </p:nvSpPr>
        <p:spPr>
          <a:xfrm>
            <a:off x="0" y="21488"/>
            <a:ext cx="12192000" cy="664512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A10065-4FE3-0EDD-1066-EA909469B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583" y="884796"/>
            <a:ext cx="3042201" cy="499524"/>
          </a:xfrm>
        </p:spPr>
        <p:txBody>
          <a:bodyPr>
            <a:normAutofit fontScale="90000"/>
          </a:bodyPr>
          <a:lstStyle/>
          <a:p>
            <a:r>
              <a:rPr lang="en-GB" sz="2400" dirty="0"/>
              <a:t>Hybrid Deep Modelling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00438-E24E-43A4-21EB-E2B59E9CBA22}"/>
              </a:ext>
            </a:extLst>
          </p:cNvPr>
          <p:cNvSpPr txBox="1">
            <a:spLocks/>
          </p:cNvSpPr>
          <p:nvPr/>
        </p:nvSpPr>
        <p:spPr>
          <a:xfrm>
            <a:off x="127820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09/2026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  <a:sym typeface="Symbol" panose="05050102010706020507" pitchFamily="18" charset="2"/>
              </a:rPr>
              <a:t>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Introduction to Part 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AF34E9-2852-5600-C36B-0804CB272C28}"/>
              </a:ext>
            </a:extLst>
          </p:cNvPr>
          <p:cNvSpPr txBox="1"/>
          <p:nvPr/>
        </p:nvSpPr>
        <p:spPr>
          <a:xfrm>
            <a:off x="0" y="6500060"/>
            <a:ext cx="522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bad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L. Gündersen</a:t>
            </a:r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A4B18115-4507-4CD5-B56B-E225B322B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077" y="6471387"/>
            <a:ext cx="2743200" cy="365125"/>
          </a:xfrm>
        </p:spPr>
        <p:txBody>
          <a:bodyPr/>
          <a:lstStyle/>
          <a:p>
            <a:fld id="{C45580C8-1F39-4488-AB14-6575A0DF9911}" type="slidenum">
              <a:rPr lang="en-GB" sz="180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2</a:t>
            </a:fld>
            <a:endParaRPr lang="en-GB" sz="1800" dirty="0">
              <a:solidFill>
                <a:schemeClr val="bg1"/>
              </a:solidFill>
              <a:latin typeface="Abadi" panose="020F0502020204030204" pitchFamily="34" charset="0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49C1EF-0F13-E5B2-7430-5FAE6006398B}"/>
              </a:ext>
            </a:extLst>
          </p:cNvPr>
          <p:cNvSpPr txBox="1"/>
          <p:nvPr/>
        </p:nvSpPr>
        <p:spPr>
          <a:xfrm>
            <a:off x="3631464" y="934503"/>
            <a:ext cx="69677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empirical</a:t>
            </a:r>
            <a:r>
              <a:rPr lang="en-GB" sz="2000" dirty="0"/>
              <a:t> </a:t>
            </a:r>
            <a:r>
              <a:rPr lang="en-GB" sz="2000" i="1" dirty="0"/>
              <a:t>versus</a:t>
            </a:r>
            <a:r>
              <a:rPr lang="en-GB" sz="2000" dirty="0"/>
              <a:t> </a:t>
            </a:r>
            <a:r>
              <a:rPr lang="en-GB" sz="2000" b="1" dirty="0"/>
              <a:t>probabilistic</a:t>
            </a:r>
            <a:r>
              <a:rPr lang="en-GB" sz="2000" dirty="0"/>
              <a:t> model selection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97DC48E-E379-9E2C-10A4-3532BA8879CA}"/>
              </a:ext>
            </a:extLst>
          </p:cNvPr>
          <p:cNvSpPr>
            <a:spLocks noChangeAspect="1"/>
          </p:cNvSpPr>
          <p:nvPr/>
        </p:nvSpPr>
        <p:spPr>
          <a:xfrm>
            <a:off x="3514702" y="1107618"/>
            <a:ext cx="54000" cy="53880"/>
          </a:xfrm>
          <a:prstGeom prst="ellipse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9E02F476-CE77-CD69-8DA9-632BA2CDF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026" y="1629161"/>
            <a:ext cx="4331236" cy="2115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F71502DF-0ADF-88A6-9BB6-69E36C40888B}"/>
              </a:ext>
            </a:extLst>
          </p:cNvPr>
          <p:cNvSpPr txBox="1">
            <a:spLocks/>
          </p:cNvSpPr>
          <p:nvPr/>
        </p:nvSpPr>
        <p:spPr>
          <a:xfrm>
            <a:off x="338422" y="1525353"/>
            <a:ext cx="6967709" cy="224098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70000"/>
              </a:lnSpc>
              <a:spcBef>
                <a:spcPct val="0"/>
              </a:spcBef>
            </a:pPr>
            <a:r>
              <a:rPr lang="en-GB" sz="1500" dirty="0">
                <a:solidFill>
                  <a:srgbClr val="0071BA"/>
                </a:solidFill>
                <a:latin typeface="Abadi" panose="020F0502020204030204" pitchFamily="34" charset="0"/>
              </a:rPr>
              <a:t>Synthetic data:</a:t>
            </a:r>
          </a:p>
          <a:p>
            <a:pPr marL="540000" lvl="1" indent="-144000" algn="l">
              <a:lnSpc>
                <a:spcPct val="17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latin typeface="Abadi" panose="020F0502020204030204" pitchFamily="34" charset="0"/>
              </a:rPr>
              <a:t>DoE framework based on induction time, and pre/post feed rates;</a:t>
            </a:r>
          </a:p>
          <a:p>
            <a:pPr marL="540000" lvl="1" indent="-144000" algn="l">
              <a:lnSpc>
                <a:spcPct val="17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latin typeface="Abadi" panose="020F0502020204030204" pitchFamily="34" charset="0"/>
              </a:rPr>
              <a:t>Metabolic network generates intra and extracellular concentrations of species;</a:t>
            </a:r>
          </a:p>
          <a:p>
            <a:pPr marL="540000" lvl="1" indent="-144000" algn="l">
              <a:lnSpc>
                <a:spcPct val="17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latin typeface="Abadi" panose="020F0502020204030204" pitchFamily="34" charset="0"/>
              </a:rPr>
              <a:t>Gaussian noise is added to the dataset at 10% the measured value;</a:t>
            </a:r>
          </a:p>
          <a:p>
            <a:pPr marL="540000" lvl="1" indent="-144000" algn="l">
              <a:lnSpc>
                <a:spcPct val="17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400" b="1" dirty="0">
                <a:latin typeface="Abadi" panose="020F0502020204030204" pitchFamily="34" charset="0"/>
              </a:rPr>
              <a:t>DoE 15 total batches; 1 for testing (max </a:t>
            </a:r>
            <a:r>
              <a:rPr lang="en-GB" sz="1400" b="1" dirty="0" err="1">
                <a:latin typeface="Abadi" panose="020F0502020204030204" pitchFamily="34" charset="0"/>
              </a:rPr>
              <a:t>mAB</a:t>
            </a:r>
            <a:r>
              <a:rPr lang="en-GB" sz="1400" b="1" dirty="0">
                <a:latin typeface="Abadi" panose="020F0502020204030204" pitchFamily="34" charset="0"/>
              </a:rPr>
              <a:t> production);</a:t>
            </a:r>
          </a:p>
          <a:p>
            <a:pPr marL="540000" lvl="1" indent="-144000" algn="l">
              <a:lnSpc>
                <a:spcPct val="17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400" b="1" dirty="0">
                <a:latin typeface="Abadi" panose="020F0502020204030204" pitchFamily="34" charset="0"/>
              </a:rPr>
              <a:t>(72 commercial mAbs/ 15 total batches for each);</a:t>
            </a:r>
          </a:p>
          <a:p>
            <a:pPr marL="540000" lvl="1" indent="-144000" algn="l">
              <a:lnSpc>
                <a:spcPct val="17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FF0000"/>
                </a:solidFill>
                <a:latin typeface="Abadi" panose="020F0502020204030204" pitchFamily="34" charset="0"/>
              </a:rPr>
              <a:t>No glycosylation.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870E9A-D8E4-4327-8624-0B5F8F1903CE}"/>
              </a:ext>
            </a:extLst>
          </p:cNvPr>
          <p:cNvSpPr txBox="1"/>
          <p:nvPr/>
        </p:nvSpPr>
        <p:spPr>
          <a:xfrm>
            <a:off x="7639435" y="3783397"/>
            <a:ext cx="35504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1" dirty="0"/>
              <a:t>Figure 1 </a:t>
            </a:r>
            <a:r>
              <a:rPr lang="en-GB" sz="1100" dirty="0"/>
              <a:t>Example of deep hybrid model structure</a:t>
            </a:r>
            <a:r>
              <a:rPr lang="en-GB" sz="1100" baseline="30000" dirty="0"/>
              <a:t>[1] </a:t>
            </a:r>
            <a:r>
              <a:rPr lang="en-GB" sz="1100" dirty="0"/>
              <a:t>. </a:t>
            </a:r>
            <a:endParaRPr lang="en-GB" sz="1100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BC3EEF-0C01-C38F-DC4C-63F5EA54D82E}"/>
              </a:ext>
            </a:extLst>
          </p:cNvPr>
          <p:cNvSpPr txBox="1"/>
          <p:nvPr/>
        </p:nvSpPr>
        <p:spPr>
          <a:xfrm>
            <a:off x="392911" y="5630619"/>
            <a:ext cx="1271905" cy="338554"/>
          </a:xfrm>
          <a:prstGeom prst="rect">
            <a:avLst/>
          </a:prstGeom>
          <a:noFill/>
          <a:ln w="28575">
            <a:solidFill>
              <a:srgbClr val="0071BA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n-GB" sz="1600" dirty="0"/>
              <a:t>Objectives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AFA489-24B2-C53A-7151-512DEF9D854F}"/>
              </a:ext>
            </a:extLst>
          </p:cNvPr>
          <p:cNvSpPr txBox="1"/>
          <p:nvPr/>
        </p:nvSpPr>
        <p:spPr>
          <a:xfrm>
            <a:off x="1716053" y="5609491"/>
            <a:ext cx="10898735" cy="3808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400" dirty="0">
                <a:latin typeface="Abadi" panose="020F0502020204030204" pitchFamily="34" charset="0"/>
              </a:rPr>
              <a:t>Discriminate best </a:t>
            </a:r>
            <a:r>
              <a:rPr lang="en-GB" sz="1400" b="1" dirty="0">
                <a:latin typeface="Abadi" panose="020F0502020204030204" pitchFamily="34" charset="0"/>
              </a:rPr>
              <a:t>hybrid</a:t>
            </a:r>
            <a:r>
              <a:rPr lang="en-GB" sz="1400" dirty="0">
                <a:latin typeface="Abadi" panose="020F0502020204030204" pitchFamily="34" charset="0"/>
              </a:rPr>
              <a:t> </a:t>
            </a:r>
            <a:r>
              <a:rPr lang="en-GB" sz="1400" b="1" dirty="0">
                <a:latin typeface="Abadi" panose="020F0502020204030204" pitchFamily="34" charset="0"/>
              </a:rPr>
              <a:t>model structure</a:t>
            </a:r>
            <a:r>
              <a:rPr lang="en-GB" sz="1400" dirty="0">
                <a:latin typeface="Abadi" panose="020F0502020204030204" pitchFamily="34" charset="0"/>
              </a:rPr>
              <a:t>, </a:t>
            </a:r>
            <a:r>
              <a:rPr lang="en-GB" sz="1400" b="1" dirty="0">
                <a:latin typeface="Abadi" panose="020F0502020204030204" pitchFamily="34" charset="0"/>
              </a:rPr>
              <a:t>regularization </a:t>
            </a:r>
            <a:r>
              <a:rPr lang="en-GB" sz="1400" dirty="0">
                <a:latin typeface="Abadi" panose="020F0502020204030204" pitchFamily="34" charset="0"/>
              </a:rPr>
              <a:t>and</a:t>
            </a:r>
            <a:r>
              <a:rPr lang="en-GB" sz="1400" b="1" dirty="0">
                <a:latin typeface="Abadi" panose="020F0502020204030204" pitchFamily="34" charset="0"/>
              </a:rPr>
              <a:t> selection methodology </a:t>
            </a:r>
            <a:r>
              <a:rPr lang="en-GB" sz="1400" dirty="0">
                <a:latin typeface="Abadi" panose="020F0502020204030204" pitchFamily="34" charset="0"/>
              </a:rPr>
              <a:t>to describe independent CHO experiments.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CC6A422D-5BD0-DE20-0B15-A25CA25B1776}"/>
              </a:ext>
            </a:extLst>
          </p:cNvPr>
          <p:cNvSpPr/>
          <p:nvPr/>
        </p:nvSpPr>
        <p:spPr>
          <a:xfrm>
            <a:off x="5588152" y="4564014"/>
            <a:ext cx="1238038" cy="296584"/>
          </a:xfrm>
          <a:prstGeom prst="rightArrow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14831C-C48A-58B1-8A5A-C8CC9DC3F40C}"/>
              </a:ext>
            </a:extLst>
          </p:cNvPr>
          <p:cNvSpPr txBox="1"/>
          <p:nvPr/>
        </p:nvSpPr>
        <p:spPr>
          <a:xfrm>
            <a:off x="6872379" y="4158122"/>
            <a:ext cx="3338454" cy="1411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7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3 Stochastic Regularization s(SR): </a:t>
            </a:r>
          </a:p>
          <a:p>
            <a:pPr marL="360000" indent="-171450">
              <a:lnSpc>
                <a:spcPct val="17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GB" sz="1300" dirty="0">
                <a:latin typeface="Abadi" panose="020F0502020204030204" pitchFamily="34" charset="0"/>
              </a:rPr>
              <a:t>No k-fold;</a:t>
            </a:r>
          </a:p>
          <a:p>
            <a:pPr marL="360000" indent="-171450">
              <a:lnSpc>
                <a:spcPct val="17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GB" sz="1300" dirty="0">
                <a:latin typeface="Abadi" panose="020F0502020204030204" pitchFamily="34" charset="0"/>
              </a:rPr>
              <a:t>With k-fold (k = 5);</a:t>
            </a:r>
          </a:p>
          <a:p>
            <a:pPr marL="360000" indent="-171450">
              <a:lnSpc>
                <a:spcPct val="17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GB" sz="1300" dirty="0">
                <a:latin typeface="Abadi" panose="020F0502020204030204" pitchFamily="34" charset="0"/>
              </a:rPr>
              <a:t>With LOOCV.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C817F2-9A43-E458-0E1E-190A33456B15}"/>
              </a:ext>
            </a:extLst>
          </p:cNvPr>
          <p:cNvSpPr txBox="1"/>
          <p:nvPr/>
        </p:nvSpPr>
        <p:spPr>
          <a:xfrm>
            <a:off x="0" y="6246304"/>
            <a:ext cx="120943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700" dirty="0">
                <a:latin typeface="Abadi" panose="020F0502020204030204" pitchFamily="34" charset="0"/>
              </a:rPr>
              <a:t>[1] J. Pinto, J. R. C. Ramos, R. S. Costa, S. Rossell, P. Dumas, and R. Oliveira, “Hybrid deep </a:t>
            </a:r>
            <a:r>
              <a:rPr lang="en-GB" sz="700" dirty="0" err="1">
                <a:latin typeface="Abadi" panose="020F0502020204030204" pitchFamily="34" charset="0"/>
              </a:rPr>
              <a:t>modeling</a:t>
            </a:r>
            <a:r>
              <a:rPr lang="en-GB" sz="700" dirty="0">
                <a:latin typeface="Abadi" panose="020F0502020204030204" pitchFamily="34" charset="0"/>
              </a:rPr>
              <a:t> of a CHO-K1 fed-batch process: combining first-principles with deep neural networks,” Frontiers in Bioengineering and Biotechnology, vol. 11, Sep. 2023, </a:t>
            </a:r>
            <a:r>
              <a:rPr lang="en-GB" sz="700" dirty="0" err="1">
                <a:latin typeface="Abadi" panose="020F0502020204030204" pitchFamily="34" charset="0"/>
              </a:rPr>
              <a:t>doi</a:t>
            </a:r>
            <a:r>
              <a:rPr lang="en-GB" sz="700" dirty="0">
                <a:latin typeface="Abadi" panose="020F0502020204030204" pitchFamily="34" charset="0"/>
              </a:rPr>
              <a:t>: https://doi.org/10.3389/fbioe.2023.1237963.</a:t>
            </a:r>
          </a:p>
          <a:p>
            <a:pPr algn="l">
              <a:buNone/>
            </a:pPr>
            <a:r>
              <a:rPr lang="en-GB" sz="700" dirty="0">
                <a:latin typeface="Abadi" panose="020F0502020204030204" pitchFamily="34" charset="0"/>
              </a:rPr>
              <a:t>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2A8A0B-B720-0C14-06E5-2FF1551EA5B6}"/>
              </a:ext>
            </a:extLst>
          </p:cNvPr>
          <p:cNvSpPr txBox="1"/>
          <p:nvPr/>
        </p:nvSpPr>
        <p:spPr>
          <a:xfrm>
            <a:off x="9750625" y="4164750"/>
            <a:ext cx="1950636" cy="1751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7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2 </a:t>
            </a:r>
            <a:r>
              <a:rPr lang="en-GB" sz="1300" b="1" dirty="0">
                <a:latin typeface="Abadi" panose="020F0502020204030204" pitchFamily="34" charset="0"/>
              </a:rPr>
              <a:t>selection</a:t>
            </a:r>
            <a:r>
              <a:rPr lang="en-GB" sz="1300" dirty="0">
                <a:latin typeface="Abadi" panose="020F0502020204030204" pitchFamily="34" charset="0"/>
              </a:rPr>
              <a:t> methods: </a:t>
            </a:r>
          </a:p>
          <a:p>
            <a:pPr marL="360000" indent="-171450">
              <a:lnSpc>
                <a:spcPct val="17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GB" sz="1300" dirty="0">
                <a:latin typeface="Abadi" panose="020F0502020204030204" pitchFamily="34" charset="0"/>
              </a:rPr>
              <a:t>Probabilistic (AICc);</a:t>
            </a:r>
          </a:p>
          <a:p>
            <a:pPr marL="360000" indent="-171450">
              <a:lnSpc>
                <a:spcPct val="17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GB" sz="1300" dirty="0">
                <a:latin typeface="Abadi" panose="020F0502020204030204" pitchFamily="34" charset="0"/>
              </a:rPr>
              <a:t>Empirical (Valloss).</a:t>
            </a:r>
          </a:p>
          <a:p>
            <a:pPr marL="360000" indent="-171450">
              <a:lnSpc>
                <a:spcPct val="17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GB" sz="1300" dirty="0">
                <a:latin typeface="Abadi" panose="020F0502020204030204" pitchFamily="34" charset="0"/>
              </a:rPr>
              <a:t>Empirical (Valloss).</a:t>
            </a:r>
          </a:p>
          <a:p>
            <a:pPr marL="188550">
              <a:lnSpc>
                <a:spcPct val="170000"/>
              </a:lnSpc>
              <a:spcBef>
                <a:spcPct val="0"/>
              </a:spcBef>
            </a:pPr>
            <a:endParaRPr lang="en-GB" sz="1300" dirty="0">
              <a:latin typeface="Abadi" panose="020F0502020204030204" pitchFamily="34" charset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1F4D9AC4-4E81-A5C1-7C1F-05705BD90C1B}"/>
              </a:ext>
            </a:extLst>
          </p:cNvPr>
          <p:cNvSpPr txBox="1">
            <a:spLocks/>
          </p:cNvSpPr>
          <p:nvPr/>
        </p:nvSpPr>
        <p:spPr>
          <a:xfrm>
            <a:off x="328898" y="3714527"/>
            <a:ext cx="5706941" cy="14301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70000"/>
              </a:lnSpc>
              <a:spcBef>
                <a:spcPct val="0"/>
              </a:spcBef>
            </a:pPr>
            <a:r>
              <a:rPr lang="en-GB" sz="1400" dirty="0">
                <a:solidFill>
                  <a:srgbClr val="0071BA"/>
                </a:solidFill>
                <a:latin typeface="Abadi" panose="020F0502020204030204" pitchFamily="34" charset="0"/>
              </a:rPr>
              <a:t>Hybrid model:</a:t>
            </a:r>
          </a:p>
          <a:p>
            <a:pPr marL="540000" lvl="1" indent="-144000" algn="l">
              <a:lnSpc>
                <a:spcPct val="17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400" u="sng" dirty="0">
                <a:latin typeface="Abadi" panose="020F0502020204030204" pitchFamily="34" charset="0"/>
              </a:rPr>
              <a:t>Mechanist part:</a:t>
            </a:r>
            <a:r>
              <a:rPr lang="en-GB" sz="1400" dirty="0">
                <a:latin typeface="Abadi" panose="020F0502020204030204" pitchFamily="34" charset="0"/>
              </a:rPr>
              <a:t> ODEs system of 25 extracellular species;</a:t>
            </a:r>
          </a:p>
          <a:p>
            <a:pPr marL="540000" lvl="1" indent="-144000" algn="l">
              <a:lnSpc>
                <a:spcPct val="17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400" u="sng" dirty="0">
                <a:latin typeface="Abadi" panose="020F0502020204030204" pitchFamily="34" charset="0"/>
              </a:rPr>
              <a:t>Machine learning part:</a:t>
            </a:r>
            <a:r>
              <a:rPr lang="en-GB" sz="1400" dirty="0">
                <a:latin typeface="Abadi" panose="020F0502020204030204" pitchFamily="34" charset="0"/>
              </a:rPr>
              <a:t> Neural network with 26 inputs (concentrations + feed state) and 25 outputs (reaction rates);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8A4D3F5-BC2E-2DC8-D797-AA7F8C77CCE8}"/>
              </a:ext>
            </a:extLst>
          </p:cNvPr>
          <p:cNvCxnSpPr>
            <a:cxnSpLocks/>
          </p:cNvCxnSpPr>
          <p:nvPr/>
        </p:nvCxnSpPr>
        <p:spPr>
          <a:xfrm>
            <a:off x="8156576" y="4754095"/>
            <a:ext cx="1692000" cy="0"/>
          </a:xfrm>
          <a:prstGeom prst="straightConnector1">
            <a:avLst/>
          </a:prstGeom>
          <a:ln>
            <a:solidFill>
              <a:srgbClr val="0071BA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3E45EEA-5237-E79E-5FA8-315EAD76FD94}"/>
              </a:ext>
            </a:extLst>
          </p:cNvPr>
          <p:cNvCxnSpPr>
            <a:cxnSpLocks/>
          </p:cNvCxnSpPr>
          <p:nvPr/>
        </p:nvCxnSpPr>
        <p:spPr>
          <a:xfrm>
            <a:off x="8840480" y="5063517"/>
            <a:ext cx="1044000" cy="0"/>
          </a:xfrm>
          <a:prstGeom prst="straightConnector1">
            <a:avLst/>
          </a:prstGeom>
          <a:ln>
            <a:solidFill>
              <a:srgbClr val="0071BA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1">
            <a:extLst>
              <a:ext uri="{FF2B5EF4-FFF2-40B4-BE49-F238E27FC236}">
                <a16:creationId xmlns:a16="http://schemas.microsoft.com/office/drawing/2014/main" id="{817020F7-400A-4899-A920-03CF4B899D70}"/>
              </a:ext>
            </a:extLst>
          </p:cNvPr>
          <p:cNvSpPr txBox="1">
            <a:spLocks/>
          </p:cNvSpPr>
          <p:nvPr/>
        </p:nvSpPr>
        <p:spPr>
          <a:xfrm>
            <a:off x="7964852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Part I: Regularization and Selection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3936080-D1E7-4C2C-BA87-5CB44300DBF8}"/>
              </a:ext>
            </a:extLst>
          </p:cNvPr>
          <p:cNvCxnSpPr>
            <a:cxnSpLocks/>
          </p:cNvCxnSpPr>
          <p:nvPr/>
        </p:nvCxnSpPr>
        <p:spPr>
          <a:xfrm>
            <a:off x="8398933" y="5389095"/>
            <a:ext cx="1485547" cy="0"/>
          </a:xfrm>
          <a:prstGeom prst="straightConnector1">
            <a:avLst/>
          </a:prstGeom>
          <a:ln>
            <a:solidFill>
              <a:srgbClr val="0071BA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7717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09B7F-F13E-61CA-2DA9-2063626E3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B71D9E1-4669-5681-ED0A-D51C11927C3E}"/>
              </a:ext>
            </a:extLst>
          </p:cNvPr>
          <p:cNvSpPr/>
          <p:nvPr/>
        </p:nvSpPr>
        <p:spPr>
          <a:xfrm>
            <a:off x="0" y="6449900"/>
            <a:ext cx="12192000" cy="408100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628AFD-9F21-8BD2-97B9-8BB761C17BC7}"/>
              </a:ext>
            </a:extLst>
          </p:cNvPr>
          <p:cNvSpPr/>
          <p:nvPr/>
        </p:nvSpPr>
        <p:spPr>
          <a:xfrm>
            <a:off x="0" y="21488"/>
            <a:ext cx="12192000" cy="664512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9A2A404-FB5B-31FF-7E35-0778692A4723}"/>
              </a:ext>
            </a:extLst>
          </p:cNvPr>
          <p:cNvSpPr txBox="1">
            <a:spLocks/>
          </p:cNvSpPr>
          <p:nvPr/>
        </p:nvSpPr>
        <p:spPr>
          <a:xfrm>
            <a:off x="127820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09/2026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  <a:sym typeface="Symbol" panose="05050102010706020507" pitchFamily="18" charset="2"/>
              </a:rPr>
              <a:t>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Synthetic Dataset</a:t>
            </a:r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82182E25-ED5F-41C6-53F6-328EFFD67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077" y="6471387"/>
            <a:ext cx="2743200" cy="365125"/>
          </a:xfrm>
        </p:spPr>
        <p:txBody>
          <a:bodyPr/>
          <a:lstStyle/>
          <a:p>
            <a:fld id="{C45580C8-1F39-4488-AB14-6575A0DF9911}" type="slidenum">
              <a:rPr lang="en-GB" sz="180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3</a:t>
            </a:fld>
            <a:endParaRPr lang="en-GB" sz="1800" dirty="0">
              <a:solidFill>
                <a:schemeClr val="bg1"/>
              </a:solidFill>
              <a:latin typeface="Abadi" panose="020F0502020204030204" pitchFamily="34" charset="0"/>
              <a:ea typeface="+mj-ea"/>
              <a:cs typeface="+mj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EA7452-DA49-FA2E-00E8-CD21047D02E0}"/>
              </a:ext>
            </a:extLst>
          </p:cNvPr>
          <p:cNvSpPr txBox="1"/>
          <p:nvPr/>
        </p:nvSpPr>
        <p:spPr>
          <a:xfrm>
            <a:off x="0" y="6246304"/>
            <a:ext cx="120943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700" dirty="0">
                <a:latin typeface="Abadi" panose="020F0502020204030204" pitchFamily="34" charset="0"/>
              </a:rPr>
              <a:t>[2] J. Robitaille, J. Chen, and M. Jolicoeur, “A Single Dynamic Metabolic Model Can Describe mAb Producing CHO Cell Batch and Fed-Batch Cultures on Different Culture Media,” PLOS ONE, vol. 10, no. 9, p. e0136815, Sept. 2015, </a:t>
            </a:r>
            <a:r>
              <a:rPr lang="en-GB" sz="700" dirty="0" err="1">
                <a:latin typeface="Abadi" panose="020F0502020204030204" pitchFamily="34" charset="0"/>
              </a:rPr>
              <a:t>doi</a:t>
            </a:r>
            <a:r>
              <a:rPr lang="en-GB" sz="700" dirty="0">
                <a:latin typeface="Abadi" panose="020F0502020204030204" pitchFamily="34" charset="0"/>
              </a:rPr>
              <a:t>: 10.1371/journal.pone.0136815.</a:t>
            </a:r>
          </a:p>
          <a:p>
            <a:pPr algn="l">
              <a:buNone/>
            </a:pPr>
            <a:r>
              <a:rPr lang="en-GB" sz="700" dirty="0">
                <a:latin typeface="Abadi" panose="020F0502020204030204" pitchFamily="34" charset="0"/>
              </a:rPr>
              <a:t>‌‌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8A75F76-9C04-63C8-FC3D-DE9B4BE2E9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251553"/>
              </p:ext>
            </p:extLst>
          </p:nvPr>
        </p:nvGraphicFramePr>
        <p:xfrm>
          <a:off x="9080044" y="1755862"/>
          <a:ext cx="2533851" cy="391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851">
                  <a:extLst>
                    <a:ext uri="{9D8B030D-6E8A-4147-A177-3AD203B41FA5}">
                      <a16:colId xmlns:a16="http://schemas.microsoft.com/office/drawing/2014/main" val="221548440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255947025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6375425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rgbClr val="0071BA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T_ind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rgbClr val="0071BA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F_pre_ind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>
                          <a:solidFill>
                            <a:srgbClr val="0071BA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F_pos_ind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12655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72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1.5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05951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0.081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0.61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92321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84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0.081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2.39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37017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0.319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0.61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32089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84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0.082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0.4235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297674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4292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96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1.5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98949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30493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96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3.0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5601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1.50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06887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108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0.081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0.61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7805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0.081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2.39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31927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108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0.319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0.61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8822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0.319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2.39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74318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Abadi" panose="020F0502020204030204" pitchFamily="34" charset="0"/>
                          <a:ea typeface="+mn-ea"/>
                          <a:cs typeface="+mn-cs"/>
                        </a:rPr>
                        <a:t>1.5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5052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6BD098CB-5049-7B67-1D12-9CF71800D9D4}"/>
              </a:ext>
            </a:extLst>
          </p:cNvPr>
          <p:cNvSpPr txBox="1"/>
          <p:nvPr/>
        </p:nvSpPr>
        <p:spPr>
          <a:xfrm>
            <a:off x="8703629" y="964933"/>
            <a:ext cx="328667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1" dirty="0"/>
              <a:t>Table 1 </a:t>
            </a:r>
            <a:r>
              <a:rPr lang="en-GB" sz="1100" dirty="0"/>
              <a:t>DoE conditions of the 15 batches generated for each mAb, where the induction time (</a:t>
            </a:r>
            <a:r>
              <a:rPr lang="en-GB" sz="1100" b="1" dirty="0"/>
              <a:t>T_ind</a:t>
            </a:r>
            <a:r>
              <a:rPr lang="en-GB" sz="1100" dirty="0"/>
              <a:t>), the feed rate pre induction (</a:t>
            </a:r>
            <a:r>
              <a:rPr lang="en-GB" sz="1100" b="1" dirty="0"/>
              <a:t>F_pre_ind</a:t>
            </a:r>
            <a:r>
              <a:rPr lang="en-GB" sz="1100" dirty="0"/>
              <a:t>) and pos induction (</a:t>
            </a:r>
            <a:r>
              <a:rPr lang="en-GB" sz="1100" b="1" dirty="0"/>
              <a:t>F_pos_ind</a:t>
            </a:r>
            <a:r>
              <a:rPr lang="en-GB" sz="1100" dirty="0"/>
              <a:t>) are varied. </a:t>
            </a:r>
            <a:endParaRPr lang="en-GB" sz="1100" baseline="30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FB3A0E-9163-7E4E-85AE-C666D793580B}"/>
              </a:ext>
            </a:extLst>
          </p:cNvPr>
          <p:cNvSpPr txBox="1"/>
          <p:nvPr/>
        </p:nvSpPr>
        <p:spPr>
          <a:xfrm>
            <a:off x="726022" y="5461144"/>
            <a:ext cx="3277231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1" dirty="0"/>
              <a:t>Figure 2 </a:t>
            </a:r>
            <a:r>
              <a:rPr lang="en-GB" sz="1050" dirty="0"/>
              <a:t>Variation of the maximum velocity of the 72</a:t>
            </a:r>
            <a:r>
              <a:rPr lang="en-US" sz="1050" dirty="0"/>
              <a:t>, with the red line at </a:t>
            </a:r>
            <a:r>
              <a:rPr lang="en-US" sz="1050" b="1" i="1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V</a:t>
            </a:r>
            <a:r>
              <a:rPr lang="en-US" sz="1050" b="1" i="1" baseline="-2500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max </a:t>
            </a:r>
            <a:r>
              <a:rPr lang="en-US" sz="105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 </a:t>
            </a:r>
            <a:r>
              <a:rPr lang="en-US" sz="1050" dirty="0"/>
              <a:t>= 0.04, diving the mAbs classified into </a:t>
            </a:r>
            <a:r>
              <a:rPr lang="en-US" sz="1050" b="1" dirty="0"/>
              <a:t>High</a:t>
            </a:r>
            <a:r>
              <a:rPr lang="en-US" sz="1050" dirty="0"/>
              <a:t> or </a:t>
            </a:r>
            <a:r>
              <a:rPr lang="en-US" sz="1050" b="1" dirty="0"/>
              <a:t>Low</a:t>
            </a:r>
            <a:r>
              <a:rPr lang="en-US" sz="1050" dirty="0"/>
              <a:t> productivity mAbs.</a:t>
            </a:r>
            <a:r>
              <a:rPr lang="en-GB" sz="1050" dirty="0"/>
              <a:t> </a:t>
            </a:r>
            <a:r>
              <a:rPr lang="en-GB" sz="1100" dirty="0"/>
              <a:t>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324813-CFB0-E167-C7BC-B98DCF901DD1}"/>
              </a:ext>
            </a:extLst>
          </p:cNvPr>
          <p:cNvSpPr txBox="1"/>
          <p:nvPr/>
        </p:nvSpPr>
        <p:spPr>
          <a:xfrm>
            <a:off x="4806572" y="5380518"/>
            <a:ext cx="377577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100" b="1" dirty="0"/>
              <a:t>Figure 3 </a:t>
            </a:r>
            <a:r>
              <a:rPr lang="en-GB" sz="1050" dirty="0"/>
              <a:t>Evolution over time of the concentration of monoclonal antibody over time. All batches of all mAbs are represented, with High productivity mAbs represented in blue and Low productivity in green.</a:t>
            </a: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A4428FB8-DCF2-5EF5-EEE7-8A5256422833}"/>
              </a:ext>
            </a:extLst>
          </p:cNvPr>
          <p:cNvSpPr txBox="1">
            <a:spLocks/>
          </p:cNvSpPr>
          <p:nvPr/>
        </p:nvSpPr>
        <p:spPr>
          <a:xfrm>
            <a:off x="357365" y="863837"/>
            <a:ext cx="7596683" cy="17666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40000" lvl="1" indent="-144000" algn="l">
              <a:lnSpc>
                <a:spcPct val="17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latin typeface="Abadi" panose="020F0502020204030204" pitchFamily="34" charset="0"/>
              </a:rPr>
              <a:t>Data-generation code adapted from Robitaille et al. (2015)</a:t>
            </a:r>
            <a:r>
              <a:rPr lang="en-GB" sz="1200" baseline="30000" dirty="0"/>
              <a:t> [2] </a:t>
            </a:r>
            <a:r>
              <a:rPr lang="en-GB" sz="1200" dirty="0"/>
              <a:t>;</a:t>
            </a:r>
          </a:p>
          <a:p>
            <a:pPr marL="540000" lvl="1" indent="-144000" algn="l">
              <a:lnSpc>
                <a:spcPct val="17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latin typeface="Abadi" panose="020F0502020204030204" pitchFamily="34" charset="0"/>
              </a:rPr>
              <a:t>DoE with </a:t>
            </a:r>
            <a:r>
              <a:rPr lang="en-GB" sz="1200" b="1" dirty="0">
                <a:latin typeface="Abadi" panose="020F0502020204030204" pitchFamily="34" charset="0"/>
              </a:rPr>
              <a:t>varying induction time and pre and post induction feed rate </a:t>
            </a:r>
            <a:r>
              <a:rPr lang="en-GB" sz="1200" dirty="0">
                <a:latin typeface="Abadi" panose="020F0502020204030204" pitchFamily="34" charset="0"/>
              </a:rPr>
              <a:t>(</a:t>
            </a:r>
            <a:r>
              <a:rPr lang="en-GB" sz="1200" b="1" dirty="0">
                <a:latin typeface="Abadi" panose="020F0502020204030204" pitchFamily="34" charset="0"/>
              </a:rPr>
              <a:t>Table 1</a:t>
            </a:r>
            <a:r>
              <a:rPr lang="en-GB" sz="1200" dirty="0">
                <a:latin typeface="Abadi" panose="020F0502020204030204" pitchFamily="34" charset="0"/>
              </a:rPr>
              <a:t>);</a:t>
            </a:r>
          </a:p>
          <a:p>
            <a:pPr marL="540000" lvl="1" indent="-144000" algn="l">
              <a:lnSpc>
                <a:spcPct val="17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latin typeface="Abadi" panose="020F0502020204030204" pitchFamily="34" charset="0"/>
              </a:rPr>
              <a:t>Data generated for 72 commercial mAbs with different maximum velocities (</a:t>
            </a:r>
            <a:r>
              <a:rPr lang="en-GB" sz="1200" b="1" dirty="0">
                <a:latin typeface="Abadi" panose="020F0502020204030204" pitchFamily="34" charset="0"/>
              </a:rPr>
              <a:t>Figure 2</a:t>
            </a:r>
            <a:r>
              <a:rPr lang="en-GB" sz="1200" dirty="0">
                <a:latin typeface="Abadi" panose="020F0502020204030204" pitchFamily="34" charset="0"/>
              </a:rPr>
              <a:t>);</a:t>
            </a:r>
          </a:p>
          <a:p>
            <a:pPr marL="540000" lvl="1" indent="-144000" algn="l">
              <a:lnSpc>
                <a:spcPct val="17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latin typeface="Abadi" panose="020F0502020204030204" pitchFamily="34" charset="0"/>
              </a:rPr>
              <a:t>The different batch conditions and metabolic differences between mAbs lead to different productions of antibody across the 15 batches of the 72 mAbs (</a:t>
            </a:r>
            <a:r>
              <a:rPr lang="en-GB" sz="1200" b="1" dirty="0">
                <a:latin typeface="Abadi" panose="020F0502020204030204" pitchFamily="34" charset="0"/>
              </a:rPr>
              <a:t>Figure 3</a:t>
            </a:r>
            <a:r>
              <a:rPr lang="en-GB" sz="1200" dirty="0">
                <a:latin typeface="Abadi" panose="020F0502020204030204" pitchFamily="34" charset="0"/>
              </a:rPr>
              <a:t>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5875D5-C450-45A4-B7C3-24FDC7FCC8A7}"/>
              </a:ext>
            </a:extLst>
          </p:cNvPr>
          <p:cNvSpPr txBox="1"/>
          <p:nvPr/>
        </p:nvSpPr>
        <p:spPr>
          <a:xfrm>
            <a:off x="0" y="6500060"/>
            <a:ext cx="522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bad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L. Gündersen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ABF1EF8-7CC1-4B89-9A69-9AFDD86EFF0B}"/>
              </a:ext>
            </a:extLst>
          </p:cNvPr>
          <p:cNvSpPr txBox="1">
            <a:spLocks/>
          </p:cNvSpPr>
          <p:nvPr/>
        </p:nvSpPr>
        <p:spPr>
          <a:xfrm>
            <a:off x="7964852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Part I: Regularization and Selection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31C030-F281-C3B8-9049-111D76571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123" y="2382333"/>
            <a:ext cx="3762220" cy="29981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747D39-E7BF-4737-806E-E0E5E6B3D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38" y="2464346"/>
            <a:ext cx="3872597" cy="308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60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FA6E2-F6F4-13AD-9A07-A857B2CB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6CC4C8-6D64-A3B9-5ED2-5EE56F52E0A8}"/>
              </a:ext>
            </a:extLst>
          </p:cNvPr>
          <p:cNvSpPr/>
          <p:nvPr/>
        </p:nvSpPr>
        <p:spPr>
          <a:xfrm>
            <a:off x="0" y="6449900"/>
            <a:ext cx="12192000" cy="408100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4C3DF4-3EC6-A56A-4255-94E9D1093D9F}"/>
              </a:ext>
            </a:extLst>
          </p:cNvPr>
          <p:cNvSpPr/>
          <p:nvPr/>
        </p:nvSpPr>
        <p:spPr>
          <a:xfrm>
            <a:off x="0" y="0"/>
            <a:ext cx="12192000" cy="664512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1FAD0A-0BF5-4411-9B95-28F00D98C45A}"/>
              </a:ext>
            </a:extLst>
          </p:cNvPr>
          <p:cNvSpPr txBox="1">
            <a:spLocks/>
          </p:cNvSpPr>
          <p:nvPr/>
        </p:nvSpPr>
        <p:spPr>
          <a:xfrm>
            <a:off x="127820" y="93338"/>
            <a:ext cx="6480980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09/2026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  <a:sym typeface="Symbol" panose="05050102010706020507" pitchFamily="18" charset="2"/>
              </a:rPr>
              <a:t>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Glycosylation hybrid model (29 ODEs)</a:t>
            </a:r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84D340C5-9B55-B3C8-3858-48B7BCA6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077" y="6471387"/>
            <a:ext cx="2743200" cy="365125"/>
          </a:xfrm>
        </p:spPr>
        <p:txBody>
          <a:bodyPr/>
          <a:lstStyle/>
          <a:p>
            <a:fld id="{C45580C8-1F39-4488-AB14-6575A0DF9911}" type="slidenum">
              <a:rPr lang="en-GB" sz="180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4</a:t>
            </a:fld>
            <a:endParaRPr lang="en-GB" sz="1800" dirty="0">
              <a:solidFill>
                <a:schemeClr val="bg1"/>
              </a:solidFill>
              <a:latin typeface="Abadi" panose="020F0502020204030204" pitchFamily="34" charset="0"/>
              <a:ea typeface="+mj-ea"/>
              <a:cs typeface="+mj-cs"/>
            </a:endParaRPr>
          </a:p>
        </p:txBody>
      </p:sp>
      <p:sp>
        <p:nvSpPr>
          <p:cNvPr id="10" name="Google Shape;524;p9">
            <a:extLst>
              <a:ext uri="{FF2B5EF4-FFF2-40B4-BE49-F238E27FC236}">
                <a16:creationId xmlns:a16="http://schemas.microsoft.com/office/drawing/2014/main" id="{6BCE3042-3E20-9F4B-83F3-08F018FF376A}"/>
              </a:ext>
            </a:extLst>
          </p:cNvPr>
          <p:cNvSpPr txBox="1"/>
          <p:nvPr/>
        </p:nvSpPr>
        <p:spPr bwMode="auto">
          <a:xfrm>
            <a:off x="10407160" y="6255305"/>
            <a:ext cx="9930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3C8E899-D446-CD17-BA7A-1BABB6B6C2EB}"/>
                  </a:ext>
                </a:extLst>
              </p:cNvPr>
              <p:cNvSpPr txBox="1"/>
              <p:nvPr/>
            </p:nvSpPr>
            <p:spPr bwMode="auto">
              <a:xfrm>
                <a:off x="182024" y="1266020"/>
                <a:ext cx="11878589" cy="10935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𝑚𝐴𝑏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kumimoji="0" lang="pt-PT" sz="1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𝑚𝐴𝑏</m:t>
                          </m:r>
                        </m:sub>
                      </m:sSub>
                      <m:r>
                        <a:rPr kumimoji="0" lang="pt-PT" sz="1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𝐹𝐴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𝐻𝑇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𝐹𝐴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𝐹𝐴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𝐹𝐴</m:t>
                          </m:r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𝐹𝐴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1(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𝐹𝐴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1(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6(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6(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6(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𝐹𝐴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𝐹𝐴</m:t>
                          </m:r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𝐹𝐴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𝐹𝐴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𝐹𝐴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8(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8(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𝐹𝐴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4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𝑈𝑛𝑘𝑜𝑤𝑛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4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</m:oMath>
                  </m:oMathPara>
                </a14:m>
                <a:endParaRPr kumimoji="0" lang="en-GB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3C8E899-D446-CD17-BA7A-1BABB6B6C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024" y="1266020"/>
                <a:ext cx="11878589" cy="1093504"/>
              </a:xfrm>
              <a:prstGeom prst="rect">
                <a:avLst/>
              </a:prstGeom>
              <a:blipFill>
                <a:blip r:embed="rId2"/>
                <a:stretch>
                  <a:fillRect t="-2235" b="-5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E2ABAAC-3FBB-6620-BFB3-4599AC21B39A}"/>
                  </a:ext>
                </a:extLst>
              </p:cNvPr>
              <p:cNvSpPr txBox="1"/>
              <p:nvPr/>
            </p:nvSpPr>
            <p:spPr bwMode="auto">
              <a:xfrm>
                <a:off x="596638" y="3656345"/>
                <a:ext cx="5996513" cy="4803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pt-PT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pt-PT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kumimoji="0" lang="pt-PT" sz="16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pt-PT" sz="16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kumimoji="0" lang="pt-PT" sz="16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𝑚𝐴𝑏</m:t>
                              </m:r>
                              <m:r>
                                <a:rPr kumimoji="0" lang="pt-PT" sz="16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b>
                              <m:r>
                                <a:rPr kumimoji="0" lang="pt-PT" sz="16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𝐺𝑙𝑦𝑐𝑜𝑓𝑜𝑟𝑚</m:t>
                              </m:r>
                              <m:r>
                                <a:rPr kumimoji="0" lang="pt-PT" sz="16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0" lang="pt-PT" sz="16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0" lang="pt-PT" sz="16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num>
                        <m:den>
                          <m:r>
                            <a:rPr kumimoji="0" lang="pt-PT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kumimoji="0" lang="pt-PT" sz="1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pt-PT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kumimoji="0" lang="pt-PT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𝐺𝑙𝑦𝑐𝑜𝑓𝑜𝑟𝑚</m:t>
                          </m:r>
                          <m:r>
                            <a:rPr kumimoji="0" lang="pt-PT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0" lang="pt-PT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pt-PT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0" lang="pt-PT" sz="16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6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sSub>
                        <m:sSubPr>
                          <m:ctrlPr>
                            <a:rPr kumimoji="0" lang="pt-PT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PT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kumimoji="0" lang="pt-PT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kumimoji="0" lang="pt-PT" sz="1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0" lang="pt-PT" sz="1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sSub>
                        <m:sSubPr>
                          <m:ctrlPr>
                            <a:rPr kumimoji="0" lang="pt-PT" sz="16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0" lang="pt-PT" sz="16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pt-PT" sz="1600" b="0" i="1" u="none" strike="noStrike" kern="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𝑚𝐴𝑏</m:t>
                              </m:r>
                            </m:e>
                          </m:d>
                        </m:e>
                        <m:sub>
                          <m:r>
                            <a:rPr kumimoji="0" lang="pt-PT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𝐺𝑙𝑦𝑐𝑜𝑓𝑜𝑟𝑚</m:t>
                          </m:r>
                          <m:r>
                            <a:rPr kumimoji="0" lang="pt-PT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0" lang="pt-PT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pt-PT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kumimoji="0" lang="pt-PT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E2ABAAC-3FBB-6620-BFB3-4599AC21B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6638" y="3656345"/>
                <a:ext cx="5996513" cy="4803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46BB3F77-61B9-2213-6197-377185CAB9E4}"/>
              </a:ext>
            </a:extLst>
          </p:cNvPr>
          <p:cNvSpPr txBox="1"/>
          <p:nvPr/>
        </p:nvSpPr>
        <p:spPr bwMode="auto">
          <a:xfrm>
            <a:off x="377776" y="796713"/>
            <a:ext cx="4683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GB" dirty="0">
                <a:solidFill>
                  <a:srgbClr val="0071BA"/>
                </a:solidFill>
                <a:latin typeface="Abadi" panose="020F0502020204030204" pitchFamily="34" charset="0"/>
              </a:rPr>
              <a:t>Intracellular mAb [mg/Mcell] material balance: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3219D6-1DB9-4C40-3723-1A254993D89C}"/>
              </a:ext>
            </a:extLst>
          </p:cNvPr>
          <p:cNvSpPr txBox="1"/>
          <p:nvPr/>
        </p:nvSpPr>
        <p:spPr bwMode="auto">
          <a:xfrm>
            <a:off x="377776" y="2993258"/>
            <a:ext cx="5485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  <a:defRPr/>
            </a:pPr>
            <a:r>
              <a:rPr lang="en-GB" dirty="0">
                <a:solidFill>
                  <a:srgbClr val="0071BA"/>
                </a:solidFill>
                <a:latin typeface="Abadi" panose="020F0502020204030204" pitchFamily="34" charset="0"/>
              </a:rPr>
              <a:t>Extracellular </a:t>
            </a:r>
            <a:r>
              <a:rPr lang="en-GB" dirty="0" err="1">
                <a:solidFill>
                  <a:srgbClr val="0071BA"/>
                </a:solidFill>
                <a:latin typeface="Abadi" panose="020F0502020204030204" pitchFamily="34" charset="0"/>
              </a:rPr>
              <a:t>mAb-glycoform</a:t>
            </a:r>
            <a:r>
              <a:rPr lang="en-GB" dirty="0">
                <a:solidFill>
                  <a:srgbClr val="0071BA"/>
                </a:solidFill>
                <a:latin typeface="Abadi" panose="020F0502020204030204" pitchFamily="34" charset="0"/>
              </a:rPr>
              <a:t> [mg/L] material balances: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1E03B500-F2EE-9722-5DDE-C646FCC98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344696"/>
              </p:ext>
            </p:extLst>
          </p:nvPr>
        </p:nvGraphicFramePr>
        <p:xfrm>
          <a:off x="7080240" y="2558099"/>
          <a:ext cx="4515122" cy="3593250"/>
        </p:xfrm>
        <a:graphic>
          <a:graphicData uri="http://schemas.openxmlformats.org/drawingml/2006/table">
            <a:tbl>
              <a:tblPr/>
              <a:tblGrid>
                <a:gridCol w="604589">
                  <a:extLst>
                    <a:ext uri="{9D8B030D-6E8A-4147-A177-3AD203B41FA5}">
                      <a16:colId xmlns:a16="http://schemas.microsoft.com/office/drawing/2014/main" val="1098125490"/>
                    </a:ext>
                  </a:extLst>
                </a:gridCol>
                <a:gridCol w="3910533">
                  <a:extLst>
                    <a:ext uri="{9D8B030D-6E8A-4147-A177-3AD203B41FA5}">
                      <a16:colId xmlns:a16="http://schemas.microsoft.com/office/drawing/2014/main" val="1289130150"/>
                    </a:ext>
                  </a:extLst>
                </a:gridCol>
              </a:tblGrid>
              <a:tr h="131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Acronym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Complete name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extLst>
                  <a:ext uri="{0D108BD9-81ED-4DB2-BD59-A6C34878D82A}">
                    <a16:rowId xmlns:a16="http://schemas.microsoft.com/office/drawing/2014/main" val="3677557508"/>
                  </a:ext>
                </a:extLst>
              </a:tr>
              <a:tr h="131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M3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Man3GlcNAc2 w/o Fuc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extLst>
                  <a:ext uri="{0D108BD9-81ED-4DB2-BD59-A6C34878D82A}">
                    <a16:rowId xmlns:a16="http://schemas.microsoft.com/office/drawing/2014/main" val="2922401457"/>
                  </a:ext>
                </a:extLst>
              </a:tr>
              <a:tr h="131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FM3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Man3GlcNAc2 w Fuc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extLst>
                  <a:ext uri="{0D108BD9-81ED-4DB2-BD59-A6C34878D82A}">
                    <a16:rowId xmlns:a16="http://schemas.microsoft.com/office/drawing/2014/main" val="270863122"/>
                  </a:ext>
                </a:extLst>
              </a:tr>
              <a:tr h="131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A1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Diantennary w/o 2 ß-Gal w/o 1 GlcNAc w/o Fuc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extLst>
                  <a:ext uri="{0D108BD9-81ED-4DB2-BD59-A6C34878D82A}">
                    <a16:rowId xmlns:a16="http://schemas.microsoft.com/office/drawing/2014/main" val="902894593"/>
                  </a:ext>
                </a:extLst>
              </a:tr>
              <a:tr h="131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M4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Man4GlcNAc2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extLst>
                  <a:ext uri="{0D108BD9-81ED-4DB2-BD59-A6C34878D82A}">
                    <a16:rowId xmlns:a16="http://schemas.microsoft.com/office/drawing/2014/main" val="2044793062"/>
                  </a:ext>
                </a:extLst>
              </a:tr>
              <a:tr h="131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FA1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Diantennary w/o 2 ß-Gal w/o 1 GlcNAc w Fuc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extLst>
                  <a:ext uri="{0D108BD9-81ED-4DB2-BD59-A6C34878D82A}">
                    <a16:rowId xmlns:a16="http://schemas.microsoft.com/office/drawing/2014/main" val="2951316304"/>
                  </a:ext>
                </a:extLst>
              </a:tr>
              <a:tr h="131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A2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Diantennary w/o 2 ß-Gal w/o Fuc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extLst>
                  <a:ext uri="{0D108BD9-81ED-4DB2-BD59-A6C34878D82A}">
                    <a16:rowId xmlns:a16="http://schemas.microsoft.com/office/drawing/2014/main" val="1041223718"/>
                  </a:ext>
                </a:extLst>
              </a:tr>
              <a:tr h="131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HT1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Gal1GlcNAc1Man1+Corewith fucose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extLst>
                  <a:ext uri="{0D108BD9-81ED-4DB2-BD59-A6C34878D82A}">
                    <a16:rowId xmlns:a16="http://schemas.microsoft.com/office/drawing/2014/main" val="951702343"/>
                  </a:ext>
                </a:extLst>
              </a:tr>
              <a:tr h="131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FA2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Diantennary w/o 2 ß-Gal w Fuc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extLst>
                  <a:ext uri="{0D108BD9-81ED-4DB2-BD59-A6C34878D82A}">
                    <a16:rowId xmlns:a16="http://schemas.microsoft.com/office/drawing/2014/main" val="3306741681"/>
                  </a:ext>
                </a:extLst>
              </a:tr>
              <a:tr h="131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M5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Man5GlcNAc2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extLst>
                  <a:ext uri="{0D108BD9-81ED-4DB2-BD59-A6C34878D82A}">
                    <a16:rowId xmlns:a16="http://schemas.microsoft.com/office/drawing/2014/main" val="828903847"/>
                  </a:ext>
                </a:extLst>
              </a:tr>
              <a:tr h="131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FA1G1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Diantennary w/o 1 ß-Gal w/o 1 GlcNAc w Fuc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extLst>
                  <a:ext uri="{0D108BD9-81ED-4DB2-BD59-A6C34878D82A}">
                    <a16:rowId xmlns:a16="http://schemas.microsoft.com/office/drawing/2014/main" val="3660225304"/>
                  </a:ext>
                </a:extLst>
              </a:tr>
              <a:tr h="131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A2G1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Diantennary w/o 1 ß-Gal w/o Fuc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extLst>
                  <a:ext uri="{0D108BD9-81ED-4DB2-BD59-A6C34878D82A}">
                    <a16:rowId xmlns:a16="http://schemas.microsoft.com/office/drawing/2014/main" val="1557875526"/>
                  </a:ext>
                </a:extLst>
              </a:tr>
              <a:tr h="131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FA3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Triantennary w/o 3 ß-Gal w Fuc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extLst>
                  <a:ext uri="{0D108BD9-81ED-4DB2-BD59-A6C34878D82A}">
                    <a16:rowId xmlns:a16="http://schemas.microsoft.com/office/drawing/2014/main" val="4261299587"/>
                  </a:ext>
                </a:extLst>
              </a:tr>
              <a:tr h="1232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FA2G1(a)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Diantennary w/o 1 ß-Gal w Fuc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extLst>
                  <a:ext uri="{0D108BD9-81ED-4DB2-BD59-A6C34878D82A}">
                    <a16:rowId xmlns:a16="http://schemas.microsoft.com/office/drawing/2014/main" val="3516230564"/>
                  </a:ext>
                </a:extLst>
              </a:tr>
              <a:tr h="1338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FA2G1(b)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Diantennary w/o 1 ß-Gal w Fuc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extLst>
                  <a:ext uri="{0D108BD9-81ED-4DB2-BD59-A6C34878D82A}">
                    <a16:rowId xmlns:a16="http://schemas.microsoft.com/office/drawing/2014/main" val="3204349114"/>
                  </a:ext>
                </a:extLst>
              </a:tr>
              <a:tr h="131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M6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Man6GlcNAc2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extLst>
                  <a:ext uri="{0D108BD9-81ED-4DB2-BD59-A6C34878D82A}">
                    <a16:rowId xmlns:a16="http://schemas.microsoft.com/office/drawing/2014/main" val="1564612949"/>
                  </a:ext>
                </a:extLst>
              </a:tr>
              <a:tr h="1272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FA1G1S1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Monosialylated (Neu5Ac), diantennary w/o 1 ß-Gal w/o 1 GlcNAc w Fuc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extLst>
                  <a:ext uri="{0D108BD9-81ED-4DB2-BD59-A6C34878D82A}">
                    <a16:rowId xmlns:a16="http://schemas.microsoft.com/office/drawing/2014/main" val="1791730196"/>
                  </a:ext>
                </a:extLst>
              </a:tr>
              <a:tr h="131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FA3G1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Triantennary w/o 2 ß-Gal w Fuc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extLst>
                  <a:ext uri="{0D108BD9-81ED-4DB2-BD59-A6C34878D82A}">
                    <a16:rowId xmlns:a16="http://schemas.microsoft.com/office/drawing/2014/main" val="3616764507"/>
                  </a:ext>
                </a:extLst>
              </a:tr>
              <a:tr h="131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FA2G2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Diantennary w Fuc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extLst>
                  <a:ext uri="{0D108BD9-81ED-4DB2-BD59-A6C34878D82A}">
                    <a16:rowId xmlns:a16="http://schemas.microsoft.com/office/drawing/2014/main" val="3330928504"/>
                  </a:ext>
                </a:extLst>
              </a:tr>
              <a:tr h="1265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FA2G1S1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 dirty="0" err="1">
                          <a:effectLst/>
                        </a:rPr>
                        <a:t>Monosialylated</a:t>
                      </a:r>
                      <a:r>
                        <a:rPr lang="pt-PT" sz="900" u="none" strike="noStrike" dirty="0">
                          <a:effectLst/>
                        </a:rPr>
                        <a:t> (Neu5Ac), </a:t>
                      </a:r>
                      <a:r>
                        <a:rPr lang="pt-PT" sz="900" u="none" strike="noStrike" dirty="0" err="1">
                          <a:effectLst/>
                        </a:rPr>
                        <a:t>diantennary</a:t>
                      </a:r>
                      <a:r>
                        <a:rPr lang="pt-PT" sz="900" u="none" strike="noStrike" dirty="0">
                          <a:effectLst/>
                        </a:rPr>
                        <a:t> w/o 1 ß-Gal w </a:t>
                      </a:r>
                      <a:r>
                        <a:rPr lang="pt-PT" sz="900" u="none" strike="noStrike" dirty="0" err="1">
                          <a:effectLst/>
                        </a:rPr>
                        <a:t>Fuc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extLst>
                  <a:ext uri="{0D108BD9-81ED-4DB2-BD59-A6C34878D82A}">
                    <a16:rowId xmlns:a16="http://schemas.microsoft.com/office/drawing/2014/main" val="3954173838"/>
                  </a:ext>
                </a:extLst>
              </a:tr>
              <a:tr h="131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M7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Man7GlcNAc2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extLst>
                  <a:ext uri="{0D108BD9-81ED-4DB2-BD59-A6C34878D82A}">
                    <a16:rowId xmlns:a16="http://schemas.microsoft.com/office/drawing/2014/main" val="2363182890"/>
                  </a:ext>
                </a:extLst>
              </a:tr>
              <a:tr h="1345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FA2G2S1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Monosialylated (Neu5Ac), diantennary w Fuc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extLst>
                  <a:ext uri="{0D108BD9-81ED-4DB2-BD59-A6C34878D82A}">
                    <a16:rowId xmlns:a16="http://schemas.microsoft.com/office/drawing/2014/main" val="2179112267"/>
                  </a:ext>
                </a:extLst>
              </a:tr>
              <a:tr h="131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M8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Man8GlcNAc2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extLst>
                  <a:ext uri="{0D108BD9-81ED-4DB2-BD59-A6C34878D82A}">
                    <a16:rowId xmlns:a16="http://schemas.microsoft.com/office/drawing/2014/main" val="1914740919"/>
                  </a:ext>
                </a:extLst>
              </a:tr>
              <a:tr h="1425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FA2G2S2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Disialylated (Neu5Ac), diantennary w Fuc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extLst>
                  <a:ext uri="{0D108BD9-81ED-4DB2-BD59-A6C34878D82A}">
                    <a16:rowId xmlns:a16="http://schemas.microsoft.com/office/drawing/2014/main" val="2821057673"/>
                  </a:ext>
                </a:extLst>
              </a:tr>
              <a:tr h="131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>
                          <a:effectLst/>
                        </a:rPr>
                        <a:t>M9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PT" sz="900" u="none" strike="noStrike" dirty="0">
                          <a:effectLst/>
                        </a:rPr>
                        <a:t>Man9GlcNAc3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570" marR="6570" marT="6570" marB="0" anchor="b"/>
                </a:tc>
                <a:extLst>
                  <a:ext uri="{0D108BD9-81ED-4DB2-BD59-A6C34878D82A}">
                    <a16:rowId xmlns:a16="http://schemas.microsoft.com/office/drawing/2014/main" val="7025806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67FF0FB-A5AF-A1BA-4B4A-E019DC68E983}"/>
                  </a:ext>
                </a:extLst>
              </p:cNvPr>
              <p:cNvSpPr txBox="1"/>
              <p:nvPr/>
            </p:nvSpPr>
            <p:spPr bwMode="auto">
              <a:xfrm>
                <a:off x="182024" y="4498477"/>
                <a:ext cx="6426776" cy="7920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0" lang="pt-PT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PT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𝑚𝐴𝑏</m:t>
                          </m:r>
                        </m:e>
                      </m:d>
                      <m:r>
                        <a:rPr kumimoji="0" lang="pt-PT" sz="1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kumimoji="0" lang="pt-PT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pt-PT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𝑚𝑔</m:t>
                          </m:r>
                        </m:num>
                        <m:den>
                          <m:r>
                            <a:rPr kumimoji="0" lang="pt-PT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kumimoji="0" lang="pt-PT" sz="1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)= </m:t>
                      </m:r>
                      <m:nary>
                        <m:naryPr>
                          <m:chr m:val="∑"/>
                          <m:ctrlPr>
                            <a:rPr kumimoji="0" lang="pt-PT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pt-PT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0" lang="pt-PT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0" lang="pt-PT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𝑛𝐺𝑙𝑦𝑐𝑜𝑓𝑜𝑟𝑚𝑠</m:t>
                          </m:r>
                        </m:sup>
                        <m:e>
                          <m:sSub>
                            <m:sSubPr>
                              <m:ctrlPr>
                                <a:rPr kumimoji="0" lang="pt-PT" sz="16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pt-PT" sz="16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kumimoji="0" lang="pt-PT" sz="16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𝑚𝐴𝑏</m:t>
                              </m:r>
                              <m:r>
                                <a:rPr kumimoji="0" lang="pt-PT" sz="16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b>
                              <m:r>
                                <a:rPr kumimoji="0" lang="pt-PT" sz="16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𝐺𝑙𝑦𝑐𝑜𝑓𝑜𝑟𝑚</m:t>
                              </m:r>
                              <m:r>
                                <a:rPr kumimoji="0" lang="pt-PT" sz="16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0" lang="pt-PT" sz="16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0" lang="pt-PT" sz="16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en-GB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67FF0FB-A5AF-A1BA-4B4A-E019DC68E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024" y="4498477"/>
                <a:ext cx="6426776" cy="7920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24A5E6D1-C040-4200-B132-EBEC55C05512}"/>
              </a:ext>
            </a:extLst>
          </p:cNvPr>
          <p:cNvSpPr txBox="1"/>
          <p:nvPr/>
        </p:nvSpPr>
        <p:spPr>
          <a:xfrm>
            <a:off x="0" y="6500060"/>
            <a:ext cx="522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bad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L. Gündersen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979AAA9-555B-498A-BFB4-4F09BA3ABCC4}"/>
              </a:ext>
            </a:extLst>
          </p:cNvPr>
          <p:cNvSpPr txBox="1">
            <a:spLocks/>
          </p:cNvSpPr>
          <p:nvPr/>
        </p:nvSpPr>
        <p:spPr>
          <a:xfrm>
            <a:off x="7964852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Part I: Regularization and Selection </a:t>
            </a:r>
          </a:p>
        </p:txBody>
      </p:sp>
    </p:spTree>
    <p:extLst>
      <p:ext uri="{BB962C8B-B14F-4D97-AF65-F5344CB8AC3E}">
        <p14:creationId xmlns:p14="http://schemas.microsoft.com/office/powerpoint/2010/main" val="1855659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16E5C-C5DA-7F7A-DBB7-36287E723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3E8A66F-23AE-9AC0-2646-342930F0B73A}"/>
              </a:ext>
            </a:extLst>
          </p:cNvPr>
          <p:cNvSpPr/>
          <p:nvPr/>
        </p:nvSpPr>
        <p:spPr>
          <a:xfrm>
            <a:off x="0" y="6449900"/>
            <a:ext cx="12192000" cy="408100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730DC8-5B5F-579D-5E6D-5618B5C3EA36}"/>
              </a:ext>
            </a:extLst>
          </p:cNvPr>
          <p:cNvSpPr/>
          <p:nvPr/>
        </p:nvSpPr>
        <p:spPr>
          <a:xfrm>
            <a:off x="0" y="0"/>
            <a:ext cx="12192000" cy="664512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67C45BD-2DB9-4770-6648-5CF2A8C2E708}"/>
              </a:ext>
            </a:extLst>
          </p:cNvPr>
          <p:cNvSpPr txBox="1">
            <a:spLocks/>
          </p:cNvSpPr>
          <p:nvPr/>
        </p:nvSpPr>
        <p:spPr>
          <a:xfrm>
            <a:off x="127820" y="93338"/>
            <a:ext cx="50439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09/2026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  <a:sym typeface="Symbol" panose="05050102010706020507" pitchFamily="18" charset="2"/>
              </a:rPr>
              <a:t>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Regularization Method</a:t>
            </a:r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F467DE39-5A60-1342-3FB0-89322D91C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077" y="6471387"/>
            <a:ext cx="2743200" cy="365125"/>
          </a:xfrm>
        </p:spPr>
        <p:txBody>
          <a:bodyPr/>
          <a:lstStyle/>
          <a:p>
            <a:fld id="{C45580C8-1F39-4488-AB14-6575A0DF9911}" type="slidenum">
              <a:rPr lang="en-GB" sz="180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5</a:t>
            </a:fld>
            <a:endParaRPr lang="en-GB" sz="1800" dirty="0">
              <a:solidFill>
                <a:schemeClr val="bg1"/>
              </a:solidFill>
              <a:latin typeface="Abadi" panose="020F0502020204030204" pitchFamily="34" charset="0"/>
              <a:ea typeface="+mj-ea"/>
              <a:cs typeface="+mj-cs"/>
            </a:endParaRP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2903756F-E9BE-AF15-D1BB-5BDD8104DD94}"/>
              </a:ext>
            </a:extLst>
          </p:cNvPr>
          <p:cNvSpPr txBox="1">
            <a:spLocks/>
          </p:cNvSpPr>
          <p:nvPr/>
        </p:nvSpPr>
        <p:spPr>
          <a:xfrm>
            <a:off x="8299341" y="1829555"/>
            <a:ext cx="2994336" cy="1511734"/>
          </a:xfrm>
          <a:prstGeom prst="rect">
            <a:avLst/>
          </a:prstGeom>
          <a:ln w="38100">
            <a:solidFill>
              <a:srgbClr val="0071BA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GB" sz="1400" b="1" dirty="0"/>
              <a:t>Constant Parameters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GB" sz="1200" dirty="0">
                <a:ea typeface="+mj-ea"/>
                <a:cs typeface="+mj-cs"/>
              </a:rPr>
              <a:t>Inputs ANN: 26 (25 [C] + state)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GB" sz="1200" dirty="0">
                <a:ea typeface="+mj-ea"/>
                <a:cs typeface="+mj-cs"/>
              </a:rPr>
              <a:t>Outputs ANN: 25 (25 reaction rates)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GB" sz="1200" dirty="0">
                <a:ea typeface="+mj-ea"/>
                <a:cs typeface="+mj-cs"/>
              </a:rPr>
              <a:t>5000 epochs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GB" sz="1200" dirty="0"/>
              <a:t>15 total batches, </a:t>
            </a:r>
            <a:r>
              <a:rPr lang="en-GB" sz="1200" b="1" dirty="0"/>
              <a:t>1 for Test: Max mAb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E24926-3222-04E4-A48A-6465919CB629}"/>
              </a:ext>
            </a:extLst>
          </p:cNvPr>
          <p:cNvSpPr txBox="1"/>
          <p:nvPr/>
        </p:nvSpPr>
        <p:spPr>
          <a:xfrm>
            <a:off x="2236097" y="1677698"/>
            <a:ext cx="17048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Probabilistic (AICc)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2D3F11-FFC0-ACE0-C4CB-69470C6982C9}"/>
              </a:ext>
            </a:extLst>
          </p:cNvPr>
          <p:cNvSpPr txBox="1"/>
          <p:nvPr/>
        </p:nvSpPr>
        <p:spPr>
          <a:xfrm>
            <a:off x="3975682" y="1576092"/>
            <a:ext cx="3493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Empirical (Valloss)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C9DB8-A43E-46FB-C1B6-7D4F4B8878EB}"/>
              </a:ext>
            </a:extLst>
          </p:cNvPr>
          <p:cNvCxnSpPr>
            <a:cxnSpLocks/>
          </p:cNvCxnSpPr>
          <p:nvPr/>
        </p:nvCxnSpPr>
        <p:spPr>
          <a:xfrm flipH="1">
            <a:off x="1991525" y="1670365"/>
            <a:ext cx="13010" cy="4680000"/>
          </a:xfrm>
          <a:prstGeom prst="line">
            <a:avLst/>
          </a:prstGeom>
          <a:ln w="12700">
            <a:solidFill>
              <a:srgbClr val="0071B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B20EFA8-7C86-8954-EECB-1CEEFE3085EF}"/>
              </a:ext>
            </a:extLst>
          </p:cNvPr>
          <p:cNvSpPr txBox="1"/>
          <p:nvPr/>
        </p:nvSpPr>
        <p:spPr>
          <a:xfrm>
            <a:off x="321970" y="1677698"/>
            <a:ext cx="15756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rgbClr val="0071BA"/>
                </a:solidFill>
                <a:latin typeface="Abadi" panose="020F0502020204030204" pitchFamily="34" charset="0"/>
              </a:rPr>
              <a:t>Parameters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73A414-A51C-6997-53C6-BB34BFA56C56}"/>
              </a:ext>
            </a:extLst>
          </p:cNvPr>
          <p:cNvSpPr txBox="1"/>
          <p:nvPr/>
        </p:nvSpPr>
        <p:spPr>
          <a:xfrm>
            <a:off x="501618" y="2255016"/>
            <a:ext cx="1216402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rgbClr val="0071BA"/>
                </a:solidFill>
                <a:latin typeface="Abadi" panose="020F0502020204030204" pitchFamily="34" charset="0"/>
              </a:defRPr>
            </a:lvl1pPr>
          </a:lstStyle>
          <a:p>
            <a:r>
              <a:rPr lang="en-GB" sz="1300" dirty="0">
                <a:solidFill>
                  <a:schemeClr val="tx1"/>
                </a:solidFill>
              </a:rPr>
              <a:t>Folds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268975-6029-F4C5-29C8-AF5B24AD8BC1}"/>
              </a:ext>
            </a:extLst>
          </p:cNvPr>
          <p:cNvSpPr txBox="1"/>
          <p:nvPr/>
        </p:nvSpPr>
        <p:spPr>
          <a:xfrm>
            <a:off x="327625" y="2637367"/>
            <a:ext cx="1564388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rgbClr val="0071BA"/>
                </a:solidFill>
                <a:latin typeface="Abadi" panose="020F0502020204030204" pitchFamily="34" charset="0"/>
              </a:defRPr>
            </a:lvl1pPr>
          </a:lstStyle>
          <a:p>
            <a:r>
              <a:rPr lang="en-GB" sz="1300" dirty="0">
                <a:solidFill>
                  <a:schemeClr val="tx1"/>
                </a:solidFill>
              </a:rPr>
              <a:t>Data Splitting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8BA24D-451A-5FE6-978B-5F42AAA5D8AC}"/>
              </a:ext>
            </a:extLst>
          </p:cNvPr>
          <p:cNvSpPr txBox="1"/>
          <p:nvPr/>
        </p:nvSpPr>
        <p:spPr>
          <a:xfrm>
            <a:off x="2158274" y="2260754"/>
            <a:ext cx="18174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Single fold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72294D-9244-FB76-A5C5-F669C497FA3E}"/>
              </a:ext>
            </a:extLst>
          </p:cNvPr>
          <p:cNvSpPr txBox="1"/>
          <p:nvPr/>
        </p:nvSpPr>
        <p:spPr>
          <a:xfrm>
            <a:off x="2158274" y="2637367"/>
            <a:ext cx="1817408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14 for Train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FD534F-DF9B-DA98-1308-571A40CD8668}"/>
              </a:ext>
            </a:extLst>
          </p:cNvPr>
          <p:cNvSpPr txBox="1"/>
          <p:nvPr/>
        </p:nvSpPr>
        <p:spPr>
          <a:xfrm>
            <a:off x="327625" y="2977227"/>
            <a:ext cx="1564388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rgbClr val="0071BA"/>
                </a:solidFill>
                <a:latin typeface="Abadi" panose="020F0502020204030204" pitchFamily="34" charset="0"/>
              </a:defRPr>
            </a:lvl1pPr>
          </a:lstStyle>
          <a:p>
            <a:r>
              <a:rPr lang="en-GB" sz="1300" b="1" dirty="0">
                <a:solidFill>
                  <a:schemeClr val="tx1"/>
                </a:solidFill>
              </a:rPr>
              <a:t>Final Model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0CC22F-1E30-6F17-C79F-F46349C630CC}"/>
              </a:ext>
            </a:extLst>
          </p:cNvPr>
          <p:cNvSpPr txBox="1"/>
          <p:nvPr/>
        </p:nvSpPr>
        <p:spPr>
          <a:xfrm>
            <a:off x="3521024" y="2975931"/>
            <a:ext cx="2512629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300" b="1" dirty="0">
                <a:latin typeface="Abadi" panose="020F0502020204030204" pitchFamily="34" charset="0"/>
              </a:rPr>
              <a:t>Ensemble (Average prediction)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F83C293-F6E6-3699-A518-544F71D4385F}"/>
              </a:ext>
            </a:extLst>
          </p:cNvPr>
          <p:cNvCxnSpPr>
            <a:cxnSpLocks/>
          </p:cNvCxnSpPr>
          <p:nvPr/>
        </p:nvCxnSpPr>
        <p:spPr>
          <a:xfrm flipH="1">
            <a:off x="244911" y="2211384"/>
            <a:ext cx="7092000" cy="0"/>
          </a:xfrm>
          <a:prstGeom prst="line">
            <a:avLst/>
          </a:prstGeom>
          <a:ln w="12700">
            <a:solidFill>
              <a:srgbClr val="0071B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19C008C-44B0-6642-5764-E2DF2C858B38}"/>
              </a:ext>
            </a:extLst>
          </p:cNvPr>
          <p:cNvSpPr txBox="1"/>
          <p:nvPr/>
        </p:nvSpPr>
        <p:spPr>
          <a:xfrm>
            <a:off x="212633" y="3365431"/>
            <a:ext cx="1765983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rgbClr val="0071BA"/>
                </a:solidFill>
                <a:latin typeface="Abadi" panose="020F0502020204030204" pitchFamily="34" charset="0"/>
              </a:defRPr>
            </a:lvl1pPr>
          </a:lstStyle>
          <a:p>
            <a:r>
              <a:rPr lang="en-GB" sz="1300" dirty="0">
                <a:solidFill>
                  <a:schemeClr val="tx1"/>
                </a:solidFill>
              </a:rPr>
              <a:t>Optimizes for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42498E-D4C0-0A93-E57D-69DB2D18146E}"/>
              </a:ext>
            </a:extLst>
          </p:cNvPr>
          <p:cNvSpPr txBox="1"/>
          <p:nvPr/>
        </p:nvSpPr>
        <p:spPr>
          <a:xfrm>
            <a:off x="212633" y="4785233"/>
            <a:ext cx="1765983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rgbClr val="0071BA"/>
                </a:solidFill>
                <a:latin typeface="Abadi" panose="020F0502020204030204" pitchFamily="34" charset="0"/>
              </a:defRPr>
            </a:lvl1pPr>
          </a:lstStyle>
          <a:p>
            <a:r>
              <a:rPr lang="en-GB" sz="1300" b="1" dirty="0">
                <a:solidFill>
                  <a:schemeClr val="tx1"/>
                </a:solidFill>
              </a:rPr>
              <a:t>General Hyperparameters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1AAD87-7D38-AE37-0B95-0E09F1082BC6}"/>
              </a:ext>
            </a:extLst>
          </p:cNvPr>
          <p:cNvSpPr txBox="1"/>
          <p:nvPr/>
        </p:nvSpPr>
        <p:spPr>
          <a:xfrm>
            <a:off x="3521024" y="4691604"/>
            <a:ext cx="2512629" cy="6924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300" b="1" dirty="0">
                <a:latin typeface="Abadi" panose="020F0502020204030204" pitchFamily="34" charset="0"/>
              </a:rPr>
              <a:t>Weight decay</a:t>
            </a:r>
          </a:p>
          <a:p>
            <a:pPr algn="ctr">
              <a:spcBef>
                <a:spcPct val="0"/>
              </a:spcBef>
            </a:pPr>
            <a:r>
              <a:rPr lang="en-GB" sz="1300" b="1" dirty="0">
                <a:latin typeface="Abadi" panose="020F0502020204030204" pitchFamily="34" charset="0"/>
              </a:rPr>
              <a:t>Learning rate</a:t>
            </a:r>
          </a:p>
          <a:p>
            <a:pPr algn="ctr">
              <a:spcBef>
                <a:spcPct val="0"/>
              </a:spcBef>
            </a:pPr>
            <a:r>
              <a:rPr lang="en-GB" sz="1300" b="1" dirty="0">
                <a:latin typeface="Abadi" panose="020F0502020204030204" pitchFamily="34" charset="0"/>
              </a:rPr>
              <a:t>Activation function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2C1134F-B2BB-D97D-F0EE-D32E3113F64B}"/>
              </a:ext>
            </a:extLst>
          </p:cNvPr>
          <p:cNvCxnSpPr>
            <a:cxnSpLocks/>
          </p:cNvCxnSpPr>
          <p:nvPr/>
        </p:nvCxnSpPr>
        <p:spPr>
          <a:xfrm flipH="1">
            <a:off x="244911" y="3323741"/>
            <a:ext cx="7092000" cy="0"/>
          </a:xfrm>
          <a:prstGeom prst="line">
            <a:avLst/>
          </a:prstGeom>
          <a:ln w="12700">
            <a:solidFill>
              <a:srgbClr val="0071B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AC8CC6A-8B55-FAF6-3F9C-C57444BFCCF1}"/>
              </a:ext>
            </a:extLst>
          </p:cNvPr>
          <p:cNvCxnSpPr>
            <a:cxnSpLocks/>
          </p:cNvCxnSpPr>
          <p:nvPr/>
        </p:nvCxnSpPr>
        <p:spPr>
          <a:xfrm flipH="1">
            <a:off x="244911" y="3700121"/>
            <a:ext cx="7092000" cy="0"/>
          </a:xfrm>
          <a:prstGeom prst="line">
            <a:avLst/>
          </a:prstGeom>
          <a:ln w="12700">
            <a:solidFill>
              <a:srgbClr val="0071B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B3455D2-7026-E443-38D6-AB0DC724D705}"/>
              </a:ext>
            </a:extLst>
          </p:cNvPr>
          <p:cNvCxnSpPr>
            <a:cxnSpLocks/>
          </p:cNvCxnSpPr>
          <p:nvPr/>
        </p:nvCxnSpPr>
        <p:spPr>
          <a:xfrm flipH="1">
            <a:off x="244911" y="5999997"/>
            <a:ext cx="7092000" cy="0"/>
          </a:xfrm>
          <a:prstGeom prst="line">
            <a:avLst/>
          </a:prstGeom>
          <a:ln w="12700">
            <a:solidFill>
              <a:srgbClr val="0071B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6BF7D6C-2858-32D4-8AF3-0372731E88A2}"/>
              </a:ext>
            </a:extLst>
          </p:cNvPr>
          <p:cNvSpPr txBox="1"/>
          <p:nvPr/>
        </p:nvSpPr>
        <p:spPr>
          <a:xfrm>
            <a:off x="212633" y="5423054"/>
            <a:ext cx="1765983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rgbClr val="0071BA"/>
                </a:solidFill>
                <a:latin typeface="Abadi" panose="020F0502020204030204" pitchFamily="34" charset="0"/>
              </a:defRPr>
            </a:lvl1pPr>
          </a:lstStyle>
          <a:p>
            <a:r>
              <a:rPr lang="en-GB" sz="1300" dirty="0">
                <a:solidFill>
                  <a:schemeClr val="tx1"/>
                </a:solidFill>
              </a:rPr>
              <a:t>SR - specific Hyperparameters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DBABB2B-84FD-82F5-EB7B-E455ED7AE850}"/>
              </a:ext>
            </a:extLst>
          </p:cNvPr>
          <p:cNvSpPr txBox="1"/>
          <p:nvPr/>
        </p:nvSpPr>
        <p:spPr>
          <a:xfrm>
            <a:off x="3566389" y="5423054"/>
            <a:ext cx="2421899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300" b="1" dirty="0">
                <a:latin typeface="Abadi" panose="020F0502020204030204" pitchFamily="34" charset="0"/>
              </a:rPr>
              <a:t>Mini batch rate</a:t>
            </a:r>
          </a:p>
          <a:p>
            <a:pPr algn="ctr">
              <a:spcBef>
                <a:spcPct val="0"/>
              </a:spcBef>
            </a:pPr>
            <a:r>
              <a:rPr lang="en-GB" sz="1300" b="1" dirty="0">
                <a:latin typeface="Abadi" panose="020F0502020204030204" pitchFamily="34" charset="0"/>
              </a:rPr>
              <a:t>Weight dropout rate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CD5C648-DFF8-479C-66C7-23AC02A88CC5}"/>
              </a:ext>
            </a:extLst>
          </p:cNvPr>
          <p:cNvSpPr txBox="1"/>
          <p:nvPr/>
        </p:nvSpPr>
        <p:spPr>
          <a:xfrm>
            <a:off x="212632" y="4120539"/>
            <a:ext cx="1765983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rgbClr val="0071BA"/>
                </a:solidFill>
                <a:latin typeface="Abadi" panose="020F0502020204030204" pitchFamily="34" charset="0"/>
              </a:defRPr>
            </a:lvl1pPr>
          </a:lstStyle>
          <a:p>
            <a:r>
              <a:rPr lang="en-GB" sz="1300" b="1" dirty="0">
                <a:solidFill>
                  <a:schemeClr val="tx1"/>
                </a:solidFill>
              </a:rPr>
              <a:t>Structural Hyperparameters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448081D-365D-E865-558D-8F56435B0308}"/>
              </a:ext>
            </a:extLst>
          </p:cNvPr>
          <p:cNvSpPr txBox="1"/>
          <p:nvPr/>
        </p:nvSpPr>
        <p:spPr>
          <a:xfrm>
            <a:off x="3521024" y="4122493"/>
            <a:ext cx="2512629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defRPr sz="1300">
                <a:latin typeface="Abadi" panose="020F0502020204030204" pitchFamily="34" charset="0"/>
              </a:defRPr>
            </a:lvl1pPr>
          </a:lstStyle>
          <a:p>
            <a:r>
              <a:rPr lang="en-GB" b="1" dirty="0"/>
              <a:t>Number of hidden layers</a:t>
            </a:r>
          </a:p>
          <a:p>
            <a:r>
              <a:rPr lang="en-GB" b="1" dirty="0"/>
              <a:t>Number of nodes per layer</a:t>
            </a:r>
            <a:endParaRPr lang="en-US" b="1" dirty="0"/>
          </a:p>
        </p:txBody>
      </p:sp>
      <p:sp>
        <p:nvSpPr>
          <p:cNvPr id="64" name="Right Brace 63">
            <a:extLst>
              <a:ext uri="{FF2B5EF4-FFF2-40B4-BE49-F238E27FC236}">
                <a16:creationId xmlns:a16="http://schemas.microsoft.com/office/drawing/2014/main" id="{1B569496-915F-928C-88A9-E6E7F90CF391}"/>
              </a:ext>
            </a:extLst>
          </p:cNvPr>
          <p:cNvSpPr/>
          <p:nvPr/>
        </p:nvSpPr>
        <p:spPr>
          <a:xfrm>
            <a:off x="7636435" y="3713739"/>
            <a:ext cx="262770" cy="2349036"/>
          </a:xfrm>
          <a:prstGeom prst="rightBrace">
            <a:avLst/>
          </a:prstGeom>
          <a:ln>
            <a:solidFill>
              <a:srgbClr val="0071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71BA"/>
              </a:highlight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0BBB623-6DAB-A0E0-ABA5-38735330FD21}"/>
              </a:ext>
            </a:extLst>
          </p:cNvPr>
          <p:cNvSpPr txBox="1"/>
          <p:nvPr/>
        </p:nvSpPr>
        <p:spPr>
          <a:xfrm>
            <a:off x="8035640" y="3906419"/>
            <a:ext cx="3943727" cy="2022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GB" sz="1600" dirty="0">
                <a:solidFill>
                  <a:srgbClr val="0071BA"/>
                </a:solidFill>
                <a:latin typeface="Abadi" panose="020F0502020204030204" pitchFamily="34" charset="0"/>
              </a:rPr>
              <a:t>Optimization of hyperparameters: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GB" sz="1400" dirty="0">
                <a:latin typeface="Abadi" panose="020F0502020204030204" pitchFamily="34" charset="0"/>
              </a:rPr>
              <a:t>Establish ranges for hyperparameters;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GB" sz="1400" dirty="0">
                <a:latin typeface="Abadi" panose="020F0502020204030204" pitchFamily="34" charset="0"/>
              </a:rPr>
              <a:t>Use </a:t>
            </a:r>
            <a:r>
              <a:rPr lang="en-GB" sz="1400" dirty="0">
                <a:solidFill>
                  <a:srgbClr val="0071BA"/>
                </a:solidFill>
                <a:latin typeface="Abadi" panose="020F0502020204030204" pitchFamily="34" charset="0"/>
              </a:rPr>
              <a:t>Optuna</a:t>
            </a:r>
            <a:r>
              <a:rPr lang="en-GB" sz="1400" dirty="0">
                <a:latin typeface="Abadi" panose="020F0502020204030204" pitchFamily="34" charset="0"/>
              </a:rPr>
              <a:t> to determine optimum;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GB" sz="1400" dirty="0">
                <a:latin typeface="Abadi" panose="020F0502020204030204" pitchFamily="34" charset="0"/>
              </a:rPr>
              <a:t>Use different test batch for selected models;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GB" sz="1400" dirty="0">
                <a:latin typeface="Abadi" panose="020F0502020204030204" pitchFamily="34" charset="0"/>
              </a:rPr>
              <a:t>Determine best Regularization method.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Tx/>
              <a:buChar char="-"/>
            </a:pPr>
            <a:endParaRPr lang="en-GB" sz="1300" dirty="0">
              <a:latin typeface="Abadi" panose="020F050202020403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54658AE-C98E-D4C3-3CA4-B81E2384F024}"/>
              </a:ext>
            </a:extLst>
          </p:cNvPr>
          <p:cNvSpPr txBox="1"/>
          <p:nvPr/>
        </p:nvSpPr>
        <p:spPr>
          <a:xfrm>
            <a:off x="212632" y="727478"/>
            <a:ext cx="11808774" cy="703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Empirical Selection </a:t>
            </a:r>
            <a:r>
              <a:rPr lang="en-GB" sz="1400" dirty="0">
                <a:latin typeface="Abadi" panose="020F0502020204030204" pitchFamily="34" charset="0"/>
              </a:rPr>
              <a:t>relies on multiple train/validation splits, where training is repeated and models are selected based on minimum validation error (Valloss); it is very robust but computationally expensive. It is being compared with </a:t>
            </a:r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Probabilistic Selection</a:t>
            </a:r>
            <a:r>
              <a:rPr lang="en-GB" sz="1400" dirty="0">
                <a:latin typeface="Abadi" panose="020F0502020204030204" pitchFamily="34" charset="0"/>
              </a:rPr>
              <a:t>,</a:t>
            </a:r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 </a:t>
            </a:r>
            <a:r>
              <a:rPr lang="en-GB" sz="1400" dirty="0">
                <a:latin typeface="Abadi" panose="020F0502020204030204" pitchFamily="34" charset="0"/>
              </a:rPr>
              <a:t>a no-fold training optimized for lowest AICc.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0FD097-AB16-B572-1820-8B63F6D10769}"/>
              </a:ext>
            </a:extLst>
          </p:cNvPr>
          <p:cNvSpPr txBox="1"/>
          <p:nvPr/>
        </p:nvSpPr>
        <p:spPr>
          <a:xfrm>
            <a:off x="2158274" y="3365431"/>
            <a:ext cx="1817408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AICc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466B66-8FF4-F1A7-75F5-9E1433CEB334}"/>
              </a:ext>
            </a:extLst>
          </p:cNvPr>
          <p:cNvSpPr txBox="1"/>
          <p:nvPr/>
        </p:nvSpPr>
        <p:spPr>
          <a:xfrm>
            <a:off x="386627" y="3747610"/>
            <a:ext cx="137315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rgbClr val="0071BA"/>
                </a:solidFill>
                <a:latin typeface="Abadi" panose="020F0502020204030204" pitchFamily="34" charset="0"/>
              </a:defRPr>
            </a:lvl1pPr>
          </a:lstStyle>
          <a:p>
            <a:r>
              <a:rPr lang="en-GB" sz="1300" b="1" dirty="0">
                <a:solidFill>
                  <a:schemeClr val="tx1"/>
                </a:solidFill>
              </a:rPr>
              <a:t>Optimizer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A550A9-356B-3643-BF27-98DAEEE601E8}"/>
              </a:ext>
            </a:extLst>
          </p:cNvPr>
          <p:cNvSpPr txBox="1"/>
          <p:nvPr/>
        </p:nvSpPr>
        <p:spPr>
          <a:xfrm>
            <a:off x="3521024" y="3720089"/>
            <a:ext cx="2512629" cy="3602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300" b="1" dirty="0">
                <a:latin typeface="Abadi" panose="020F0502020204030204" pitchFamily="34" charset="0"/>
              </a:rPr>
              <a:t>ADAMw (weight decay)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3B1059-1D76-D3C5-A827-29B34350DBB6}"/>
              </a:ext>
            </a:extLst>
          </p:cNvPr>
          <p:cNvSpPr txBox="1"/>
          <p:nvPr/>
        </p:nvSpPr>
        <p:spPr>
          <a:xfrm>
            <a:off x="244911" y="6093846"/>
            <a:ext cx="1765983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rgbClr val="0071BA"/>
                </a:solidFill>
                <a:latin typeface="Abadi" panose="020F0502020204030204" pitchFamily="34" charset="0"/>
              </a:defRPr>
            </a:lvl1pPr>
          </a:lstStyle>
          <a:p>
            <a:r>
              <a:rPr lang="en-GB" sz="1300" dirty="0">
                <a:solidFill>
                  <a:schemeClr val="tx1"/>
                </a:solidFill>
              </a:rPr>
              <a:t>Activation function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AB52DC-EADB-CD7C-0A13-2D1F25A16CD0}"/>
              </a:ext>
            </a:extLst>
          </p:cNvPr>
          <p:cNvSpPr txBox="1"/>
          <p:nvPr/>
        </p:nvSpPr>
        <p:spPr>
          <a:xfrm>
            <a:off x="3340974" y="6093846"/>
            <a:ext cx="3106933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300" b="1" dirty="0">
                <a:latin typeface="Abadi" panose="020F0502020204030204" pitchFamily="34" charset="0"/>
              </a:rPr>
              <a:t>‘tanh’ if only 1 hidden layer, else ‘</a:t>
            </a:r>
            <a:r>
              <a:rPr lang="en-GB" sz="1300" b="1" dirty="0" err="1">
                <a:latin typeface="Abadi" panose="020F0502020204030204" pitchFamily="34" charset="0"/>
              </a:rPr>
              <a:t>relu</a:t>
            </a:r>
            <a:r>
              <a:rPr lang="en-GB" sz="1300" b="1" dirty="0">
                <a:latin typeface="Abadi" panose="020F0502020204030204" pitchFamily="34" charset="0"/>
              </a:rPr>
              <a:t>’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BE36DA-4740-4028-A476-D960502234CD}"/>
              </a:ext>
            </a:extLst>
          </p:cNvPr>
          <p:cNvSpPr txBox="1"/>
          <p:nvPr/>
        </p:nvSpPr>
        <p:spPr>
          <a:xfrm>
            <a:off x="0" y="6500060"/>
            <a:ext cx="522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bad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L. Gündersen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E071C862-423F-4A03-A959-9A4095F542BD}"/>
              </a:ext>
            </a:extLst>
          </p:cNvPr>
          <p:cNvSpPr txBox="1">
            <a:spLocks/>
          </p:cNvSpPr>
          <p:nvPr/>
        </p:nvSpPr>
        <p:spPr>
          <a:xfrm>
            <a:off x="7964852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Part I: Regularization and Selection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2627E5-0E9D-42DE-A187-4803A6F673C1}"/>
              </a:ext>
            </a:extLst>
          </p:cNvPr>
          <p:cNvSpPr txBox="1"/>
          <p:nvPr/>
        </p:nvSpPr>
        <p:spPr>
          <a:xfrm>
            <a:off x="3975682" y="1868306"/>
            <a:ext cx="17048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K-fold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A27C02-FB03-48BF-A450-D4352023B859}"/>
              </a:ext>
            </a:extLst>
          </p:cNvPr>
          <p:cNvSpPr txBox="1"/>
          <p:nvPr/>
        </p:nvSpPr>
        <p:spPr>
          <a:xfrm>
            <a:off x="5764837" y="1868306"/>
            <a:ext cx="17048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LOOCV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1DD81BE-1705-4461-B564-BD206F33F247}"/>
              </a:ext>
            </a:extLst>
          </p:cNvPr>
          <p:cNvSpPr txBox="1"/>
          <p:nvPr/>
        </p:nvSpPr>
        <p:spPr>
          <a:xfrm>
            <a:off x="3975682" y="2260434"/>
            <a:ext cx="170482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1300">
                <a:latin typeface="Abadi" panose="020F0502020204030204" pitchFamily="34" charset="0"/>
              </a:defRPr>
            </a:lvl1pPr>
          </a:lstStyle>
          <a:p>
            <a:r>
              <a:rPr lang="en-GB" dirty="0"/>
              <a:t>K-fold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CFAC0E6-9312-4A20-A8B2-3F4CD3138EE9}"/>
              </a:ext>
            </a:extLst>
          </p:cNvPr>
          <p:cNvSpPr txBox="1"/>
          <p:nvPr/>
        </p:nvSpPr>
        <p:spPr>
          <a:xfrm>
            <a:off x="5764837" y="2294674"/>
            <a:ext cx="170482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300" dirty="0">
                <a:latin typeface="Abadi" panose="020F0502020204030204" pitchFamily="34" charset="0"/>
              </a:rPr>
              <a:t>LOOCV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2A1188-AD4B-4F81-826E-E6EE2D0B6CF8}"/>
              </a:ext>
            </a:extLst>
          </p:cNvPr>
          <p:cNvSpPr txBox="1"/>
          <p:nvPr/>
        </p:nvSpPr>
        <p:spPr>
          <a:xfrm>
            <a:off x="3984717" y="2637367"/>
            <a:ext cx="170482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defRPr sz="1300">
                <a:latin typeface="Abadi" panose="020F0502020204030204" pitchFamily="34" charset="0"/>
              </a:defRPr>
            </a:lvl1pPr>
          </a:lstStyle>
          <a:p>
            <a:r>
              <a:rPr lang="en-GB" dirty="0"/>
              <a:t>10:4 (Train/Val)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8643E88-853E-4349-93B1-F589651DE578}"/>
              </a:ext>
            </a:extLst>
          </p:cNvPr>
          <p:cNvSpPr txBox="1"/>
          <p:nvPr/>
        </p:nvSpPr>
        <p:spPr>
          <a:xfrm>
            <a:off x="5764837" y="2637367"/>
            <a:ext cx="170482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defRPr sz="1300">
                <a:latin typeface="Abadi" panose="020F0502020204030204" pitchFamily="34" charset="0"/>
              </a:defRPr>
            </a:lvl1pPr>
          </a:lstStyle>
          <a:p>
            <a:r>
              <a:rPr lang="en-GB" dirty="0"/>
              <a:t>13:1 (Train/Val)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7CB410F-10C7-4940-8F74-C24C02B97C40}"/>
              </a:ext>
            </a:extLst>
          </p:cNvPr>
          <p:cNvSpPr txBox="1"/>
          <p:nvPr/>
        </p:nvSpPr>
        <p:spPr>
          <a:xfrm>
            <a:off x="3975681" y="3357737"/>
            <a:ext cx="336122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300" dirty="0">
                <a:latin typeface="Abadi" panose="020F0502020204030204" pitchFamily="34" charset="0"/>
              </a:rPr>
              <a:t>Valloss</a:t>
            </a:r>
          </a:p>
        </p:txBody>
      </p:sp>
    </p:spTree>
    <p:extLst>
      <p:ext uri="{BB962C8B-B14F-4D97-AF65-F5344CB8AC3E}">
        <p14:creationId xmlns:p14="http://schemas.microsoft.com/office/powerpoint/2010/main" val="3022412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7CF47-3826-1045-77F8-D812327F1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4EF6790-19E8-558B-0DE6-0549263D2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117" y="757701"/>
            <a:ext cx="6876232" cy="477837"/>
          </a:xfrm>
        </p:spPr>
        <p:txBody>
          <a:bodyPr anchor="ctr">
            <a:normAutofit/>
          </a:bodyPr>
          <a:lstStyle/>
          <a:p>
            <a:pPr algn="l">
              <a:spcBef>
                <a:spcPct val="0"/>
              </a:spcBef>
            </a:pPr>
            <a:r>
              <a:rPr lang="en-GB" sz="1800" dirty="0">
                <a:solidFill>
                  <a:srgbClr val="0071BA"/>
                </a:solidFill>
                <a:latin typeface="Abadi" panose="020F0502020204030204" pitchFamily="34" charset="0"/>
              </a:rPr>
              <a:t>1) Establish ranges for hyperparameters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5B5F13-3F1E-FA6D-CDD8-0F7B8C726AEE}"/>
              </a:ext>
            </a:extLst>
          </p:cNvPr>
          <p:cNvSpPr/>
          <p:nvPr/>
        </p:nvSpPr>
        <p:spPr>
          <a:xfrm>
            <a:off x="0" y="0"/>
            <a:ext cx="12192000" cy="664512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0717D9-CC9A-6684-361F-EBB244697855}"/>
              </a:ext>
            </a:extLst>
          </p:cNvPr>
          <p:cNvSpPr/>
          <p:nvPr/>
        </p:nvSpPr>
        <p:spPr>
          <a:xfrm>
            <a:off x="0" y="6449900"/>
            <a:ext cx="12192000" cy="408100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FDA1CDB-D604-65B8-98E8-F7251AA5A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077" y="6471387"/>
            <a:ext cx="2743200" cy="365125"/>
          </a:xfrm>
        </p:spPr>
        <p:txBody>
          <a:bodyPr/>
          <a:lstStyle/>
          <a:p>
            <a:fld id="{C45580C8-1F39-4488-AB14-6575A0DF9911}" type="slidenum">
              <a:rPr lang="en-GB" sz="180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6</a:t>
            </a:fld>
            <a:endParaRPr lang="en-GB" sz="1800" dirty="0">
              <a:solidFill>
                <a:schemeClr val="bg1"/>
              </a:solidFill>
              <a:latin typeface="Abadi" panose="020F0502020204030204" pitchFamily="34" charset="0"/>
              <a:ea typeface="+mj-ea"/>
              <a:cs typeface="+mj-cs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372F805-AF16-03D4-29AD-4A537648F319}"/>
              </a:ext>
            </a:extLst>
          </p:cNvPr>
          <p:cNvSpPr txBox="1">
            <a:spLocks/>
          </p:cNvSpPr>
          <p:nvPr/>
        </p:nvSpPr>
        <p:spPr>
          <a:xfrm>
            <a:off x="127820" y="93338"/>
            <a:ext cx="5632899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09/2026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  <a:sym typeface="Symbol" panose="05050102010706020507" pitchFamily="18" charset="2"/>
              </a:rPr>
              <a:t>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Implementing Optuna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16129F0F-A8D8-731C-7662-DBF25F7A59BD}"/>
              </a:ext>
            </a:extLst>
          </p:cNvPr>
          <p:cNvSpPr txBox="1">
            <a:spLocks/>
          </p:cNvSpPr>
          <p:nvPr/>
        </p:nvSpPr>
        <p:spPr>
          <a:xfrm>
            <a:off x="462117" y="4161779"/>
            <a:ext cx="6876232" cy="477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GB" sz="1800" dirty="0">
                <a:solidFill>
                  <a:srgbClr val="0071BA"/>
                </a:solidFill>
                <a:latin typeface="Abadi" panose="020F0502020204030204" pitchFamily="34" charset="0"/>
              </a:rPr>
              <a:t>2) Use Optuna to determine optimum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DE0986-6C31-4BBE-359E-5328FA6B503B}"/>
              </a:ext>
            </a:extLst>
          </p:cNvPr>
          <p:cNvSpPr txBox="1"/>
          <p:nvPr/>
        </p:nvSpPr>
        <p:spPr>
          <a:xfrm>
            <a:off x="571976" y="2140330"/>
            <a:ext cx="2512629" cy="660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Weight decay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Learning rate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501AE0-6A72-02C2-461E-267AE661DECB}"/>
              </a:ext>
            </a:extLst>
          </p:cNvPr>
          <p:cNvSpPr txBox="1"/>
          <p:nvPr/>
        </p:nvSpPr>
        <p:spPr>
          <a:xfrm>
            <a:off x="571976" y="2873540"/>
            <a:ext cx="2421899" cy="660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Mini batch rate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Weight dropout rate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8BA8F0-DE3C-0A8D-6F5C-0955CA77D3B2}"/>
              </a:ext>
            </a:extLst>
          </p:cNvPr>
          <p:cNvSpPr txBox="1"/>
          <p:nvPr/>
        </p:nvSpPr>
        <p:spPr>
          <a:xfrm>
            <a:off x="571976" y="1477947"/>
            <a:ext cx="2512629" cy="660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defRPr sz="1300">
                <a:latin typeface="Abadi" panose="020F0502020204030204" pitchFamily="34" charset="0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GB" dirty="0"/>
              <a:t>Number of hidden layers</a:t>
            </a:r>
          </a:p>
          <a:p>
            <a:pPr algn="l">
              <a:lnSpc>
                <a:spcPct val="150000"/>
              </a:lnSpc>
            </a:pPr>
            <a:r>
              <a:rPr lang="en-GB" dirty="0"/>
              <a:t>Number of nodes per layer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54ECEE-5C4B-23CF-6DE8-9CADBAC341B4}"/>
              </a:ext>
            </a:extLst>
          </p:cNvPr>
          <p:cNvSpPr txBox="1"/>
          <p:nvPr/>
        </p:nvSpPr>
        <p:spPr>
          <a:xfrm>
            <a:off x="3171185" y="1241240"/>
            <a:ext cx="17529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Default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75D04D-BABC-33AF-EB5E-64C62713176B}"/>
              </a:ext>
            </a:extLst>
          </p:cNvPr>
          <p:cNvSpPr txBox="1"/>
          <p:nvPr/>
        </p:nvSpPr>
        <p:spPr>
          <a:xfrm>
            <a:off x="5335606" y="1241240"/>
            <a:ext cx="16896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Range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F3B4A3-0CBB-F25F-A63C-86B956EED409}"/>
              </a:ext>
            </a:extLst>
          </p:cNvPr>
          <p:cNvSpPr txBox="1"/>
          <p:nvPr/>
        </p:nvSpPr>
        <p:spPr>
          <a:xfrm>
            <a:off x="594871" y="1241240"/>
            <a:ext cx="235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Parameter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7C8BF4-0AE8-FA3A-EC63-86ED0C62D409}"/>
              </a:ext>
            </a:extLst>
          </p:cNvPr>
          <p:cNvSpPr txBox="1"/>
          <p:nvPr/>
        </p:nvSpPr>
        <p:spPr>
          <a:xfrm>
            <a:off x="2791329" y="2140330"/>
            <a:ext cx="2512629" cy="660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1e-4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1e-3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13E802-D246-999F-0509-E05076DA61E9}"/>
              </a:ext>
            </a:extLst>
          </p:cNvPr>
          <p:cNvSpPr txBox="1"/>
          <p:nvPr/>
        </p:nvSpPr>
        <p:spPr>
          <a:xfrm>
            <a:off x="2836694" y="2873540"/>
            <a:ext cx="2421899" cy="660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0.80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0.20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014692-04BB-1B84-9BF1-818819CBD9E9}"/>
              </a:ext>
            </a:extLst>
          </p:cNvPr>
          <p:cNvSpPr txBox="1"/>
          <p:nvPr/>
        </p:nvSpPr>
        <p:spPr>
          <a:xfrm>
            <a:off x="2791329" y="1477947"/>
            <a:ext cx="2512629" cy="660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defRPr sz="1300">
                <a:latin typeface="Abadi" panose="020F050202020403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GB" dirty="0"/>
              <a:t>NA</a:t>
            </a:r>
          </a:p>
          <a:p>
            <a:pPr>
              <a:lnSpc>
                <a:spcPct val="150000"/>
              </a:lnSpc>
            </a:pPr>
            <a:r>
              <a:rPr lang="en-GB" dirty="0"/>
              <a:t>NA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2DCFD2-8580-E445-A6F0-903D07C97F51}"/>
              </a:ext>
            </a:extLst>
          </p:cNvPr>
          <p:cNvSpPr txBox="1"/>
          <p:nvPr/>
        </p:nvSpPr>
        <p:spPr>
          <a:xfrm>
            <a:off x="4924102" y="2140330"/>
            <a:ext cx="2512629" cy="660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1e-7 to 1e-3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1e-5 to 1e-2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A56BFF-5C97-EC8D-029A-E95161AAFF41}"/>
              </a:ext>
            </a:extLst>
          </p:cNvPr>
          <p:cNvSpPr txBox="1"/>
          <p:nvPr/>
        </p:nvSpPr>
        <p:spPr>
          <a:xfrm>
            <a:off x="4969467" y="2873540"/>
            <a:ext cx="2421899" cy="660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0.30 to 0.90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0.10 to 0.70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29765D-EACB-5CCF-FA2F-3E10DB9EC7A2}"/>
              </a:ext>
            </a:extLst>
          </p:cNvPr>
          <p:cNvSpPr txBox="1"/>
          <p:nvPr/>
        </p:nvSpPr>
        <p:spPr>
          <a:xfrm>
            <a:off x="4924102" y="1477947"/>
            <a:ext cx="2512629" cy="660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defRPr sz="1300">
                <a:latin typeface="Abadi" panose="020F050202020403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GB" dirty="0"/>
              <a:t>1 to 5</a:t>
            </a:r>
          </a:p>
          <a:p>
            <a:pPr>
              <a:lnSpc>
                <a:spcPct val="150000"/>
              </a:lnSpc>
            </a:pPr>
            <a:r>
              <a:rPr lang="en-GB" dirty="0"/>
              <a:t>1 to 25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C25DD3-8C33-EB1E-0BB0-BFA614618ACF}"/>
              </a:ext>
            </a:extLst>
          </p:cNvPr>
          <p:cNvSpPr txBox="1"/>
          <p:nvPr/>
        </p:nvSpPr>
        <p:spPr>
          <a:xfrm>
            <a:off x="7397879" y="1245957"/>
            <a:ext cx="16896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Step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1FAB13-2CDC-3B67-A7BA-30BEEE407522}"/>
              </a:ext>
            </a:extLst>
          </p:cNvPr>
          <p:cNvSpPr txBox="1"/>
          <p:nvPr/>
        </p:nvSpPr>
        <p:spPr>
          <a:xfrm>
            <a:off x="6986375" y="2145047"/>
            <a:ext cx="2512629" cy="660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logarithmic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logarithmic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73E321-B5CF-AB6B-CF5B-3C8A36B0CE18}"/>
              </a:ext>
            </a:extLst>
          </p:cNvPr>
          <p:cNvSpPr txBox="1"/>
          <p:nvPr/>
        </p:nvSpPr>
        <p:spPr>
          <a:xfrm>
            <a:off x="7056874" y="2878257"/>
            <a:ext cx="2421899" cy="660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0.05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0.05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071125-7F75-46DA-4C6F-E56838874E57}"/>
              </a:ext>
            </a:extLst>
          </p:cNvPr>
          <p:cNvSpPr txBox="1"/>
          <p:nvPr/>
        </p:nvSpPr>
        <p:spPr>
          <a:xfrm>
            <a:off x="6986375" y="1482664"/>
            <a:ext cx="2512629" cy="6603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defRPr sz="1300">
                <a:latin typeface="Abadi" panose="020F050202020403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GB" dirty="0"/>
              <a:t>1</a:t>
            </a:r>
          </a:p>
          <a:p>
            <a:pPr>
              <a:lnSpc>
                <a:spcPct val="150000"/>
              </a:lnSpc>
            </a:pPr>
            <a:r>
              <a:rPr lang="en-GB" dirty="0"/>
              <a:t>1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6921F5-789C-647F-270F-29FEB0F79A18}"/>
              </a:ext>
            </a:extLst>
          </p:cNvPr>
          <p:cNvSpPr txBox="1"/>
          <p:nvPr/>
        </p:nvSpPr>
        <p:spPr>
          <a:xfrm>
            <a:off x="689275" y="4511196"/>
            <a:ext cx="10813449" cy="1635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indent="-342900">
              <a:lnSpc>
                <a:spcPct val="20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GB" sz="1300" dirty="0">
                <a:latin typeface="Abadi" panose="020F0502020204030204" pitchFamily="34" charset="0"/>
              </a:rPr>
              <a:t>Change code to </a:t>
            </a:r>
            <a:r>
              <a:rPr lang="en-GB" sz="1300" b="1" dirty="0">
                <a:latin typeface="Abadi" panose="020F0502020204030204" pitchFamily="34" charset="0"/>
              </a:rPr>
              <a:t>receive hyperparameters values </a:t>
            </a:r>
            <a:r>
              <a:rPr lang="en-GB" sz="1300" dirty="0">
                <a:latin typeface="Abadi" panose="020F0502020204030204" pitchFamily="34" charset="0"/>
              </a:rPr>
              <a:t>instead of using global hyperparameters (functions </a:t>
            </a:r>
            <a:r>
              <a:rPr lang="en-GB" sz="1300" b="1" dirty="0">
                <a:latin typeface="Abadi" panose="020F0502020204030204" pitchFamily="34" charset="0"/>
              </a:rPr>
              <a:t>train_Hyb_pytorch </a:t>
            </a:r>
            <a:r>
              <a:rPr lang="en-GB" sz="1300" dirty="0">
                <a:latin typeface="Abadi" panose="020F0502020204030204" pitchFamily="34" charset="0"/>
              </a:rPr>
              <a:t>(Cell 11) and  </a:t>
            </a:r>
            <a:r>
              <a:rPr lang="en-GB" sz="1300" b="1" dirty="0">
                <a:latin typeface="Abadi" panose="020F0502020204030204" pitchFamily="34" charset="0"/>
              </a:rPr>
              <a:t>weight_dropout_with_precalculated_values </a:t>
            </a:r>
            <a:r>
              <a:rPr lang="en-GB" sz="1300" dirty="0">
                <a:latin typeface="Abadi" panose="020F0502020204030204" pitchFamily="34" charset="0"/>
              </a:rPr>
              <a:t>(Cell 9) and, and class definition </a:t>
            </a:r>
            <a:r>
              <a:rPr lang="en-GB" sz="1300" b="1" dirty="0">
                <a:latin typeface="Abadi" panose="020F0502020204030204" pitchFamily="34" charset="0"/>
              </a:rPr>
              <a:t>FFNN </a:t>
            </a:r>
            <a:r>
              <a:rPr lang="en-GB" sz="1300" dirty="0">
                <a:latin typeface="Abadi" panose="020F0502020204030204" pitchFamily="34" charset="0"/>
              </a:rPr>
              <a:t>(Cell 5));</a:t>
            </a:r>
          </a:p>
          <a:p>
            <a:pPr marL="342900" indent="-342900">
              <a:lnSpc>
                <a:spcPct val="20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GB" sz="1300" dirty="0">
                <a:latin typeface="Abadi" panose="020F0502020204030204" pitchFamily="34" charset="0"/>
              </a:rPr>
              <a:t>Create objective function with hyperparameter ranges and steps;</a:t>
            </a:r>
          </a:p>
          <a:p>
            <a:pPr marL="342900" indent="-342900">
              <a:lnSpc>
                <a:spcPct val="20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GB" sz="1300" dirty="0">
                <a:latin typeface="Abadi" panose="020F0502020204030204" pitchFamily="34" charset="0"/>
              </a:rPr>
              <a:t>Run study for optimization of training results (AICc for Probabilistic method, Validation error for Empirical method).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C751A9-AF64-D16D-B579-A2E713F6D694}"/>
              </a:ext>
            </a:extLst>
          </p:cNvPr>
          <p:cNvSpPr txBox="1"/>
          <p:nvPr/>
        </p:nvSpPr>
        <p:spPr>
          <a:xfrm>
            <a:off x="594871" y="3708522"/>
            <a:ext cx="8904133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500" dirty="0">
                <a:latin typeface="Abadi" panose="020F0502020204030204" pitchFamily="34" charset="0"/>
              </a:rPr>
              <a:t>Hyperparameters to optimize = </a:t>
            </a:r>
            <a:r>
              <a:rPr lang="el-GR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lang="en-GB" sz="1500" dirty="0">
                <a:latin typeface="Abadi" panose="020F0502020204030204" pitchFamily="34" charset="0"/>
              </a:rPr>
              <a:t> ; Min number of trials &gt; </a:t>
            </a:r>
            <a:r>
              <a:rPr lang="en-GB" sz="1500" b="1" dirty="0">
                <a:latin typeface="Abadi" panose="020F0502020204030204" pitchFamily="34" charset="0"/>
              </a:rPr>
              <a:t>2</a:t>
            </a:r>
            <a:r>
              <a:rPr lang="el-GR" sz="1500" b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lang="el-GR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PT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GB" sz="1500" b="1" dirty="0">
                <a:latin typeface="Abadi" panose="020F0502020204030204" pitchFamily="34" charset="0"/>
              </a:rPr>
              <a:t>2</a:t>
            </a:r>
            <a:r>
              <a:rPr lang="el-GR" sz="1500" b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lang="pt-PT" sz="1500" b="1" dirty="0">
                <a:solidFill>
                  <a:srgbClr val="0071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PT" sz="1500" dirty="0">
                <a:latin typeface="Abadi" panose="020F0502020204030204" pitchFamily="34" charset="0"/>
              </a:rPr>
              <a:t>= 64 ; </a:t>
            </a:r>
            <a:r>
              <a:rPr lang="en-GB" sz="1500" b="1" noProof="0" dirty="0">
                <a:solidFill>
                  <a:srgbClr val="0071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of trials </a:t>
            </a:r>
            <a:r>
              <a:rPr lang="pt-PT" sz="1500" b="1" dirty="0">
                <a:solidFill>
                  <a:srgbClr val="0071B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65</a:t>
            </a:r>
            <a:r>
              <a:rPr lang="en-GB" sz="1500" b="1" baseline="30000" dirty="0">
                <a:solidFill>
                  <a:srgbClr val="0071BA"/>
                </a:solidFill>
                <a:latin typeface="Abadi" panose="020F0502020204030204" pitchFamily="34" charset="0"/>
              </a:rPr>
              <a:t> </a:t>
            </a:r>
            <a:endParaRPr lang="en-GB" sz="1500" b="1" dirty="0">
              <a:solidFill>
                <a:srgbClr val="0071BA"/>
              </a:solidFill>
              <a:latin typeface="Abadi" panose="020F0502020204030204" pitchFamily="34" charset="0"/>
            </a:endParaRP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C4B4A240-81ED-BC3D-6F0C-E9C3E3B67088}"/>
              </a:ext>
            </a:extLst>
          </p:cNvPr>
          <p:cNvSpPr/>
          <p:nvPr/>
        </p:nvSpPr>
        <p:spPr>
          <a:xfrm>
            <a:off x="9085138" y="1549017"/>
            <a:ext cx="353328" cy="1979933"/>
          </a:xfrm>
          <a:prstGeom prst="rightBrace">
            <a:avLst>
              <a:gd name="adj1" fmla="val 8333"/>
              <a:gd name="adj2" fmla="val 5014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DD26A4-82E5-FFD3-C420-E2090B83E63E}"/>
              </a:ext>
            </a:extLst>
          </p:cNvPr>
          <p:cNvSpPr txBox="1"/>
          <p:nvPr/>
        </p:nvSpPr>
        <p:spPr>
          <a:xfrm>
            <a:off x="9400671" y="2320251"/>
            <a:ext cx="842058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l-G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lang="pt-PT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6</a:t>
            </a:r>
            <a:endParaRPr lang="en-GB" b="1" dirty="0">
              <a:latin typeface="Abadi" panose="020F05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C657C1-C2AC-480C-B36A-E601B52AE54C}"/>
              </a:ext>
            </a:extLst>
          </p:cNvPr>
          <p:cNvSpPr txBox="1"/>
          <p:nvPr/>
        </p:nvSpPr>
        <p:spPr>
          <a:xfrm>
            <a:off x="0" y="6500060"/>
            <a:ext cx="522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bad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L. Gündersen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DC0FAAAB-806D-4C90-901C-7284848BE493}"/>
              </a:ext>
            </a:extLst>
          </p:cNvPr>
          <p:cNvSpPr txBox="1">
            <a:spLocks/>
          </p:cNvSpPr>
          <p:nvPr/>
        </p:nvSpPr>
        <p:spPr>
          <a:xfrm>
            <a:off x="7964852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Part I: Regularization and Selection </a:t>
            </a:r>
          </a:p>
        </p:txBody>
      </p:sp>
    </p:spTree>
    <p:extLst>
      <p:ext uri="{BB962C8B-B14F-4D97-AF65-F5344CB8AC3E}">
        <p14:creationId xmlns:p14="http://schemas.microsoft.com/office/powerpoint/2010/main" val="3228468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35180-B910-C89D-B231-FDDFF843A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8654AB-9D55-FFB6-3A97-046710AD53BB}"/>
              </a:ext>
            </a:extLst>
          </p:cNvPr>
          <p:cNvSpPr/>
          <p:nvPr/>
        </p:nvSpPr>
        <p:spPr>
          <a:xfrm>
            <a:off x="0" y="0"/>
            <a:ext cx="12192000" cy="664512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7AEFAE-0B9B-150C-CA01-CB961ABE8846}"/>
              </a:ext>
            </a:extLst>
          </p:cNvPr>
          <p:cNvSpPr/>
          <p:nvPr/>
        </p:nvSpPr>
        <p:spPr>
          <a:xfrm>
            <a:off x="0" y="6449900"/>
            <a:ext cx="12192000" cy="408100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A47381E-F09C-68DC-7C20-CFE58B532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077" y="6471387"/>
            <a:ext cx="2743200" cy="365125"/>
          </a:xfrm>
        </p:spPr>
        <p:txBody>
          <a:bodyPr/>
          <a:lstStyle/>
          <a:p>
            <a:fld id="{C45580C8-1F39-4488-AB14-6575A0DF9911}" type="slidenum">
              <a:rPr lang="en-GB" sz="180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7</a:t>
            </a:fld>
            <a:endParaRPr lang="en-GB" sz="1800" dirty="0">
              <a:solidFill>
                <a:schemeClr val="bg1"/>
              </a:solidFill>
              <a:latin typeface="Abadi" panose="020F0502020204030204" pitchFamily="34" charset="0"/>
              <a:ea typeface="+mj-ea"/>
              <a:cs typeface="+mj-cs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EE785CD-8AF7-711B-37D8-6DBC00C34F59}"/>
              </a:ext>
            </a:extLst>
          </p:cNvPr>
          <p:cNvSpPr txBox="1">
            <a:spLocks/>
          </p:cNvSpPr>
          <p:nvPr/>
        </p:nvSpPr>
        <p:spPr>
          <a:xfrm>
            <a:off x="127820" y="93338"/>
            <a:ext cx="5632899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09/2026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  <a:sym typeface="Symbol" panose="05050102010706020507" pitchFamily="18" charset="2"/>
              </a:rPr>
              <a:t>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Results Optuna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B6A503-E495-982B-9EB8-9B1772EA5FEC}"/>
              </a:ext>
            </a:extLst>
          </p:cNvPr>
          <p:cNvSpPr txBox="1"/>
          <p:nvPr/>
        </p:nvSpPr>
        <p:spPr>
          <a:xfrm>
            <a:off x="2300523" y="913193"/>
            <a:ext cx="25129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Probabilistic (AICc)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35B26A-7769-9F40-95C6-B9DEA5977B45}"/>
              </a:ext>
            </a:extLst>
          </p:cNvPr>
          <p:cNvSpPr txBox="1"/>
          <p:nvPr/>
        </p:nvSpPr>
        <p:spPr>
          <a:xfrm>
            <a:off x="7644862" y="913193"/>
            <a:ext cx="2271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Empirical (LOOCV)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55EA7F2-1439-78F0-8D3B-BE71017B9B0A}"/>
              </a:ext>
            </a:extLst>
          </p:cNvPr>
          <p:cNvCxnSpPr>
            <a:cxnSpLocks/>
          </p:cNvCxnSpPr>
          <p:nvPr/>
        </p:nvCxnSpPr>
        <p:spPr>
          <a:xfrm flipH="1">
            <a:off x="2210273" y="919028"/>
            <a:ext cx="13010" cy="5364000"/>
          </a:xfrm>
          <a:prstGeom prst="line">
            <a:avLst/>
          </a:prstGeom>
          <a:ln w="12700">
            <a:solidFill>
              <a:srgbClr val="0071B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F740C1A-D793-F42F-A884-D2870255368B}"/>
              </a:ext>
            </a:extLst>
          </p:cNvPr>
          <p:cNvSpPr txBox="1"/>
          <p:nvPr/>
        </p:nvSpPr>
        <p:spPr>
          <a:xfrm>
            <a:off x="313274" y="913193"/>
            <a:ext cx="18730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>
                <a:solidFill>
                  <a:srgbClr val="0071BA"/>
                </a:solidFill>
                <a:latin typeface="Abadi" panose="020F0502020204030204" pitchFamily="34" charset="0"/>
              </a:rPr>
              <a:t>Parameters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E2C6325-4A06-BCF9-8B26-D616DE555BD5}"/>
              </a:ext>
            </a:extLst>
          </p:cNvPr>
          <p:cNvSpPr txBox="1"/>
          <p:nvPr/>
        </p:nvSpPr>
        <p:spPr>
          <a:xfrm>
            <a:off x="250977" y="2129694"/>
            <a:ext cx="1893016" cy="894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Weight decay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Learning rate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Activation function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2DDDDD-2104-D5AA-7F96-F17AC715ACC7}"/>
              </a:ext>
            </a:extLst>
          </p:cNvPr>
          <p:cNvSpPr txBox="1"/>
          <p:nvPr/>
        </p:nvSpPr>
        <p:spPr>
          <a:xfrm>
            <a:off x="291801" y="3106649"/>
            <a:ext cx="1824660" cy="617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Mini batch rate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Weight dropout rate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38CA9E-0B49-1AE3-68DF-3BA1FC0D8268}"/>
              </a:ext>
            </a:extLst>
          </p:cNvPr>
          <p:cNvSpPr txBox="1"/>
          <p:nvPr/>
        </p:nvSpPr>
        <p:spPr>
          <a:xfrm>
            <a:off x="250977" y="1402243"/>
            <a:ext cx="1893016" cy="617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defRPr sz="1300">
                <a:latin typeface="Abadi" panose="020F050202020403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GB" sz="1200" b="1" dirty="0"/>
              <a:t>Number of hidden layers</a:t>
            </a:r>
          </a:p>
          <a:p>
            <a:pPr>
              <a:lnSpc>
                <a:spcPct val="150000"/>
              </a:lnSpc>
            </a:pPr>
            <a:r>
              <a:rPr lang="en-GB" sz="1200" b="1" dirty="0"/>
              <a:t>Number of nodes per layer</a:t>
            </a:r>
            <a:endParaRPr lang="en-US" sz="1200" b="1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483DED2-BAFC-B688-E349-19C899AEFB00}"/>
              </a:ext>
            </a:extLst>
          </p:cNvPr>
          <p:cNvCxnSpPr>
            <a:cxnSpLocks/>
          </p:cNvCxnSpPr>
          <p:nvPr/>
        </p:nvCxnSpPr>
        <p:spPr>
          <a:xfrm flipH="1">
            <a:off x="313274" y="1286430"/>
            <a:ext cx="8928000" cy="0"/>
          </a:xfrm>
          <a:prstGeom prst="line">
            <a:avLst/>
          </a:prstGeom>
          <a:ln w="12700">
            <a:solidFill>
              <a:srgbClr val="0071B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0E9A99E-296A-934D-D734-D6CA38AE6917}"/>
              </a:ext>
            </a:extLst>
          </p:cNvPr>
          <p:cNvCxnSpPr>
            <a:cxnSpLocks/>
          </p:cNvCxnSpPr>
          <p:nvPr/>
        </p:nvCxnSpPr>
        <p:spPr>
          <a:xfrm flipH="1">
            <a:off x="313274" y="4241918"/>
            <a:ext cx="8928000" cy="0"/>
          </a:xfrm>
          <a:prstGeom prst="line">
            <a:avLst/>
          </a:prstGeom>
          <a:ln w="12700">
            <a:solidFill>
              <a:srgbClr val="0071B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070AFB2-7577-BB44-7226-EDBD3B81089F}"/>
              </a:ext>
            </a:extLst>
          </p:cNvPr>
          <p:cNvSpPr txBox="1"/>
          <p:nvPr/>
        </p:nvSpPr>
        <p:spPr>
          <a:xfrm>
            <a:off x="2300522" y="2129693"/>
            <a:ext cx="2261127" cy="894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1.3464700407939077e-07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7.160247325944843E-03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tanh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CD7DE9-781A-AFEA-3FDE-6D5009B44CD6}"/>
              </a:ext>
            </a:extLst>
          </p:cNvPr>
          <p:cNvSpPr txBox="1"/>
          <p:nvPr/>
        </p:nvSpPr>
        <p:spPr>
          <a:xfrm>
            <a:off x="2300522" y="3085105"/>
            <a:ext cx="2179479" cy="6603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0.85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0.10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8B21FC-F3BD-9D4D-39D5-E40FE48D0C29}"/>
              </a:ext>
            </a:extLst>
          </p:cNvPr>
          <p:cNvSpPr txBox="1"/>
          <p:nvPr/>
        </p:nvSpPr>
        <p:spPr>
          <a:xfrm>
            <a:off x="2300522" y="1360976"/>
            <a:ext cx="2261127" cy="6603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defRPr sz="1300">
                <a:latin typeface="Abadi" panose="020F050202020403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GB" b="1" dirty="0"/>
              <a:t>1</a:t>
            </a:r>
          </a:p>
          <a:p>
            <a:pPr>
              <a:lnSpc>
                <a:spcPct val="150000"/>
              </a:lnSpc>
            </a:pPr>
            <a:r>
              <a:rPr lang="en-US" b="1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7E2CE21-6D81-E20A-B9FC-81F31D4150D2}"/>
              </a:ext>
            </a:extLst>
          </p:cNvPr>
          <p:cNvSpPr txBox="1"/>
          <p:nvPr/>
        </p:nvSpPr>
        <p:spPr>
          <a:xfrm>
            <a:off x="7650234" y="2129694"/>
            <a:ext cx="2261127" cy="894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1.0039691935944614e-07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8.701116100036337e-03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tanh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47BFD1F-DB29-9729-6FAF-581BF6FB333C}"/>
              </a:ext>
            </a:extLst>
          </p:cNvPr>
          <p:cNvSpPr txBox="1"/>
          <p:nvPr/>
        </p:nvSpPr>
        <p:spPr>
          <a:xfrm>
            <a:off x="7691058" y="3085105"/>
            <a:ext cx="2179479" cy="6603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0.70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0.30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1AA33E9-60AC-1A37-B228-ADDD8907E9E9}"/>
              </a:ext>
            </a:extLst>
          </p:cNvPr>
          <p:cNvSpPr txBox="1"/>
          <p:nvPr/>
        </p:nvSpPr>
        <p:spPr>
          <a:xfrm>
            <a:off x="7650234" y="1320828"/>
            <a:ext cx="2261127" cy="6603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defRPr sz="1300">
                <a:latin typeface="Abadi" panose="020F050202020403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GB" b="1" dirty="0"/>
              <a:t>1</a:t>
            </a:r>
          </a:p>
          <a:p>
            <a:pPr>
              <a:lnSpc>
                <a:spcPct val="150000"/>
              </a:lnSpc>
            </a:pPr>
            <a:r>
              <a:rPr lang="en-US" b="1" dirty="0"/>
              <a:t>24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D9DF68-FCE3-4D44-5D9B-75F7D4E01053}"/>
              </a:ext>
            </a:extLst>
          </p:cNvPr>
          <p:cNvSpPr txBox="1"/>
          <p:nvPr/>
        </p:nvSpPr>
        <p:spPr>
          <a:xfrm>
            <a:off x="2249720" y="4426444"/>
            <a:ext cx="256379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WMSE – 0.5095 | R2 -  0.9450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93C8F35-56F5-261E-FC85-6A30CA1607FD}"/>
              </a:ext>
            </a:extLst>
          </p:cNvPr>
          <p:cNvSpPr txBox="1"/>
          <p:nvPr/>
        </p:nvSpPr>
        <p:spPr>
          <a:xfrm>
            <a:off x="7498899" y="4386296"/>
            <a:ext cx="256379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WMSE – 0.5338 | R2 -  0.9388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01D5046-F0D6-8DF6-C2AB-0BE3CE995072}"/>
              </a:ext>
            </a:extLst>
          </p:cNvPr>
          <p:cNvSpPr txBox="1"/>
          <p:nvPr/>
        </p:nvSpPr>
        <p:spPr>
          <a:xfrm>
            <a:off x="2249720" y="4910244"/>
            <a:ext cx="256379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WMSE – 2.0368 | R2 -  0.9193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EA5C5E0-A85D-1D75-9D90-2D19A4127101}"/>
              </a:ext>
            </a:extLst>
          </p:cNvPr>
          <p:cNvSpPr txBox="1"/>
          <p:nvPr/>
        </p:nvSpPr>
        <p:spPr>
          <a:xfrm>
            <a:off x="7508424" y="4870096"/>
            <a:ext cx="256379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WMSE – 2.2104 | R2 -  0.8967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4F7B0C-BF09-B4A7-7264-D7FD675B94F2}"/>
              </a:ext>
            </a:extLst>
          </p:cNvPr>
          <p:cNvSpPr txBox="1"/>
          <p:nvPr/>
        </p:nvSpPr>
        <p:spPr>
          <a:xfrm>
            <a:off x="2249720" y="5394044"/>
            <a:ext cx="256379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WMSE – 0.0908 | R2 -  0.9802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FCD61CF-5AB0-EC8C-8C9E-69AAF3D8486C}"/>
              </a:ext>
            </a:extLst>
          </p:cNvPr>
          <p:cNvSpPr txBox="1"/>
          <p:nvPr/>
        </p:nvSpPr>
        <p:spPr>
          <a:xfrm>
            <a:off x="7498899" y="5353896"/>
            <a:ext cx="256379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WMSE – 0.1108 | R2 -  0.9731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054AE04-4C23-2498-4A05-CA66BA39FAD7}"/>
              </a:ext>
            </a:extLst>
          </p:cNvPr>
          <p:cNvSpPr txBox="1"/>
          <p:nvPr/>
        </p:nvSpPr>
        <p:spPr>
          <a:xfrm>
            <a:off x="2249720" y="5877845"/>
            <a:ext cx="256379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WMSE – 0.9234 | R2 -  0.9567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9EA05D9-F0B9-665D-91F1-E679E484F7EB}"/>
              </a:ext>
            </a:extLst>
          </p:cNvPr>
          <p:cNvSpPr txBox="1"/>
          <p:nvPr/>
        </p:nvSpPr>
        <p:spPr>
          <a:xfrm>
            <a:off x="7498899" y="5837697"/>
            <a:ext cx="256379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WMSE – 1.0170 | R2 -  0.9290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67DF01D-CA0B-8302-14ED-7C16EBA95E99}"/>
              </a:ext>
            </a:extLst>
          </p:cNvPr>
          <p:cNvSpPr/>
          <p:nvPr/>
        </p:nvSpPr>
        <p:spPr>
          <a:xfrm>
            <a:off x="2276011" y="4417349"/>
            <a:ext cx="2563796" cy="803354"/>
          </a:xfrm>
          <a:prstGeom prst="rect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22F1EDD-1E0B-0C8B-D55C-6A40FB066855}"/>
              </a:ext>
            </a:extLst>
          </p:cNvPr>
          <p:cNvSpPr/>
          <p:nvPr/>
        </p:nvSpPr>
        <p:spPr>
          <a:xfrm>
            <a:off x="2285536" y="5404442"/>
            <a:ext cx="2563796" cy="785337"/>
          </a:xfrm>
          <a:prstGeom prst="rect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4B1FFEB-81FD-1795-F994-ABEB8A9D37C6}"/>
              </a:ext>
            </a:extLst>
          </p:cNvPr>
          <p:cNvSpPr txBox="1"/>
          <p:nvPr/>
        </p:nvSpPr>
        <p:spPr>
          <a:xfrm>
            <a:off x="291801" y="3788338"/>
            <a:ext cx="2016304" cy="340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Computational time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8BC30F3-F661-3FEA-3E81-A862D5E1B8D5}"/>
              </a:ext>
            </a:extLst>
          </p:cNvPr>
          <p:cNvSpPr txBox="1"/>
          <p:nvPr/>
        </p:nvSpPr>
        <p:spPr>
          <a:xfrm>
            <a:off x="2300522" y="3778335"/>
            <a:ext cx="2179479" cy="3602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742 min (13.4 h)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9A98B61-9BF3-42C7-65E7-58AFC28AA00C}"/>
              </a:ext>
            </a:extLst>
          </p:cNvPr>
          <p:cNvSpPr txBox="1"/>
          <p:nvPr/>
        </p:nvSpPr>
        <p:spPr>
          <a:xfrm>
            <a:off x="7691058" y="3778335"/>
            <a:ext cx="2179479" cy="3602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6848 min (114.1 h)</a:t>
            </a:r>
          </a:p>
        </p:txBody>
      </p:sp>
      <p:sp>
        <p:nvSpPr>
          <p:cNvPr id="86" name="Right Brace 85">
            <a:extLst>
              <a:ext uri="{FF2B5EF4-FFF2-40B4-BE49-F238E27FC236}">
                <a16:creationId xmlns:a16="http://schemas.microsoft.com/office/drawing/2014/main" id="{E185311C-2732-2AC2-2F21-4CB45CAC9BC4}"/>
              </a:ext>
            </a:extLst>
          </p:cNvPr>
          <p:cNvSpPr/>
          <p:nvPr/>
        </p:nvSpPr>
        <p:spPr>
          <a:xfrm>
            <a:off x="9899072" y="4256495"/>
            <a:ext cx="288278" cy="1979933"/>
          </a:xfrm>
          <a:prstGeom prst="rightBrace">
            <a:avLst>
              <a:gd name="adj1" fmla="val 8333"/>
              <a:gd name="adj2" fmla="val 5014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E878F8F-2157-9A33-9EF6-CCD73F76486B}"/>
              </a:ext>
            </a:extLst>
          </p:cNvPr>
          <p:cNvSpPr txBox="1"/>
          <p:nvPr/>
        </p:nvSpPr>
        <p:spPr>
          <a:xfrm>
            <a:off x="10181192" y="4104227"/>
            <a:ext cx="2002974" cy="216136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The methods obtained </a:t>
            </a:r>
            <a:r>
              <a:rPr lang="en-GB" sz="1300" b="1" dirty="0">
                <a:latin typeface="Abadi" panose="020F0502020204030204" pitchFamily="34" charset="0"/>
              </a:rPr>
              <a:t>comparable results during training</a:t>
            </a:r>
            <a:r>
              <a:rPr lang="en-GB" sz="1300" dirty="0">
                <a:latin typeface="Abadi" panose="020F0502020204030204" pitchFamily="34" charset="0"/>
              </a:rPr>
              <a:t> (AICc being slightly better), but </a:t>
            </a:r>
            <a:r>
              <a:rPr lang="en-GB" sz="1300" b="1" dirty="0">
                <a:latin typeface="Abadi" panose="020F0502020204030204" pitchFamily="34" charset="0"/>
              </a:rPr>
              <a:t>the test results are better using the AICc </a:t>
            </a:r>
            <a:r>
              <a:rPr lang="en-GB" sz="1300" dirty="0">
                <a:latin typeface="Abadi" panose="020F0502020204030204" pitchFamily="34" charset="0"/>
              </a:rPr>
              <a:t>as a Selection Method.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FB5D90-B916-8B8D-98B4-847E8167C395}"/>
              </a:ext>
            </a:extLst>
          </p:cNvPr>
          <p:cNvGrpSpPr/>
          <p:nvPr/>
        </p:nvGrpSpPr>
        <p:grpSpPr>
          <a:xfrm>
            <a:off x="9833272" y="944179"/>
            <a:ext cx="2261127" cy="1535580"/>
            <a:chOff x="9355188" y="1300215"/>
            <a:chExt cx="2684411" cy="153558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3876A41-E5DB-8894-8384-4EF706967824}"/>
                </a:ext>
              </a:extLst>
            </p:cNvPr>
            <p:cNvSpPr txBox="1"/>
            <p:nvPr/>
          </p:nvSpPr>
          <p:spPr>
            <a:xfrm>
              <a:off x="9415495" y="1947881"/>
              <a:ext cx="2563796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GB" sz="1100" dirty="0">
                  <a:latin typeface="Abadi" panose="020F0502020204030204" pitchFamily="34" charset="0"/>
                </a:rPr>
                <a:t>WMSE – 0.4696 | R2 -  0.9622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F297CD9-C6FB-7F0D-499B-5973215AD13C}"/>
                </a:ext>
              </a:extLst>
            </p:cNvPr>
            <p:cNvSpPr txBox="1"/>
            <p:nvPr/>
          </p:nvSpPr>
          <p:spPr>
            <a:xfrm>
              <a:off x="9415495" y="2494364"/>
              <a:ext cx="2563796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GB" sz="1100" dirty="0">
                  <a:latin typeface="Abadi" panose="020F0502020204030204" pitchFamily="34" charset="0"/>
                </a:rPr>
                <a:t>WMSE – 0.6363 | R2 -  0.9591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1070BD0-C65E-ED85-FFCB-17F4F1A1108E}"/>
                </a:ext>
              </a:extLst>
            </p:cNvPr>
            <p:cNvSpPr txBox="1"/>
            <p:nvPr/>
          </p:nvSpPr>
          <p:spPr>
            <a:xfrm>
              <a:off x="9415495" y="2220860"/>
              <a:ext cx="2563796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GB" sz="1100" dirty="0">
                  <a:latin typeface="Abadi" panose="020F0502020204030204" pitchFamily="34" charset="0"/>
                </a:rPr>
                <a:t>Test batch (Top)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AD5CCE1-1DD9-9C09-3A9C-8CE84F1740FA}"/>
                </a:ext>
              </a:extLst>
            </p:cNvPr>
            <p:cNvSpPr txBox="1"/>
            <p:nvPr/>
          </p:nvSpPr>
          <p:spPr>
            <a:xfrm>
              <a:off x="9415495" y="1669486"/>
              <a:ext cx="2563796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GB" sz="1100" dirty="0">
                  <a:latin typeface="Abadi" panose="020F0502020204030204" pitchFamily="34" charset="0"/>
                </a:rPr>
                <a:t>Training and Validation batches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06796A7-74BA-0B4B-710C-26021F02C5AC}"/>
                </a:ext>
              </a:extLst>
            </p:cNvPr>
            <p:cNvSpPr txBox="1"/>
            <p:nvPr/>
          </p:nvSpPr>
          <p:spPr>
            <a:xfrm>
              <a:off x="9415495" y="1364678"/>
              <a:ext cx="2563796" cy="27699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GB" sz="1200" b="1" dirty="0">
                  <a:solidFill>
                    <a:srgbClr val="0071BA"/>
                  </a:solidFill>
                  <a:latin typeface="Abadi" panose="020F0502020204030204" pitchFamily="34" charset="0"/>
                </a:rPr>
                <a:t>Noisy vs True - Top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B7DA197-6187-2D6F-1130-660504528093}"/>
                </a:ext>
              </a:extLst>
            </p:cNvPr>
            <p:cNvSpPr/>
            <p:nvPr/>
          </p:nvSpPr>
          <p:spPr>
            <a:xfrm>
              <a:off x="9355188" y="1300215"/>
              <a:ext cx="2684411" cy="1535580"/>
            </a:xfrm>
            <a:prstGeom prst="rect">
              <a:avLst/>
            </a:prstGeom>
            <a:noFill/>
            <a:ln w="38100">
              <a:solidFill>
                <a:srgbClr val="0071B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1CEF379-BCEE-92F6-8E9D-B66B9D665AFC}"/>
              </a:ext>
            </a:extLst>
          </p:cNvPr>
          <p:cNvSpPr txBox="1"/>
          <p:nvPr/>
        </p:nvSpPr>
        <p:spPr>
          <a:xfrm>
            <a:off x="989859" y="4443299"/>
            <a:ext cx="104036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Trainvalloss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EFAACB-E3D7-645A-F0C8-23B45E102070}"/>
              </a:ext>
            </a:extLst>
          </p:cNvPr>
          <p:cNvSpPr txBox="1"/>
          <p:nvPr/>
        </p:nvSpPr>
        <p:spPr>
          <a:xfrm>
            <a:off x="996239" y="4885581"/>
            <a:ext cx="104036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Testloss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EA26EF-7E7E-4FAB-85D3-B84F4FFAE376}"/>
              </a:ext>
            </a:extLst>
          </p:cNvPr>
          <p:cNvSpPr txBox="1"/>
          <p:nvPr/>
        </p:nvSpPr>
        <p:spPr>
          <a:xfrm>
            <a:off x="1025219" y="5474023"/>
            <a:ext cx="101138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Trainvalloss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528134-1796-3976-95D0-76360644549B}"/>
              </a:ext>
            </a:extLst>
          </p:cNvPr>
          <p:cNvSpPr txBox="1"/>
          <p:nvPr/>
        </p:nvSpPr>
        <p:spPr>
          <a:xfrm>
            <a:off x="1025219" y="5916618"/>
            <a:ext cx="101138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Testloss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2C56CE-4250-3464-387F-7C48459BE51F}"/>
              </a:ext>
            </a:extLst>
          </p:cNvPr>
          <p:cNvSpPr txBox="1"/>
          <p:nvPr/>
        </p:nvSpPr>
        <p:spPr>
          <a:xfrm>
            <a:off x="33667" y="4699500"/>
            <a:ext cx="1132073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400" dirty="0">
                <a:latin typeface="Abadi" panose="020F0502020204030204" pitchFamily="34" charset="0"/>
              </a:rPr>
              <a:t>Noisy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0DB30D-1201-FBE3-FC13-1E7B358E65D6}"/>
              </a:ext>
            </a:extLst>
          </p:cNvPr>
          <p:cNvSpPr txBox="1"/>
          <p:nvPr/>
        </p:nvSpPr>
        <p:spPr>
          <a:xfrm>
            <a:off x="86597" y="5629640"/>
            <a:ext cx="1132073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400" dirty="0">
                <a:latin typeface="Abadi" panose="020F0502020204030204" pitchFamily="34" charset="0"/>
              </a:rPr>
              <a:t>True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73DA361-4830-45C9-C65F-3CB6314C5836}"/>
              </a:ext>
            </a:extLst>
          </p:cNvPr>
          <p:cNvCxnSpPr>
            <a:cxnSpLocks/>
          </p:cNvCxnSpPr>
          <p:nvPr/>
        </p:nvCxnSpPr>
        <p:spPr>
          <a:xfrm flipH="1">
            <a:off x="385644" y="5314480"/>
            <a:ext cx="8712000" cy="0"/>
          </a:xfrm>
          <a:prstGeom prst="line">
            <a:avLst/>
          </a:prstGeom>
          <a:ln w="6350">
            <a:solidFill>
              <a:srgbClr val="0071B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7EE1E08-D1A6-4205-AE76-332C378D1872}"/>
              </a:ext>
            </a:extLst>
          </p:cNvPr>
          <p:cNvSpPr txBox="1"/>
          <p:nvPr/>
        </p:nvSpPr>
        <p:spPr>
          <a:xfrm>
            <a:off x="0" y="6500060"/>
            <a:ext cx="522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bad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L. Gündersen</a:t>
            </a:r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835A405F-2A83-40D0-9789-A01091963DA9}"/>
              </a:ext>
            </a:extLst>
          </p:cNvPr>
          <p:cNvSpPr txBox="1">
            <a:spLocks/>
          </p:cNvSpPr>
          <p:nvPr/>
        </p:nvSpPr>
        <p:spPr>
          <a:xfrm>
            <a:off x="7964852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Part I: Regularization and Selection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1CDD3D2-E710-4743-9906-65252FA78EC8}"/>
              </a:ext>
            </a:extLst>
          </p:cNvPr>
          <p:cNvSpPr txBox="1"/>
          <p:nvPr/>
        </p:nvSpPr>
        <p:spPr>
          <a:xfrm>
            <a:off x="5082764" y="913193"/>
            <a:ext cx="2271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Empirical (k-fold)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ADB991D-1975-4004-90DE-D8D672DAD92D}"/>
              </a:ext>
            </a:extLst>
          </p:cNvPr>
          <p:cNvSpPr txBox="1"/>
          <p:nvPr/>
        </p:nvSpPr>
        <p:spPr>
          <a:xfrm>
            <a:off x="5088136" y="2129694"/>
            <a:ext cx="2261127" cy="894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2.174678917296539e-07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3.661483220556779e-03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tanh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FA8F570-AB4A-46EA-9642-CB33639F5BDB}"/>
              </a:ext>
            </a:extLst>
          </p:cNvPr>
          <p:cNvSpPr txBox="1"/>
          <p:nvPr/>
        </p:nvSpPr>
        <p:spPr>
          <a:xfrm>
            <a:off x="5128960" y="3085105"/>
            <a:ext cx="2179479" cy="6603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0.90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0.20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82F4F7-EFF7-4D94-BB45-EC4802F5120D}"/>
              </a:ext>
            </a:extLst>
          </p:cNvPr>
          <p:cNvSpPr txBox="1"/>
          <p:nvPr/>
        </p:nvSpPr>
        <p:spPr>
          <a:xfrm>
            <a:off x="5088136" y="1325173"/>
            <a:ext cx="2261127" cy="6603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defRPr sz="1300">
                <a:latin typeface="Abadi" panose="020F050202020403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GB" b="1" dirty="0"/>
              <a:t>1</a:t>
            </a:r>
          </a:p>
          <a:p>
            <a:pPr>
              <a:lnSpc>
                <a:spcPct val="150000"/>
              </a:lnSpc>
            </a:pPr>
            <a:r>
              <a:rPr lang="en-US" b="1" dirty="0"/>
              <a:t>12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AD6C2A2-1B50-460E-A4ED-2D313881E8F3}"/>
              </a:ext>
            </a:extLst>
          </p:cNvPr>
          <p:cNvSpPr txBox="1"/>
          <p:nvPr/>
        </p:nvSpPr>
        <p:spPr>
          <a:xfrm>
            <a:off x="4936801" y="4390641"/>
            <a:ext cx="256379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WMSE – 0.5041 | R2 -  0.9459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A6429E-8935-45FA-A16D-6D6B12F39618}"/>
              </a:ext>
            </a:extLst>
          </p:cNvPr>
          <p:cNvSpPr txBox="1"/>
          <p:nvPr/>
        </p:nvSpPr>
        <p:spPr>
          <a:xfrm>
            <a:off x="4946326" y="4874441"/>
            <a:ext cx="256379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WMSE – 2.1210 | R2 -  0.8970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64569B5-37BC-41F7-8392-BC83ACA83D69}"/>
              </a:ext>
            </a:extLst>
          </p:cNvPr>
          <p:cNvSpPr txBox="1"/>
          <p:nvPr/>
        </p:nvSpPr>
        <p:spPr>
          <a:xfrm>
            <a:off x="4936801" y="5358241"/>
            <a:ext cx="256379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WMSE – 0.0984 | R2 -  0.9804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E4FFB1-76FE-4384-8E43-225C8695244F}"/>
              </a:ext>
            </a:extLst>
          </p:cNvPr>
          <p:cNvSpPr txBox="1"/>
          <p:nvPr/>
        </p:nvSpPr>
        <p:spPr>
          <a:xfrm>
            <a:off x="4936801" y="5842042"/>
            <a:ext cx="256379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WMSE – 0.9125 | R2 -  0.9308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58EA84C-D50B-4437-B309-B9BD81096C2B}"/>
              </a:ext>
            </a:extLst>
          </p:cNvPr>
          <p:cNvSpPr txBox="1"/>
          <p:nvPr/>
        </p:nvSpPr>
        <p:spPr>
          <a:xfrm>
            <a:off x="5128960" y="3778335"/>
            <a:ext cx="2179479" cy="3602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GB" sz="1300" dirty="0">
                <a:latin typeface="Abadi" panose="020F0502020204030204" pitchFamily="34" charset="0"/>
              </a:rPr>
              <a:t>2740 min (45.7 h)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B4858B7-0FFD-4A32-BFF9-CD4F06114DE6}"/>
              </a:ext>
            </a:extLst>
          </p:cNvPr>
          <p:cNvCxnSpPr>
            <a:cxnSpLocks/>
          </p:cNvCxnSpPr>
          <p:nvPr/>
        </p:nvCxnSpPr>
        <p:spPr>
          <a:xfrm flipH="1">
            <a:off x="4936953" y="872428"/>
            <a:ext cx="13010" cy="5364000"/>
          </a:xfrm>
          <a:prstGeom prst="line">
            <a:avLst/>
          </a:prstGeom>
          <a:ln w="12700">
            <a:solidFill>
              <a:srgbClr val="0071B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4C908D9A-1AC4-4667-9EAE-ED8E401486B9}"/>
              </a:ext>
            </a:extLst>
          </p:cNvPr>
          <p:cNvCxnSpPr>
            <a:cxnSpLocks/>
          </p:cNvCxnSpPr>
          <p:nvPr/>
        </p:nvCxnSpPr>
        <p:spPr>
          <a:xfrm flipH="1">
            <a:off x="7518559" y="872428"/>
            <a:ext cx="13010" cy="5364000"/>
          </a:xfrm>
          <a:prstGeom prst="line">
            <a:avLst/>
          </a:prstGeom>
          <a:ln w="12700">
            <a:solidFill>
              <a:srgbClr val="0071B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5235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2D16A-0200-EFA5-52F2-1B73D1A2B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1DCE820-4F16-9BFE-E154-9A86A04C32EA}"/>
              </a:ext>
            </a:extLst>
          </p:cNvPr>
          <p:cNvSpPr/>
          <p:nvPr/>
        </p:nvSpPr>
        <p:spPr>
          <a:xfrm>
            <a:off x="0" y="0"/>
            <a:ext cx="12192000" cy="664512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C76A76-3A17-C660-F3E0-39C7A6E121E1}"/>
              </a:ext>
            </a:extLst>
          </p:cNvPr>
          <p:cNvSpPr/>
          <p:nvPr/>
        </p:nvSpPr>
        <p:spPr>
          <a:xfrm>
            <a:off x="0" y="6449900"/>
            <a:ext cx="12192000" cy="408100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3DDC77A-EECC-5A80-5D44-0CEE7159C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077" y="6471387"/>
            <a:ext cx="2743200" cy="365125"/>
          </a:xfrm>
        </p:spPr>
        <p:txBody>
          <a:bodyPr/>
          <a:lstStyle/>
          <a:p>
            <a:fld id="{C45580C8-1F39-4488-AB14-6575A0DF9911}" type="slidenum">
              <a:rPr lang="en-GB" sz="180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8</a:t>
            </a:fld>
            <a:endParaRPr lang="en-GB" sz="1800" dirty="0">
              <a:solidFill>
                <a:schemeClr val="bg1"/>
              </a:solidFill>
              <a:latin typeface="Abadi" panose="020F0502020204030204" pitchFamily="34" charset="0"/>
              <a:ea typeface="+mj-ea"/>
              <a:cs typeface="+mj-cs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3FD9AD3-0923-322E-2C93-86324E8EE533}"/>
              </a:ext>
            </a:extLst>
          </p:cNvPr>
          <p:cNvSpPr txBox="1">
            <a:spLocks/>
          </p:cNvSpPr>
          <p:nvPr/>
        </p:nvSpPr>
        <p:spPr>
          <a:xfrm>
            <a:off x="127820" y="93338"/>
            <a:ext cx="5632899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09/2026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  <a:sym typeface="Symbol" panose="05050102010706020507" pitchFamily="18" charset="2"/>
              </a:rPr>
              <a:t>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Results Optuna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2BEBD5-7C39-7183-8FCA-0C584EC679DE}"/>
              </a:ext>
            </a:extLst>
          </p:cNvPr>
          <p:cNvSpPr txBox="1"/>
          <p:nvPr/>
        </p:nvSpPr>
        <p:spPr>
          <a:xfrm>
            <a:off x="0" y="6500060"/>
            <a:ext cx="522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bad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L. Gündersen</a:t>
            </a:r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0DDE6188-7CA9-3EA4-A568-C3D08AF41ABB}"/>
              </a:ext>
            </a:extLst>
          </p:cNvPr>
          <p:cNvSpPr txBox="1">
            <a:spLocks/>
          </p:cNvSpPr>
          <p:nvPr/>
        </p:nvSpPr>
        <p:spPr>
          <a:xfrm>
            <a:off x="7964852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Part I: Regularization and Selection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10D527C-4A68-E732-E1EE-E0219B98AB56}"/>
              </a:ext>
            </a:extLst>
          </p:cNvPr>
          <p:cNvSpPr txBox="1">
            <a:spLocks/>
          </p:cNvSpPr>
          <p:nvPr/>
        </p:nvSpPr>
        <p:spPr>
          <a:xfrm>
            <a:off x="462117" y="799139"/>
            <a:ext cx="9676494" cy="477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GB" sz="1800" dirty="0">
                <a:solidFill>
                  <a:srgbClr val="0071BA"/>
                </a:solidFill>
                <a:latin typeface="Abadi" panose="020F0502020204030204" pitchFamily="34" charset="0"/>
              </a:rPr>
              <a:t>Convergence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ECDEC1-B5BC-455D-ACCC-0BE4A5003089}"/>
              </a:ext>
            </a:extLst>
          </p:cNvPr>
          <p:cNvSpPr txBox="1"/>
          <p:nvPr/>
        </p:nvSpPr>
        <p:spPr>
          <a:xfrm>
            <a:off x="354458" y="4364191"/>
            <a:ext cx="2079966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2400" b="1" i="1" dirty="0">
                <a:solidFill>
                  <a:srgbClr val="0071BA"/>
                </a:solidFill>
                <a:latin typeface="Abadi" panose="020F0502020204030204" pitchFamily="34" charset="0"/>
              </a:rPr>
              <a:t>Empirical (k-fold)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F2C5F9-D7D3-B499-F78B-2BB70579077E}"/>
              </a:ext>
            </a:extLst>
          </p:cNvPr>
          <p:cNvSpPr txBox="1"/>
          <p:nvPr/>
        </p:nvSpPr>
        <p:spPr>
          <a:xfrm>
            <a:off x="3425096" y="1667231"/>
            <a:ext cx="284507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2400" b="1" i="1" dirty="0">
                <a:solidFill>
                  <a:srgbClr val="0071BA"/>
                </a:solidFill>
                <a:latin typeface="Abadi" panose="020F0502020204030204" pitchFamily="34" charset="0"/>
              </a:rPr>
              <a:t>Probabilistic (AICc)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E791C5-0759-0180-12C4-24B3416B2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18639" y="1056454"/>
            <a:ext cx="3264128" cy="16044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C0FC04-F5CA-9194-379B-79AD9F1ECC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46240" y="3296200"/>
            <a:ext cx="2646832" cy="13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7F577D-11A4-BD8E-87B4-8932D9387F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04763" y="3270044"/>
            <a:ext cx="2645940" cy="13005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F1E2E2-BEFE-BF2A-D291-CEEE04E519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96670" y="3269825"/>
            <a:ext cx="2646832" cy="13009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9ED1F8B-5447-04AE-A142-EF7EE5B370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07908" y="4889558"/>
            <a:ext cx="2646832" cy="13009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B48866-BA2A-ED98-5323-6B98A0528E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89130" y="4917853"/>
            <a:ext cx="2645940" cy="130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649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2D16A-0200-EFA5-52F2-1B73D1A2B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1DCE820-4F16-9BFE-E154-9A86A04C32EA}"/>
              </a:ext>
            </a:extLst>
          </p:cNvPr>
          <p:cNvSpPr/>
          <p:nvPr/>
        </p:nvSpPr>
        <p:spPr>
          <a:xfrm>
            <a:off x="0" y="0"/>
            <a:ext cx="12192000" cy="664512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C76A76-3A17-C660-F3E0-39C7A6E121E1}"/>
              </a:ext>
            </a:extLst>
          </p:cNvPr>
          <p:cNvSpPr/>
          <p:nvPr/>
        </p:nvSpPr>
        <p:spPr>
          <a:xfrm>
            <a:off x="0" y="6449900"/>
            <a:ext cx="12192000" cy="408100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3DDC77A-EECC-5A80-5D44-0CEE7159C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077" y="6471387"/>
            <a:ext cx="2743200" cy="365125"/>
          </a:xfrm>
        </p:spPr>
        <p:txBody>
          <a:bodyPr/>
          <a:lstStyle/>
          <a:p>
            <a:fld id="{C45580C8-1F39-4488-AB14-6575A0DF9911}" type="slidenum">
              <a:rPr lang="en-GB" sz="180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9</a:t>
            </a:fld>
            <a:endParaRPr lang="en-GB" sz="1800" dirty="0">
              <a:solidFill>
                <a:schemeClr val="bg1"/>
              </a:solidFill>
              <a:latin typeface="Abadi" panose="020F0502020204030204" pitchFamily="34" charset="0"/>
              <a:ea typeface="+mj-ea"/>
              <a:cs typeface="+mj-cs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3FD9AD3-0923-322E-2C93-86324E8EE533}"/>
              </a:ext>
            </a:extLst>
          </p:cNvPr>
          <p:cNvSpPr txBox="1">
            <a:spLocks/>
          </p:cNvSpPr>
          <p:nvPr/>
        </p:nvSpPr>
        <p:spPr>
          <a:xfrm>
            <a:off x="127820" y="93338"/>
            <a:ext cx="5632899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09/2026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  <a:sym typeface="Symbol" panose="05050102010706020507" pitchFamily="18" charset="2"/>
              </a:rPr>
              <a:t>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Results Optuna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2BEBD5-7C39-7183-8FCA-0C584EC679DE}"/>
              </a:ext>
            </a:extLst>
          </p:cNvPr>
          <p:cNvSpPr txBox="1"/>
          <p:nvPr/>
        </p:nvSpPr>
        <p:spPr>
          <a:xfrm>
            <a:off x="0" y="6500060"/>
            <a:ext cx="522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bad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L. Gündersen</a:t>
            </a:r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0DDE6188-7CA9-3EA4-A568-C3D08AF41ABB}"/>
              </a:ext>
            </a:extLst>
          </p:cNvPr>
          <p:cNvSpPr txBox="1">
            <a:spLocks/>
          </p:cNvSpPr>
          <p:nvPr/>
        </p:nvSpPr>
        <p:spPr>
          <a:xfrm>
            <a:off x="7964852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Part I: Regularization and Selection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10D527C-4A68-E732-E1EE-E0219B98AB56}"/>
              </a:ext>
            </a:extLst>
          </p:cNvPr>
          <p:cNvSpPr txBox="1">
            <a:spLocks/>
          </p:cNvSpPr>
          <p:nvPr/>
        </p:nvSpPr>
        <p:spPr>
          <a:xfrm>
            <a:off x="462117" y="799139"/>
            <a:ext cx="9676494" cy="477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GB" sz="1800" dirty="0">
                <a:solidFill>
                  <a:srgbClr val="0071BA"/>
                </a:solidFill>
                <a:latin typeface="Abadi" panose="020F0502020204030204" pitchFamily="34" charset="0"/>
              </a:rPr>
              <a:t>Convergence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ECDEC1-B5BC-455D-ACCC-0BE4A5003089}"/>
              </a:ext>
            </a:extLst>
          </p:cNvPr>
          <p:cNvSpPr txBox="1"/>
          <p:nvPr/>
        </p:nvSpPr>
        <p:spPr>
          <a:xfrm>
            <a:off x="9630370" y="1411603"/>
            <a:ext cx="2361969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2400" b="1" i="1" dirty="0">
                <a:solidFill>
                  <a:srgbClr val="0071BA"/>
                </a:solidFill>
                <a:latin typeface="Abadi" panose="020F0502020204030204" pitchFamily="34" charset="0"/>
              </a:rPr>
              <a:t>Empirical (LOOCV)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1552272-A19B-47E4-BE78-2E2F7214B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902" y="4887419"/>
            <a:ext cx="2328365" cy="11444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032317E-373F-4798-8B24-EE17608E6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41055" y="4887612"/>
            <a:ext cx="2327580" cy="114406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6CEEA3A-5463-4DA7-8449-5D3750ED42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4423" y="4887419"/>
            <a:ext cx="2328365" cy="114445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18CAE13-4A51-4F23-BCA0-8222811491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88576" y="4887419"/>
            <a:ext cx="2328365" cy="114445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DC2F076-7682-4666-BC24-DFCBE4A0BD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12727" y="4887419"/>
            <a:ext cx="2328365" cy="114445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0AF807C-683A-4F61-A168-6DDBA382B6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185" y="3213270"/>
            <a:ext cx="2328365" cy="114445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CAA896A-86E3-4C27-BFD7-E0AD52574ED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78338" y="3213463"/>
            <a:ext cx="2327580" cy="114406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F0A390B-424F-4C6E-926B-40D936A123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01706" y="3213270"/>
            <a:ext cx="2328365" cy="114445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44017EF-3F66-47AD-99B5-CAAD81FA158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25859" y="3213270"/>
            <a:ext cx="2328365" cy="114445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192C30CB-B5A0-43CC-92BA-FDCFA6A2B3D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50010" y="3213270"/>
            <a:ext cx="2328365" cy="114445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9843EC76-31F9-402F-801D-0CFACC4107C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7820" y="1533377"/>
            <a:ext cx="2327580" cy="114406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EC6B5AA-6DB7-4788-9825-BD1177927EE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51188" y="1533184"/>
            <a:ext cx="2328365" cy="114445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BFED9C1-36DB-41F2-A958-94C25E4FA7E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75341" y="1533184"/>
            <a:ext cx="2328365" cy="114445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9D6E4F0A-8260-40B5-961A-A9593E8C589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99492" y="1533184"/>
            <a:ext cx="2328365" cy="114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629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C87B5-F80E-6882-CE76-E71B699E8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C365CD-66D7-1247-6047-8D186B120AC1}"/>
              </a:ext>
            </a:extLst>
          </p:cNvPr>
          <p:cNvSpPr/>
          <p:nvPr/>
        </p:nvSpPr>
        <p:spPr>
          <a:xfrm>
            <a:off x="0" y="0"/>
            <a:ext cx="12192000" cy="664512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C66E64-741E-64FF-ACD9-B0349D084E72}"/>
              </a:ext>
            </a:extLst>
          </p:cNvPr>
          <p:cNvSpPr/>
          <p:nvPr/>
        </p:nvSpPr>
        <p:spPr>
          <a:xfrm>
            <a:off x="0" y="6449900"/>
            <a:ext cx="12192000" cy="408100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4C903FD-567D-FCC0-5D42-565A76BD0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077" y="6471387"/>
            <a:ext cx="2743200" cy="365125"/>
          </a:xfrm>
        </p:spPr>
        <p:txBody>
          <a:bodyPr/>
          <a:lstStyle/>
          <a:p>
            <a:fld id="{C45580C8-1F39-4488-AB14-6575A0DF9911}" type="slidenum">
              <a:rPr lang="en-GB" sz="180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10</a:t>
            </a:fld>
            <a:endParaRPr lang="en-GB" sz="1800" dirty="0">
              <a:solidFill>
                <a:schemeClr val="bg1"/>
              </a:solidFill>
              <a:latin typeface="Abadi" panose="020F0502020204030204" pitchFamily="34" charset="0"/>
              <a:ea typeface="+mj-ea"/>
              <a:cs typeface="+mj-cs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F098379-7F75-8B87-C368-74157C3CE0F3}"/>
              </a:ext>
            </a:extLst>
          </p:cNvPr>
          <p:cNvSpPr txBox="1">
            <a:spLocks/>
          </p:cNvSpPr>
          <p:nvPr/>
        </p:nvSpPr>
        <p:spPr>
          <a:xfrm>
            <a:off x="127820" y="93338"/>
            <a:ext cx="5632899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09/2026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  <a:sym typeface="Symbol" panose="05050102010706020507" pitchFamily="18" charset="2"/>
              </a:rPr>
              <a:t>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Results Optuna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7747260-0429-DE8C-BC43-3D55F7740AAE}"/>
              </a:ext>
            </a:extLst>
          </p:cNvPr>
          <p:cNvSpPr txBox="1"/>
          <p:nvPr/>
        </p:nvSpPr>
        <p:spPr>
          <a:xfrm>
            <a:off x="0" y="6500060"/>
            <a:ext cx="522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bad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L. Gündersen</a:t>
            </a:r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ECD026FA-1023-07AB-09A6-1FC727956C87}"/>
              </a:ext>
            </a:extLst>
          </p:cNvPr>
          <p:cNvSpPr txBox="1">
            <a:spLocks/>
          </p:cNvSpPr>
          <p:nvPr/>
        </p:nvSpPr>
        <p:spPr>
          <a:xfrm>
            <a:off x="7964852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Part I: Regularization and Selection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449E14F-64D2-ECA4-220D-1F03B363CAC6}"/>
              </a:ext>
            </a:extLst>
          </p:cNvPr>
          <p:cNvSpPr txBox="1">
            <a:spLocks/>
          </p:cNvSpPr>
          <p:nvPr/>
        </p:nvSpPr>
        <p:spPr>
          <a:xfrm>
            <a:off x="462117" y="799139"/>
            <a:ext cx="9676494" cy="477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GB" sz="1800" dirty="0">
                <a:solidFill>
                  <a:srgbClr val="0071BA"/>
                </a:solidFill>
                <a:latin typeface="Abadi" panose="020F0502020204030204" pitchFamily="34" charset="0"/>
              </a:rPr>
              <a:t>Parity Plots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75660C-5732-843D-D53C-252849E758B7}"/>
              </a:ext>
            </a:extLst>
          </p:cNvPr>
          <p:cNvSpPr txBox="1"/>
          <p:nvPr/>
        </p:nvSpPr>
        <p:spPr>
          <a:xfrm>
            <a:off x="4458358" y="1378453"/>
            <a:ext cx="341506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2400" b="1" i="1" dirty="0">
                <a:solidFill>
                  <a:srgbClr val="0071BA"/>
                </a:solidFill>
                <a:latin typeface="Abadi" panose="020F0502020204030204" pitchFamily="34" charset="0"/>
              </a:rPr>
              <a:t>Empirical (k-fold)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ADC7DB-C55E-E850-39DC-BEE0A7C931F1}"/>
              </a:ext>
            </a:extLst>
          </p:cNvPr>
          <p:cNvSpPr txBox="1"/>
          <p:nvPr/>
        </p:nvSpPr>
        <p:spPr>
          <a:xfrm>
            <a:off x="496369" y="1378453"/>
            <a:ext cx="341506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2400" b="1" i="1" dirty="0">
                <a:solidFill>
                  <a:srgbClr val="0071BA"/>
                </a:solidFill>
                <a:latin typeface="Abadi" panose="020F0502020204030204" pitchFamily="34" charset="0"/>
              </a:rPr>
              <a:t>Probabilistic (AICc)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2CB7AE9-4B73-FF04-1F72-9CA65E37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5572" y="2173973"/>
            <a:ext cx="3780634" cy="335961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C39CFC2-82C7-FD81-A08C-70FE7511B7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3583" y="2173973"/>
            <a:ext cx="3780634" cy="33596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E17020B-6FC8-4C66-809F-4164856000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37562" y="2173973"/>
            <a:ext cx="3780634" cy="33596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E09EC4B-B33F-42DE-8725-38358D2CA709}"/>
              </a:ext>
            </a:extLst>
          </p:cNvPr>
          <p:cNvSpPr txBox="1"/>
          <p:nvPr/>
        </p:nvSpPr>
        <p:spPr>
          <a:xfrm>
            <a:off x="8420348" y="1378453"/>
            <a:ext cx="341506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2400" b="1" i="1" dirty="0">
                <a:solidFill>
                  <a:srgbClr val="0071BA"/>
                </a:solidFill>
                <a:latin typeface="Abadi" panose="020F0502020204030204" pitchFamily="34" charset="0"/>
              </a:rPr>
              <a:t>Empirical (LOOCV)</a:t>
            </a:r>
          </a:p>
        </p:txBody>
      </p:sp>
    </p:spTree>
    <p:extLst>
      <p:ext uri="{BB962C8B-B14F-4D97-AF65-F5344CB8AC3E}">
        <p14:creationId xmlns:p14="http://schemas.microsoft.com/office/powerpoint/2010/main" val="2593580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8C675-D516-0E7A-660A-47BB740B6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9DC7DB-1F01-2316-988E-5352BF76E87D}"/>
              </a:ext>
            </a:extLst>
          </p:cNvPr>
          <p:cNvSpPr/>
          <p:nvPr/>
        </p:nvSpPr>
        <p:spPr>
          <a:xfrm>
            <a:off x="0" y="0"/>
            <a:ext cx="12192000" cy="664512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0E2487-9E3E-CB8B-FE5C-7E20A5DF5BFA}"/>
              </a:ext>
            </a:extLst>
          </p:cNvPr>
          <p:cNvSpPr/>
          <p:nvPr/>
        </p:nvSpPr>
        <p:spPr>
          <a:xfrm>
            <a:off x="0" y="6449900"/>
            <a:ext cx="12192000" cy="408100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8EE8CF9-033E-2624-2E57-584A8A63B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077" y="6471387"/>
            <a:ext cx="2743200" cy="365125"/>
          </a:xfrm>
        </p:spPr>
        <p:txBody>
          <a:bodyPr/>
          <a:lstStyle/>
          <a:p>
            <a:fld id="{C45580C8-1F39-4488-AB14-6575A0DF9911}" type="slidenum">
              <a:rPr lang="en-GB" sz="180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11</a:t>
            </a:fld>
            <a:endParaRPr lang="en-GB" sz="1800" dirty="0">
              <a:solidFill>
                <a:schemeClr val="bg1"/>
              </a:solidFill>
              <a:latin typeface="Abadi" panose="020F0502020204030204" pitchFamily="34" charset="0"/>
              <a:ea typeface="+mj-ea"/>
              <a:cs typeface="+mj-cs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8893C68-ACE4-FF3C-A8C8-D7B847DAF8FE}"/>
              </a:ext>
            </a:extLst>
          </p:cNvPr>
          <p:cNvSpPr txBox="1">
            <a:spLocks/>
          </p:cNvSpPr>
          <p:nvPr/>
        </p:nvSpPr>
        <p:spPr>
          <a:xfrm>
            <a:off x="127820" y="93338"/>
            <a:ext cx="5632899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09/2026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  <a:sym typeface="Symbol" panose="05050102010706020507" pitchFamily="18" charset="2"/>
              </a:rPr>
              <a:t>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Results Optuna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3F5675D-5809-40C0-97DD-F16C026AF7E5}"/>
              </a:ext>
            </a:extLst>
          </p:cNvPr>
          <p:cNvSpPr txBox="1"/>
          <p:nvPr/>
        </p:nvSpPr>
        <p:spPr>
          <a:xfrm>
            <a:off x="0" y="6500060"/>
            <a:ext cx="522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bad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L. Gündersen</a:t>
            </a:r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C109C6F5-E80A-67BB-C6E4-BD0C9C0568A5}"/>
              </a:ext>
            </a:extLst>
          </p:cNvPr>
          <p:cNvSpPr txBox="1">
            <a:spLocks/>
          </p:cNvSpPr>
          <p:nvPr/>
        </p:nvSpPr>
        <p:spPr>
          <a:xfrm>
            <a:off x="7964852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Part I: Regularization and Selection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F3D8BA9-2CF9-70CE-8A91-5E7AD5777D5B}"/>
              </a:ext>
            </a:extLst>
          </p:cNvPr>
          <p:cNvSpPr txBox="1">
            <a:spLocks/>
          </p:cNvSpPr>
          <p:nvPr/>
        </p:nvSpPr>
        <p:spPr>
          <a:xfrm>
            <a:off x="462117" y="799139"/>
            <a:ext cx="9676494" cy="477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GB" sz="1800" dirty="0">
                <a:solidFill>
                  <a:srgbClr val="0071BA"/>
                </a:solidFill>
                <a:latin typeface="Abadi" panose="020F0502020204030204" pitchFamily="34" charset="0"/>
              </a:rPr>
              <a:t>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B4A0AF-CB69-FE8F-B8EF-B5DAFB70A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94373" y="1635695"/>
            <a:ext cx="3800652" cy="17933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7B1CAD-D96A-986B-2FB5-54B81DAB1D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98410" y="3534551"/>
            <a:ext cx="1995177" cy="11769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A64259-DAA1-A9DF-B205-4C76A908B0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98736" y="5086711"/>
            <a:ext cx="1994523" cy="10851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07072A-AB7B-EBB3-87EE-AF0352D4E4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1509" y="1699536"/>
            <a:ext cx="3667685" cy="13158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E9C3B9-6950-1971-3300-BC7B58C801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01101" y="3514717"/>
            <a:ext cx="1865813" cy="11176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387F774-E3DA-B661-1123-A05913DEFD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3872" y="5093766"/>
            <a:ext cx="2040273" cy="11105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BF6872B-A694-4E6D-A71D-1D237CBDA287}"/>
              </a:ext>
            </a:extLst>
          </p:cNvPr>
          <p:cNvSpPr txBox="1"/>
          <p:nvPr/>
        </p:nvSpPr>
        <p:spPr>
          <a:xfrm>
            <a:off x="4388468" y="1187821"/>
            <a:ext cx="341506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2400" b="1" i="1" dirty="0">
                <a:solidFill>
                  <a:srgbClr val="0071BA"/>
                </a:solidFill>
                <a:latin typeface="Abadi" panose="020F0502020204030204" pitchFamily="34" charset="0"/>
              </a:rPr>
              <a:t>Empirical (k-fold)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256433-7D07-45FA-BF3E-345D09118CF4}"/>
              </a:ext>
            </a:extLst>
          </p:cNvPr>
          <p:cNvSpPr txBox="1"/>
          <p:nvPr/>
        </p:nvSpPr>
        <p:spPr>
          <a:xfrm>
            <a:off x="426479" y="1187821"/>
            <a:ext cx="341506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2400" b="1" i="1" dirty="0">
                <a:solidFill>
                  <a:srgbClr val="0071BA"/>
                </a:solidFill>
                <a:latin typeface="Abadi" panose="020F0502020204030204" pitchFamily="34" charset="0"/>
              </a:rPr>
              <a:t>Probabilistic (AICc)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963234-B6A8-4E90-97B7-F3DE57E8E8AA}"/>
              </a:ext>
            </a:extLst>
          </p:cNvPr>
          <p:cNvSpPr txBox="1"/>
          <p:nvPr/>
        </p:nvSpPr>
        <p:spPr>
          <a:xfrm>
            <a:off x="8350458" y="1187821"/>
            <a:ext cx="341506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2400" b="1" i="1" dirty="0">
                <a:solidFill>
                  <a:srgbClr val="0071BA"/>
                </a:solidFill>
                <a:latin typeface="Abadi" panose="020F0502020204030204" pitchFamily="34" charset="0"/>
              </a:rPr>
              <a:t>Empirical (LOOCV)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02DDE80-20E4-4686-A8F3-D778B7E695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0815" y="1624610"/>
            <a:ext cx="2489273" cy="184993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95BB61B-CAC6-4FC8-8BC4-5804DE7E4F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30143" y="3599547"/>
            <a:ext cx="1995177" cy="119408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F0FEA14-9AE9-4BF8-B77D-974D89B761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30469" y="5160298"/>
            <a:ext cx="1994523" cy="108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073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F16A2-BA1E-E7B5-B581-6A1B07D17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B755D13-994B-69BD-2A50-582D62F367FD}"/>
              </a:ext>
            </a:extLst>
          </p:cNvPr>
          <p:cNvSpPr/>
          <p:nvPr/>
        </p:nvSpPr>
        <p:spPr>
          <a:xfrm>
            <a:off x="0" y="0"/>
            <a:ext cx="12192000" cy="664512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E170E2-283C-0ADA-18FD-F6A7FD1D124D}"/>
              </a:ext>
            </a:extLst>
          </p:cNvPr>
          <p:cNvSpPr/>
          <p:nvPr/>
        </p:nvSpPr>
        <p:spPr>
          <a:xfrm>
            <a:off x="0" y="6449900"/>
            <a:ext cx="12192000" cy="408100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A2DB638-B340-AA60-576E-25EF74CE0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077" y="6471387"/>
            <a:ext cx="2743200" cy="365125"/>
          </a:xfrm>
        </p:spPr>
        <p:txBody>
          <a:bodyPr/>
          <a:lstStyle/>
          <a:p>
            <a:fld id="{C45580C8-1F39-4488-AB14-6575A0DF9911}" type="slidenum">
              <a:rPr lang="en-GB" sz="180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12</a:t>
            </a:fld>
            <a:endParaRPr lang="en-GB" sz="1800" dirty="0">
              <a:solidFill>
                <a:schemeClr val="bg1"/>
              </a:solidFill>
              <a:latin typeface="Abadi" panose="020F0502020204030204" pitchFamily="34" charset="0"/>
              <a:ea typeface="+mj-ea"/>
              <a:cs typeface="+mj-cs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E98A12E-54C2-2F62-CB70-2A4A81144A79}"/>
              </a:ext>
            </a:extLst>
          </p:cNvPr>
          <p:cNvSpPr txBox="1">
            <a:spLocks/>
          </p:cNvSpPr>
          <p:nvPr/>
        </p:nvSpPr>
        <p:spPr>
          <a:xfrm>
            <a:off x="127820" y="93338"/>
            <a:ext cx="5632899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09/2026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  <a:sym typeface="Symbol" panose="05050102010706020507" pitchFamily="18" charset="2"/>
              </a:rPr>
              <a:t>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Results Optuna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665160-210A-16CA-40E9-7B393CF98590}"/>
              </a:ext>
            </a:extLst>
          </p:cNvPr>
          <p:cNvSpPr txBox="1"/>
          <p:nvPr/>
        </p:nvSpPr>
        <p:spPr>
          <a:xfrm>
            <a:off x="0" y="6500060"/>
            <a:ext cx="522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bad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L. Gündersen</a:t>
            </a:r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9EFFC07B-2F38-D411-21FF-36B834785ABC}"/>
              </a:ext>
            </a:extLst>
          </p:cNvPr>
          <p:cNvSpPr txBox="1">
            <a:spLocks/>
          </p:cNvSpPr>
          <p:nvPr/>
        </p:nvSpPr>
        <p:spPr>
          <a:xfrm>
            <a:off x="7964852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Part I: Regularization and Selection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CA8AEB4-0754-8828-B089-AEF3F3110677}"/>
              </a:ext>
            </a:extLst>
          </p:cNvPr>
          <p:cNvSpPr txBox="1">
            <a:spLocks/>
          </p:cNvSpPr>
          <p:nvPr/>
        </p:nvSpPr>
        <p:spPr>
          <a:xfrm>
            <a:off x="462117" y="799139"/>
            <a:ext cx="9676494" cy="477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GB" sz="1800" dirty="0">
                <a:solidFill>
                  <a:srgbClr val="0071BA"/>
                </a:solidFill>
                <a:latin typeface="Abadi" panose="020F0502020204030204" pitchFamily="34" charset="0"/>
              </a:rPr>
              <a:t>All batches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C90265-E29F-36DC-9377-A8F570A6D6BE}"/>
              </a:ext>
            </a:extLst>
          </p:cNvPr>
          <p:cNvSpPr txBox="1"/>
          <p:nvPr/>
        </p:nvSpPr>
        <p:spPr>
          <a:xfrm>
            <a:off x="7964852" y="836798"/>
            <a:ext cx="341506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2400" b="1" i="1" dirty="0">
                <a:solidFill>
                  <a:srgbClr val="0071BA"/>
                </a:solidFill>
                <a:latin typeface="Abadi" panose="020F0502020204030204" pitchFamily="34" charset="0"/>
              </a:rPr>
              <a:t>Probabilistic (AICc)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A59501-31AA-746A-966D-CEAF0CCC6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117" y="1372731"/>
            <a:ext cx="2183488" cy="14644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44E9A0-DFC9-AD29-7FF0-2EF55B96E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7316" y="1372731"/>
            <a:ext cx="2183488" cy="14644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9EACD69-20BB-851F-3776-6E67F0CF52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2515" y="1372731"/>
            <a:ext cx="2183488" cy="146441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F3A45E2-6ECE-9B82-F27C-E74B366D83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27714" y="1372731"/>
            <a:ext cx="2183488" cy="146441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353766E-9D00-AC60-BE2E-3AF37C5204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82913" y="1369471"/>
            <a:ext cx="2183488" cy="146441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1BF941F-E85A-EBD9-DB3B-3BF020B165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115" y="3045243"/>
            <a:ext cx="2183488" cy="146441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F457D73-CA37-CFB7-73C8-943661C64B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7315" y="3045243"/>
            <a:ext cx="2183488" cy="146441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126BD62-221A-ECF1-AD9F-1A8C9806BF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2515" y="3045243"/>
            <a:ext cx="2183488" cy="146441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647FEDF-0481-22E4-593E-2B99C458FCD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27715" y="3045243"/>
            <a:ext cx="2183488" cy="146441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E53B309-314F-B1AB-62DF-D682CC76554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82913" y="3045243"/>
            <a:ext cx="2183488" cy="146441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7C98E4F-5FC0-3256-F7C9-3E74575CDFE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116" y="4660884"/>
            <a:ext cx="2183488" cy="146441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B79EBF5-F5AA-4CD2-42A6-46F84AFFC94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90712" y="4660884"/>
            <a:ext cx="2183488" cy="146441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DDB8477-2F58-FFB4-10FA-AD2C0FE6396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19308" y="4660884"/>
            <a:ext cx="2183488" cy="146441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CFB8991-592B-AAB5-1C25-B6AF7299F47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47904" y="4660884"/>
            <a:ext cx="2183488" cy="146441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82CB2AB3-77DD-F8BA-D343-02C371E80BD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76501" y="4597495"/>
            <a:ext cx="2278002" cy="152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856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FE7D4-F4B5-FE97-8FE2-C9600FDD2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C64061E-CAEC-FAFE-A18A-47EC03F05E5E}"/>
              </a:ext>
            </a:extLst>
          </p:cNvPr>
          <p:cNvSpPr/>
          <p:nvPr/>
        </p:nvSpPr>
        <p:spPr>
          <a:xfrm>
            <a:off x="0" y="0"/>
            <a:ext cx="12192000" cy="664512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51164A-80C1-E08E-11BF-051FD013BA24}"/>
              </a:ext>
            </a:extLst>
          </p:cNvPr>
          <p:cNvSpPr/>
          <p:nvPr/>
        </p:nvSpPr>
        <p:spPr>
          <a:xfrm>
            <a:off x="0" y="6449900"/>
            <a:ext cx="12192000" cy="408100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8393D0-F4E3-796B-C95F-3A97A2C7E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077" y="6471387"/>
            <a:ext cx="2743200" cy="365125"/>
          </a:xfrm>
        </p:spPr>
        <p:txBody>
          <a:bodyPr/>
          <a:lstStyle/>
          <a:p>
            <a:fld id="{C45580C8-1F39-4488-AB14-6575A0DF9911}" type="slidenum">
              <a:rPr lang="en-GB" sz="180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13</a:t>
            </a:fld>
            <a:endParaRPr lang="en-GB" sz="1800" dirty="0">
              <a:solidFill>
                <a:schemeClr val="bg1"/>
              </a:solidFill>
              <a:latin typeface="Abadi" panose="020F0502020204030204" pitchFamily="34" charset="0"/>
              <a:ea typeface="+mj-ea"/>
              <a:cs typeface="+mj-cs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AB8E747-358E-4A19-A0BE-CBC32A191C8C}"/>
              </a:ext>
            </a:extLst>
          </p:cNvPr>
          <p:cNvSpPr txBox="1">
            <a:spLocks/>
          </p:cNvSpPr>
          <p:nvPr/>
        </p:nvSpPr>
        <p:spPr>
          <a:xfrm>
            <a:off x="127820" y="93338"/>
            <a:ext cx="5632899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09/2026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  <a:sym typeface="Symbol" panose="05050102010706020507" pitchFamily="18" charset="2"/>
              </a:rPr>
              <a:t>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Results Optuna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70C094F-2DD7-3919-2D90-C932FFE820FF}"/>
              </a:ext>
            </a:extLst>
          </p:cNvPr>
          <p:cNvSpPr txBox="1"/>
          <p:nvPr/>
        </p:nvSpPr>
        <p:spPr>
          <a:xfrm>
            <a:off x="0" y="6500060"/>
            <a:ext cx="522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bad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L. Gündersen</a:t>
            </a:r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571D8372-A8B3-B19F-518C-0B559FE51BA1}"/>
              </a:ext>
            </a:extLst>
          </p:cNvPr>
          <p:cNvSpPr txBox="1">
            <a:spLocks/>
          </p:cNvSpPr>
          <p:nvPr/>
        </p:nvSpPr>
        <p:spPr>
          <a:xfrm>
            <a:off x="7964852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Part I: Regularization and Selection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62389F2-1753-8BFA-8A95-61BDB9723BB6}"/>
              </a:ext>
            </a:extLst>
          </p:cNvPr>
          <p:cNvSpPr txBox="1">
            <a:spLocks/>
          </p:cNvSpPr>
          <p:nvPr/>
        </p:nvSpPr>
        <p:spPr>
          <a:xfrm>
            <a:off x="462117" y="799139"/>
            <a:ext cx="9676494" cy="477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GB" sz="1800" dirty="0">
                <a:solidFill>
                  <a:srgbClr val="0071BA"/>
                </a:solidFill>
                <a:latin typeface="Abadi" panose="020F0502020204030204" pitchFamily="34" charset="0"/>
              </a:rPr>
              <a:t>All batches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71A030-99B2-9CC6-AA34-4010FD4BF702}"/>
              </a:ext>
            </a:extLst>
          </p:cNvPr>
          <p:cNvSpPr txBox="1"/>
          <p:nvPr/>
        </p:nvSpPr>
        <p:spPr>
          <a:xfrm>
            <a:off x="7964852" y="836798"/>
            <a:ext cx="341506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2400" b="1" i="1" dirty="0">
                <a:solidFill>
                  <a:srgbClr val="0071BA"/>
                </a:solidFill>
                <a:latin typeface="Abadi" panose="020F0502020204030204" pitchFamily="34" charset="0"/>
              </a:rPr>
              <a:t>Empirical (k-fold)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BC7EAF-7AD5-922C-9481-D3EB46D83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326" y="1372871"/>
            <a:ext cx="2183070" cy="14641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11570A-0914-D964-432B-7E72A3F6EF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9363" y="1374103"/>
            <a:ext cx="2179393" cy="146167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5E6164A-95CC-CD08-51C6-F4C3FA329D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4562" y="1374103"/>
            <a:ext cx="2179393" cy="146167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900E2D7-2F23-0029-BA27-E56A78CCFD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27923" y="1372871"/>
            <a:ext cx="2183070" cy="146413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E3B9DB4-2EB9-3D9D-F7B0-704095C6C8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83122" y="1369611"/>
            <a:ext cx="2183070" cy="146413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7BA244A-74EA-EA2F-D60D-F5E6A88977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324" y="3045383"/>
            <a:ext cx="2183070" cy="146413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F33555D-E30B-97F2-7985-7A4F2F6F6D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9362" y="3046615"/>
            <a:ext cx="2179393" cy="146167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F01F1F-8481-1838-BB90-9A3ECEE2AB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4562" y="3046615"/>
            <a:ext cx="2179393" cy="146167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EA83024-BE97-2A3C-476A-5F1F045A56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27924" y="3045383"/>
            <a:ext cx="2183070" cy="146413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86E9455-D1DF-A29E-2F4E-DD3B4FEA5CC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83122" y="3045383"/>
            <a:ext cx="2183070" cy="146413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000F6DC-3D30-3796-A166-AE7BDCF4F30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325" y="4661024"/>
            <a:ext cx="2183070" cy="146413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88C901A-5F94-D357-689C-4D58AEAD3F9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92759" y="4662256"/>
            <a:ext cx="2179393" cy="146167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B7764E1-27F1-3C93-87C5-351BC99538D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21355" y="4662256"/>
            <a:ext cx="2179393" cy="146167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04A5337-A493-E07F-537D-6A6C4C721ED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48113" y="4661024"/>
            <a:ext cx="2183070" cy="146413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727DE56-C2C6-C315-B8DB-633F5BDBB6C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76575" y="4597545"/>
            <a:ext cx="2277853" cy="152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719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FE7D4-F4B5-FE97-8FE2-C9600FDD2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C64061E-CAEC-FAFE-A18A-47EC03F05E5E}"/>
              </a:ext>
            </a:extLst>
          </p:cNvPr>
          <p:cNvSpPr/>
          <p:nvPr/>
        </p:nvSpPr>
        <p:spPr>
          <a:xfrm>
            <a:off x="0" y="0"/>
            <a:ext cx="12192000" cy="664512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51164A-80C1-E08E-11BF-051FD013BA24}"/>
              </a:ext>
            </a:extLst>
          </p:cNvPr>
          <p:cNvSpPr/>
          <p:nvPr/>
        </p:nvSpPr>
        <p:spPr>
          <a:xfrm>
            <a:off x="0" y="6449900"/>
            <a:ext cx="12192000" cy="408100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8393D0-F4E3-796B-C95F-3A97A2C7E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077" y="6471387"/>
            <a:ext cx="2743200" cy="365125"/>
          </a:xfrm>
        </p:spPr>
        <p:txBody>
          <a:bodyPr/>
          <a:lstStyle/>
          <a:p>
            <a:fld id="{C45580C8-1F39-4488-AB14-6575A0DF9911}" type="slidenum">
              <a:rPr lang="en-GB" sz="180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14</a:t>
            </a:fld>
            <a:endParaRPr lang="en-GB" sz="1800" dirty="0">
              <a:solidFill>
                <a:schemeClr val="bg1"/>
              </a:solidFill>
              <a:latin typeface="Abadi" panose="020F0502020204030204" pitchFamily="34" charset="0"/>
              <a:ea typeface="+mj-ea"/>
              <a:cs typeface="+mj-cs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AB8E747-358E-4A19-A0BE-CBC32A191C8C}"/>
              </a:ext>
            </a:extLst>
          </p:cNvPr>
          <p:cNvSpPr txBox="1">
            <a:spLocks/>
          </p:cNvSpPr>
          <p:nvPr/>
        </p:nvSpPr>
        <p:spPr>
          <a:xfrm>
            <a:off x="127820" y="93338"/>
            <a:ext cx="5632899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09/2026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  <a:sym typeface="Symbol" panose="05050102010706020507" pitchFamily="18" charset="2"/>
              </a:rPr>
              <a:t>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Results Optuna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70C094F-2DD7-3919-2D90-C932FFE820FF}"/>
              </a:ext>
            </a:extLst>
          </p:cNvPr>
          <p:cNvSpPr txBox="1"/>
          <p:nvPr/>
        </p:nvSpPr>
        <p:spPr>
          <a:xfrm>
            <a:off x="0" y="6500060"/>
            <a:ext cx="522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bad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L. Gündersen</a:t>
            </a:r>
          </a:p>
        </p:txBody>
      </p:sp>
      <p:sp>
        <p:nvSpPr>
          <p:cNvPr id="55" name="Title 1">
            <a:extLst>
              <a:ext uri="{FF2B5EF4-FFF2-40B4-BE49-F238E27FC236}">
                <a16:creationId xmlns:a16="http://schemas.microsoft.com/office/drawing/2014/main" id="{571D8372-A8B3-B19F-518C-0B559FE51BA1}"/>
              </a:ext>
            </a:extLst>
          </p:cNvPr>
          <p:cNvSpPr txBox="1">
            <a:spLocks/>
          </p:cNvSpPr>
          <p:nvPr/>
        </p:nvSpPr>
        <p:spPr>
          <a:xfrm>
            <a:off x="7964852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Part I: Regularization and Selection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62389F2-1753-8BFA-8A95-61BDB9723BB6}"/>
              </a:ext>
            </a:extLst>
          </p:cNvPr>
          <p:cNvSpPr txBox="1">
            <a:spLocks/>
          </p:cNvSpPr>
          <p:nvPr/>
        </p:nvSpPr>
        <p:spPr>
          <a:xfrm>
            <a:off x="462117" y="799139"/>
            <a:ext cx="9676494" cy="477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GB" sz="1800" dirty="0">
                <a:solidFill>
                  <a:srgbClr val="0071BA"/>
                </a:solidFill>
                <a:latin typeface="Abadi" panose="020F0502020204030204" pitchFamily="34" charset="0"/>
              </a:rPr>
              <a:t>All batches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71A030-99B2-9CC6-AA34-4010FD4BF702}"/>
              </a:ext>
            </a:extLst>
          </p:cNvPr>
          <p:cNvSpPr txBox="1"/>
          <p:nvPr/>
        </p:nvSpPr>
        <p:spPr>
          <a:xfrm>
            <a:off x="7964852" y="836798"/>
            <a:ext cx="341506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2400" b="1" i="1" dirty="0">
                <a:solidFill>
                  <a:srgbClr val="0071BA"/>
                </a:solidFill>
                <a:latin typeface="Abadi" panose="020F0502020204030204" pitchFamily="34" charset="0"/>
              </a:rPr>
              <a:t>Empirical (LOOCV)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BC7EAF-7AD5-922C-9481-D3EB46D83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326" y="1372871"/>
            <a:ext cx="2183070" cy="14641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11570A-0914-D964-432B-7E72A3F6EF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9363" y="1374103"/>
            <a:ext cx="2179393" cy="146167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5E6164A-95CC-CD08-51C6-F4C3FA329D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4562" y="1374103"/>
            <a:ext cx="2179393" cy="146167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900E2D7-2F23-0029-BA27-E56A78CCFD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27923" y="1372871"/>
            <a:ext cx="2183070" cy="146413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E3B9DB4-2EB9-3D9D-F7B0-704095C6C8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83122" y="1369611"/>
            <a:ext cx="2183070" cy="146413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7BA244A-74EA-EA2F-D60D-F5E6A88977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324" y="3045383"/>
            <a:ext cx="2183070" cy="146413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F33555D-E30B-97F2-7985-7A4F2F6F6D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9362" y="3046615"/>
            <a:ext cx="2179393" cy="146167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F01F1F-8481-1838-BB90-9A3ECEE2AB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4562" y="3046615"/>
            <a:ext cx="2179393" cy="146167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EA83024-BE97-2A3C-476A-5F1F045A56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27924" y="3045383"/>
            <a:ext cx="2183070" cy="146413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86E9455-D1DF-A29E-2F4E-DD3B4FEA5CC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83122" y="3045383"/>
            <a:ext cx="2183070" cy="146413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000F6DC-3D30-3796-A166-AE7BDCF4F30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325" y="4661024"/>
            <a:ext cx="2183070" cy="146413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88C901A-5F94-D357-689C-4D58AEAD3F9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92759" y="4662256"/>
            <a:ext cx="2179393" cy="146167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B7764E1-27F1-3C93-87C5-351BC99538D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21355" y="4662256"/>
            <a:ext cx="2179393" cy="146167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04A5337-A493-E07F-537D-6A6C4C721ED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48113" y="4661024"/>
            <a:ext cx="2183070" cy="146413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727DE56-C2C6-C315-B8DB-633F5BDBB6C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76575" y="4597545"/>
            <a:ext cx="2277853" cy="152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083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E9E17-D6E2-D172-BA55-4E365D654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4F41C03-A199-B9A2-59CD-60E48C4DF45D}"/>
              </a:ext>
            </a:extLst>
          </p:cNvPr>
          <p:cNvSpPr/>
          <p:nvPr/>
        </p:nvSpPr>
        <p:spPr>
          <a:xfrm>
            <a:off x="0" y="0"/>
            <a:ext cx="12192000" cy="664512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7AF501-2EB2-0590-D032-004256AB825C}"/>
              </a:ext>
            </a:extLst>
          </p:cNvPr>
          <p:cNvSpPr/>
          <p:nvPr/>
        </p:nvSpPr>
        <p:spPr>
          <a:xfrm>
            <a:off x="0" y="6449900"/>
            <a:ext cx="12192000" cy="408100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CE99524-3771-A3D5-31B7-C16CCE85B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077" y="6471387"/>
            <a:ext cx="2743200" cy="365125"/>
          </a:xfrm>
        </p:spPr>
        <p:txBody>
          <a:bodyPr/>
          <a:lstStyle/>
          <a:p>
            <a:fld id="{C45580C8-1F39-4488-AB14-6575A0DF9911}" type="slidenum">
              <a:rPr lang="en-GB" sz="180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15</a:t>
            </a:fld>
            <a:endParaRPr lang="en-GB" sz="1800" dirty="0">
              <a:solidFill>
                <a:schemeClr val="bg1"/>
              </a:solidFill>
              <a:latin typeface="Abadi" panose="020F0502020204030204" pitchFamily="34" charset="0"/>
              <a:ea typeface="+mj-ea"/>
              <a:cs typeface="+mj-cs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479A02E-0692-8D18-BEEC-F3A9C3B7FA56}"/>
              </a:ext>
            </a:extLst>
          </p:cNvPr>
          <p:cNvSpPr txBox="1">
            <a:spLocks/>
          </p:cNvSpPr>
          <p:nvPr/>
        </p:nvSpPr>
        <p:spPr>
          <a:xfrm>
            <a:off x="127820" y="93338"/>
            <a:ext cx="6834454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09/2026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  <a:sym typeface="Symbol" panose="05050102010706020507" pitchFamily="18" charset="2"/>
              </a:rPr>
              <a:t>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Results with different Test batch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3161CF7-9942-C55D-C692-4D174D91C299}"/>
              </a:ext>
            </a:extLst>
          </p:cNvPr>
          <p:cNvSpPr txBox="1">
            <a:spLocks/>
          </p:cNvSpPr>
          <p:nvPr/>
        </p:nvSpPr>
        <p:spPr>
          <a:xfrm>
            <a:off x="462117" y="799139"/>
            <a:ext cx="9676494" cy="477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GB" sz="1800" dirty="0">
                <a:solidFill>
                  <a:srgbClr val="0071BA"/>
                </a:solidFill>
                <a:latin typeface="Abadi" panose="020F0502020204030204" pitchFamily="34" charset="0"/>
              </a:rPr>
              <a:t>3) Use different test batch for selected models (middle and bottom batch)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F3AAE50-422C-2110-B401-7DADE69BCF76}"/>
              </a:ext>
            </a:extLst>
          </p:cNvPr>
          <p:cNvCxnSpPr>
            <a:cxnSpLocks/>
          </p:cNvCxnSpPr>
          <p:nvPr/>
        </p:nvCxnSpPr>
        <p:spPr>
          <a:xfrm flipH="1">
            <a:off x="2228070" y="1257449"/>
            <a:ext cx="13010" cy="4860000"/>
          </a:xfrm>
          <a:prstGeom prst="line">
            <a:avLst/>
          </a:prstGeom>
          <a:ln w="12700">
            <a:solidFill>
              <a:srgbClr val="0071B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B2DF313-0469-C6E8-6923-F2BCE2B8EE63}"/>
              </a:ext>
            </a:extLst>
          </p:cNvPr>
          <p:cNvSpPr txBox="1"/>
          <p:nvPr/>
        </p:nvSpPr>
        <p:spPr>
          <a:xfrm>
            <a:off x="491764" y="1275110"/>
            <a:ext cx="141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>
                <a:solidFill>
                  <a:srgbClr val="0071BA"/>
                </a:solidFill>
                <a:latin typeface="Abadi" panose="020F0502020204030204" pitchFamily="34" charset="0"/>
              </a:rPr>
              <a:t>Parameters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BEEEF58-6558-14A0-7305-14832F7C9D07}"/>
              </a:ext>
            </a:extLst>
          </p:cNvPr>
          <p:cNvCxnSpPr>
            <a:cxnSpLocks/>
          </p:cNvCxnSpPr>
          <p:nvPr/>
        </p:nvCxnSpPr>
        <p:spPr>
          <a:xfrm flipH="1">
            <a:off x="313274" y="1647375"/>
            <a:ext cx="8928000" cy="0"/>
          </a:xfrm>
          <a:prstGeom prst="line">
            <a:avLst/>
          </a:prstGeom>
          <a:ln w="12700">
            <a:solidFill>
              <a:srgbClr val="0071B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E46856-FB54-2C81-F813-34F761E5564F}"/>
              </a:ext>
            </a:extLst>
          </p:cNvPr>
          <p:cNvCxnSpPr>
            <a:cxnSpLocks/>
          </p:cNvCxnSpPr>
          <p:nvPr/>
        </p:nvCxnSpPr>
        <p:spPr>
          <a:xfrm flipH="1">
            <a:off x="326115" y="3939449"/>
            <a:ext cx="8928000" cy="0"/>
          </a:xfrm>
          <a:prstGeom prst="line">
            <a:avLst/>
          </a:prstGeom>
          <a:ln w="12700">
            <a:solidFill>
              <a:srgbClr val="0071B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1F2AFEA-E5A2-C5F4-7A31-2046FF359069}"/>
              </a:ext>
            </a:extLst>
          </p:cNvPr>
          <p:cNvSpPr txBox="1"/>
          <p:nvPr/>
        </p:nvSpPr>
        <p:spPr>
          <a:xfrm>
            <a:off x="1080402" y="2203743"/>
            <a:ext cx="99697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Trainvalloss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EAAE6-4985-6CE6-DE73-5FF7A2B05B6B}"/>
              </a:ext>
            </a:extLst>
          </p:cNvPr>
          <p:cNvSpPr txBox="1"/>
          <p:nvPr/>
        </p:nvSpPr>
        <p:spPr>
          <a:xfrm>
            <a:off x="2309308" y="2213342"/>
            <a:ext cx="2399501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50" dirty="0">
                <a:latin typeface="Abadi" panose="020F0502020204030204" pitchFamily="34" charset="0"/>
              </a:rPr>
              <a:t>WMSE – 0.5426| R2 – 0.9401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B3DDD6-4B72-FC2B-EC94-EDA2DA73BEC3}"/>
              </a:ext>
            </a:extLst>
          </p:cNvPr>
          <p:cNvSpPr txBox="1"/>
          <p:nvPr/>
        </p:nvSpPr>
        <p:spPr>
          <a:xfrm>
            <a:off x="1080402" y="2646025"/>
            <a:ext cx="99697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Testloss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4D91D6-3B8D-6E40-9508-319E9BAD9CF3}"/>
              </a:ext>
            </a:extLst>
          </p:cNvPr>
          <p:cNvSpPr txBox="1"/>
          <p:nvPr/>
        </p:nvSpPr>
        <p:spPr>
          <a:xfrm>
            <a:off x="2309308" y="2655624"/>
            <a:ext cx="2399501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50" dirty="0">
                <a:latin typeface="Abadi" panose="020F0502020204030204" pitchFamily="34" charset="0"/>
              </a:rPr>
              <a:t>WMSE – 0.5351| R2 – 0.9278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1978AF-5C21-AECB-DB4A-16ED8D7AD804}"/>
              </a:ext>
            </a:extLst>
          </p:cNvPr>
          <p:cNvSpPr txBox="1"/>
          <p:nvPr/>
        </p:nvSpPr>
        <p:spPr>
          <a:xfrm>
            <a:off x="1094288" y="3096014"/>
            <a:ext cx="96919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Trainvalloss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F92307-A002-BCCF-5432-4591CEFDF286}"/>
              </a:ext>
            </a:extLst>
          </p:cNvPr>
          <p:cNvSpPr txBox="1"/>
          <p:nvPr/>
        </p:nvSpPr>
        <p:spPr>
          <a:xfrm>
            <a:off x="2309308" y="3101916"/>
            <a:ext cx="2399501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50" dirty="0">
                <a:latin typeface="Abadi" panose="020F0502020204030204" pitchFamily="34" charset="0"/>
              </a:rPr>
              <a:t>WMSE – 0.0821| R2 – 0.9746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31F36A-ADCF-D405-63C1-FA5C3B77CCCB}"/>
              </a:ext>
            </a:extLst>
          </p:cNvPr>
          <p:cNvSpPr txBox="1"/>
          <p:nvPr/>
        </p:nvSpPr>
        <p:spPr>
          <a:xfrm>
            <a:off x="1094288" y="3538609"/>
            <a:ext cx="96919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Testloss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FF2044-49D5-8881-9E1F-B2666D961AA1}"/>
              </a:ext>
            </a:extLst>
          </p:cNvPr>
          <p:cNvSpPr txBox="1"/>
          <p:nvPr/>
        </p:nvSpPr>
        <p:spPr>
          <a:xfrm>
            <a:off x="2309308" y="3548208"/>
            <a:ext cx="2399501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50" dirty="0">
                <a:latin typeface="Abadi" panose="020F0502020204030204" pitchFamily="34" charset="0"/>
              </a:rPr>
              <a:t>WMSE – 0.0761| R2 – 0.9680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37CD3F-555B-BE80-0F12-1DFD912FC5C1}"/>
              </a:ext>
            </a:extLst>
          </p:cNvPr>
          <p:cNvSpPr txBox="1"/>
          <p:nvPr/>
        </p:nvSpPr>
        <p:spPr>
          <a:xfrm>
            <a:off x="326115" y="1735085"/>
            <a:ext cx="1847203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400" b="1" dirty="0">
                <a:latin typeface="Abadi" panose="020F0502020204030204" pitchFamily="34" charset="0"/>
              </a:rPr>
              <a:t>Middle batch as Test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F9DBE9-9235-E188-CD8B-5E8FE62B1487}"/>
              </a:ext>
            </a:extLst>
          </p:cNvPr>
          <p:cNvSpPr txBox="1"/>
          <p:nvPr/>
        </p:nvSpPr>
        <p:spPr>
          <a:xfrm>
            <a:off x="326115" y="4134071"/>
            <a:ext cx="1847203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400" b="1" dirty="0">
                <a:latin typeface="Abadi" panose="020F0502020204030204" pitchFamily="34" charset="0"/>
              </a:rPr>
              <a:t>Bottom batch as Test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6870B3-7C24-7C64-0A5E-6A40B7B3B9EE}"/>
              </a:ext>
            </a:extLst>
          </p:cNvPr>
          <p:cNvSpPr txBox="1"/>
          <p:nvPr/>
        </p:nvSpPr>
        <p:spPr>
          <a:xfrm>
            <a:off x="2309308" y="4620962"/>
            <a:ext cx="2399501" cy="2846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50" dirty="0">
                <a:latin typeface="Abadi" panose="020F0502020204030204" pitchFamily="34" charset="0"/>
              </a:rPr>
              <a:t>WMSE – 0.5585 | R2 – 0.9417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A44132-2E42-39CC-F280-FC68D05758A4}"/>
              </a:ext>
            </a:extLst>
          </p:cNvPr>
          <p:cNvSpPr txBox="1"/>
          <p:nvPr/>
        </p:nvSpPr>
        <p:spPr>
          <a:xfrm>
            <a:off x="2309308" y="5059396"/>
            <a:ext cx="2399501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50" dirty="0">
                <a:latin typeface="Abadi" panose="020F0502020204030204" pitchFamily="34" charset="0"/>
              </a:rPr>
              <a:t>WMSE – 1.1517| R2 – 0.8529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B807A9-E0A3-96C6-4527-72F9267E61D2}"/>
              </a:ext>
            </a:extLst>
          </p:cNvPr>
          <p:cNvSpPr txBox="1"/>
          <p:nvPr/>
        </p:nvSpPr>
        <p:spPr>
          <a:xfrm>
            <a:off x="2309308" y="5509536"/>
            <a:ext cx="2399501" cy="2846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50" dirty="0">
                <a:latin typeface="Abadi" panose="020F0502020204030204" pitchFamily="34" charset="0"/>
              </a:rPr>
              <a:t>WMSE – 0.0843 | R2 – 0.9776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6322C0-5EBC-9360-61C8-99EB504C23F2}"/>
              </a:ext>
            </a:extLst>
          </p:cNvPr>
          <p:cNvSpPr txBox="1"/>
          <p:nvPr/>
        </p:nvSpPr>
        <p:spPr>
          <a:xfrm>
            <a:off x="2309308" y="5955828"/>
            <a:ext cx="2399501" cy="2846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50" dirty="0">
                <a:latin typeface="Abadi" panose="020F0502020204030204" pitchFamily="34" charset="0"/>
              </a:rPr>
              <a:t>WMSE – 0.9812 | R2 – 0.8759  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4542071-444A-D588-69D7-173D189D3454}"/>
              </a:ext>
            </a:extLst>
          </p:cNvPr>
          <p:cNvGrpSpPr/>
          <p:nvPr/>
        </p:nvGrpSpPr>
        <p:grpSpPr>
          <a:xfrm>
            <a:off x="9779000" y="814440"/>
            <a:ext cx="2260599" cy="1535580"/>
            <a:chOff x="9355188" y="1300215"/>
            <a:chExt cx="2684411" cy="1535580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BDC82C8-BA60-FC7C-1614-52DEB0F00C63}"/>
                </a:ext>
              </a:extLst>
            </p:cNvPr>
            <p:cNvSpPr txBox="1"/>
            <p:nvPr/>
          </p:nvSpPr>
          <p:spPr>
            <a:xfrm>
              <a:off x="9415495" y="1947881"/>
              <a:ext cx="2563796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GB" sz="1100" dirty="0">
                  <a:latin typeface="Abadi" panose="020F0502020204030204" pitchFamily="34" charset="0"/>
                </a:rPr>
                <a:t>WMSE – 0.4860 | R2 -  0.9624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51A1A52-AF7C-D47E-7B38-E58FA149D1CA}"/>
                </a:ext>
              </a:extLst>
            </p:cNvPr>
            <p:cNvSpPr txBox="1"/>
            <p:nvPr/>
          </p:nvSpPr>
          <p:spPr>
            <a:xfrm>
              <a:off x="9415495" y="2494364"/>
              <a:ext cx="2563796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GB" sz="1100" dirty="0">
                  <a:latin typeface="Abadi" panose="020F0502020204030204" pitchFamily="34" charset="0"/>
                </a:rPr>
                <a:t>WMSE – 0.4070 | R2 -  0.9583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0231D3D-706F-6304-0CF4-AF9EF54FB6CA}"/>
                </a:ext>
              </a:extLst>
            </p:cNvPr>
            <p:cNvSpPr txBox="1"/>
            <p:nvPr/>
          </p:nvSpPr>
          <p:spPr>
            <a:xfrm>
              <a:off x="9415495" y="2220860"/>
              <a:ext cx="2563796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GB" sz="1100" dirty="0">
                  <a:latin typeface="Abadi" panose="020F0502020204030204" pitchFamily="34" charset="0"/>
                </a:rPr>
                <a:t>Test batch (Middle)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76E3A78-DF55-0F55-D488-9C1B72E99E99}"/>
                </a:ext>
              </a:extLst>
            </p:cNvPr>
            <p:cNvSpPr txBox="1"/>
            <p:nvPr/>
          </p:nvSpPr>
          <p:spPr>
            <a:xfrm>
              <a:off x="9415495" y="1669486"/>
              <a:ext cx="2563796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GB" sz="1100" dirty="0">
                  <a:latin typeface="Abadi" panose="020F0502020204030204" pitchFamily="34" charset="0"/>
                </a:rPr>
                <a:t>Training and Validation batches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AA779EB-7535-AD98-4B8D-DF35653F939D}"/>
                </a:ext>
              </a:extLst>
            </p:cNvPr>
            <p:cNvSpPr txBox="1"/>
            <p:nvPr/>
          </p:nvSpPr>
          <p:spPr>
            <a:xfrm>
              <a:off x="9415495" y="1364678"/>
              <a:ext cx="2563796" cy="27699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GB" sz="1200" b="1" dirty="0">
                  <a:solidFill>
                    <a:srgbClr val="0071BA"/>
                  </a:solidFill>
                  <a:latin typeface="Abadi" panose="020F0502020204030204" pitchFamily="34" charset="0"/>
                </a:rPr>
                <a:t>Noisy vs True - Middle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650C5C4-167E-1BF7-4E57-32A1E0B4ABC1}"/>
                </a:ext>
              </a:extLst>
            </p:cNvPr>
            <p:cNvSpPr/>
            <p:nvPr/>
          </p:nvSpPr>
          <p:spPr>
            <a:xfrm>
              <a:off x="9355188" y="1300215"/>
              <a:ext cx="2684411" cy="1535580"/>
            </a:xfrm>
            <a:prstGeom prst="rect">
              <a:avLst/>
            </a:prstGeom>
            <a:noFill/>
            <a:ln w="38100">
              <a:solidFill>
                <a:srgbClr val="0071B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429BB72-D81F-5963-662E-455AE9A0CACE}"/>
              </a:ext>
            </a:extLst>
          </p:cNvPr>
          <p:cNvGrpSpPr/>
          <p:nvPr/>
        </p:nvGrpSpPr>
        <p:grpSpPr>
          <a:xfrm>
            <a:off x="9779000" y="2486741"/>
            <a:ext cx="2260599" cy="1535580"/>
            <a:chOff x="9355188" y="1300215"/>
            <a:chExt cx="2684411" cy="1535580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DA29734-296B-39FD-DF96-56130E35EE45}"/>
                </a:ext>
              </a:extLst>
            </p:cNvPr>
            <p:cNvSpPr txBox="1"/>
            <p:nvPr/>
          </p:nvSpPr>
          <p:spPr>
            <a:xfrm>
              <a:off x="9415495" y="1947881"/>
              <a:ext cx="2563796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GB" sz="1100" dirty="0">
                  <a:latin typeface="Abadi" panose="020F0502020204030204" pitchFamily="34" charset="0"/>
                </a:rPr>
                <a:t>WMSE – 0.5036 | R2 – 0.9608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A457906-6C7C-2831-4C71-89140C4AA617}"/>
                </a:ext>
              </a:extLst>
            </p:cNvPr>
            <p:cNvSpPr txBox="1"/>
            <p:nvPr/>
          </p:nvSpPr>
          <p:spPr>
            <a:xfrm>
              <a:off x="9415495" y="2494364"/>
              <a:ext cx="2563796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GB" sz="1100" dirty="0">
                  <a:latin typeface="Abadi" panose="020F0502020204030204" pitchFamily="34" charset="0"/>
                </a:rPr>
                <a:t>WMSE – 0.1612| R2 – 0.9725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9FED571-D6C0-7F4F-C881-250FAE68228E}"/>
                </a:ext>
              </a:extLst>
            </p:cNvPr>
            <p:cNvSpPr txBox="1"/>
            <p:nvPr/>
          </p:nvSpPr>
          <p:spPr>
            <a:xfrm>
              <a:off x="9415495" y="2220860"/>
              <a:ext cx="2563796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GB" sz="1100" dirty="0">
                  <a:latin typeface="Abadi" panose="020F0502020204030204" pitchFamily="34" charset="0"/>
                </a:rPr>
                <a:t>Test batch (Bottom)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7802F65-B678-10B7-F20F-84FC5B997B47}"/>
                </a:ext>
              </a:extLst>
            </p:cNvPr>
            <p:cNvSpPr txBox="1"/>
            <p:nvPr/>
          </p:nvSpPr>
          <p:spPr>
            <a:xfrm>
              <a:off x="9415495" y="1669486"/>
              <a:ext cx="2563796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GB" sz="1100" dirty="0">
                  <a:latin typeface="Abadi" panose="020F0502020204030204" pitchFamily="34" charset="0"/>
                </a:rPr>
                <a:t>Training and Validation batches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3E90449-2ECD-D6FB-B5E6-A59D2920BF73}"/>
                </a:ext>
              </a:extLst>
            </p:cNvPr>
            <p:cNvSpPr txBox="1"/>
            <p:nvPr/>
          </p:nvSpPr>
          <p:spPr>
            <a:xfrm>
              <a:off x="9415495" y="1364678"/>
              <a:ext cx="2563796" cy="27699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GB" sz="1200" b="1" dirty="0">
                  <a:solidFill>
                    <a:srgbClr val="0071BA"/>
                  </a:solidFill>
                  <a:latin typeface="Abadi" panose="020F0502020204030204" pitchFamily="34" charset="0"/>
                </a:rPr>
                <a:t>Noisy vs True - Bottom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D6F4238-D2F0-1885-A68E-81B58FEFDE0B}"/>
                </a:ext>
              </a:extLst>
            </p:cNvPr>
            <p:cNvSpPr/>
            <p:nvPr/>
          </p:nvSpPr>
          <p:spPr>
            <a:xfrm>
              <a:off x="9355188" y="1300215"/>
              <a:ext cx="2684411" cy="1535580"/>
            </a:xfrm>
            <a:prstGeom prst="rect">
              <a:avLst/>
            </a:prstGeom>
            <a:noFill/>
            <a:ln w="38100">
              <a:solidFill>
                <a:srgbClr val="0071B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5C0FE3AD-F03D-B4A6-482A-D8295876E294}"/>
              </a:ext>
            </a:extLst>
          </p:cNvPr>
          <p:cNvSpPr txBox="1"/>
          <p:nvPr/>
        </p:nvSpPr>
        <p:spPr>
          <a:xfrm>
            <a:off x="68292" y="2459944"/>
            <a:ext cx="108485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400" dirty="0">
                <a:latin typeface="Abadi" panose="020F0502020204030204" pitchFamily="34" charset="0"/>
              </a:rPr>
              <a:t>Noisy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662CFE8-A239-5126-6702-9C1D6F9A4F36}"/>
              </a:ext>
            </a:extLst>
          </p:cNvPr>
          <p:cNvSpPr txBox="1"/>
          <p:nvPr/>
        </p:nvSpPr>
        <p:spPr>
          <a:xfrm>
            <a:off x="92242" y="3251631"/>
            <a:ext cx="108485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400" dirty="0">
                <a:latin typeface="Abadi" panose="020F0502020204030204" pitchFamily="34" charset="0"/>
              </a:rPr>
              <a:t>True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5B036C7-4F31-D250-3E54-32F90E082431}"/>
              </a:ext>
            </a:extLst>
          </p:cNvPr>
          <p:cNvCxnSpPr>
            <a:cxnSpLocks/>
          </p:cNvCxnSpPr>
          <p:nvPr/>
        </p:nvCxnSpPr>
        <p:spPr>
          <a:xfrm flipH="1">
            <a:off x="326115" y="2978765"/>
            <a:ext cx="8712000" cy="0"/>
          </a:xfrm>
          <a:prstGeom prst="line">
            <a:avLst/>
          </a:prstGeom>
          <a:ln w="6350">
            <a:solidFill>
              <a:srgbClr val="0071B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BEC440C9-3DBA-BBC3-FE2F-B9B9AD78214E}"/>
              </a:ext>
            </a:extLst>
          </p:cNvPr>
          <p:cNvSpPr txBox="1"/>
          <p:nvPr/>
        </p:nvSpPr>
        <p:spPr>
          <a:xfrm>
            <a:off x="1080402" y="4557451"/>
            <a:ext cx="99697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Trainvalloss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1564C9C-9740-C65A-5E6A-F3EE91E08622}"/>
              </a:ext>
            </a:extLst>
          </p:cNvPr>
          <p:cNvSpPr txBox="1"/>
          <p:nvPr/>
        </p:nvSpPr>
        <p:spPr>
          <a:xfrm>
            <a:off x="1080402" y="4999733"/>
            <a:ext cx="99697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Testloss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54FFA96-95B4-DB95-1253-9683F3CE5C65}"/>
              </a:ext>
            </a:extLst>
          </p:cNvPr>
          <p:cNvSpPr txBox="1"/>
          <p:nvPr/>
        </p:nvSpPr>
        <p:spPr>
          <a:xfrm>
            <a:off x="1094288" y="5449722"/>
            <a:ext cx="96919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Trainvalloss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9C3DF91-DD47-CE04-B67E-B706DDAAF5CB}"/>
              </a:ext>
            </a:extLst>
          </p:cNvPr>
          <p:cNvSpPr txBox="1"/>
          <p:nvPr/>
        </p:nvSpPr>
        <p:spPr>
          <a:xfrm>
            <a:off x="1094288" y="5892317"/>
            <a:ext cx="96919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00" dirty="0">
                <a:latin typeface="Abadi" panose="020F0502020204030204" pitchFamily="34" charset="0"/>
              </a:rPr>
              <a:t>Testloss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897BE14-DDE2-8BAA-C892-CDDE4E772FBA}"/>
              </a:ext>
            </a:extLst>
          </p:cNvPr>
          <p:cNvSpPr txBox="1"/>
          <p:nvPr/>
        </p:nvSpPr>
        <p:spPr>
          <a:xfrm>
            <a:off x="127821" y="4813652"/>
            <a:ext cx="108485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400" dirty="0">
                <a:latin typeface="Abadi" panose="020F0502020204030204" pitchFamily="34" charset="0"/>
              </a:rPr>
              <a:t>Noisy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8BD5FF2-219E-45E5-C6E5-D01E8879F6D3}"/>
              </a:ext>
            </a:extLst>
          </p:cNvPr>
          <p:cNvSpPr txBox="1"/>
          <p:nvPr/>
        </p:nvSpPr>
        <p:spPr>
          <a:xfrm>
            <a:off x="151771" y="5605339"/>
            <a:ext cx="108485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400" dirty="0">
                <a:latin typeface="Abadi" panose="020F0502020204030204" pitchFamily="34" charset="0"/>
              </a:rPr>
              <a:t>True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499D955-DAF8-C900-0026-2B215A7A7753}"/>
              </a:ext>
            </a:extLst>
          </p:cNvPr>
          <p:cNvCxnSpPr>
            <a:cxnSpLocks/>
          </p:cNvCxnSpPr>
          <p:nvPr/>
        </p:nvCxnSpPr>
        <p:spPr>
          <a:xfrm flipH="1">
            <a:off x="385644" y="5363227"/>
            <a:ext cx="8712000" cy="0"/>
          </a:xfrm>
          <a:prstGeom prst="line">
            <a:avLst/>
          </a:prstGeom>
          <a:ln w="6350">
            <a:solidFill>
              <a:srgbClr val="0071B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2150F1F5-6747-47A4-A05D-2369FB02DD7A}"/>
              </a:ext>
            </a:extLst>
          </p:cNvPr>
          <p:cNvSpPr txBox="1"/>
          <p:nvPr/>
        </p:nvSpPr>
        <p:spPr>
          <a:xfrm>
            <a:off x="0" y="6500060"/>
            <a:ext cx="522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bad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L. Gündersen</a:t>
            </a:r>
          </a:p>
        </p:txBody>
      </p:sp>
      <p:sp>
        <p:nvSpPr>
          <p:cNvPr id="66" name="Title 1">
            <a:extLst>
              <a:ext uri="{FF2B5EF4-FFF2-40B4-BE49-F238E27FC236}">
                <a16:creationId xmlns:a16="http://schemas.microsoft.com/office/drawing/2014/main" id="{26A5E5EB-A84B-49D3-BFC2-A1B0E9E12457}"/>
              </a:ext>
            </a:extLst>
          </p:cNvPr>
          <p:cNvSpPr txBox="1">
            <a:spLocks/>
          </p:cNvSpPr>
          <p:nvPr/>
        </p:nvSpPr>
        <p:spPr>
          <a:xfrm>
            <a:off x="7964852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Part I: Regularization and Selection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330A9AC-56BA-4720-BA4A-3E5D196BE473}"/>
              </a:ext>
            </a:extLst>
          </p:cNvPr>
          <p:cNvSpPr txBox="1"/>
          <p:nvPr/>
        </p:nvSpPr>
        <p:spPr>
          <a:xfrm>
            <a:off x="2411607" y="1257449"/>
            <a:ext cx="21577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Probabilistic (AICc)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FDE5967-A0D5-43D6-AD8E-1A0579FF6EC6}"/>
              </a:ext>
            </a:extLst>
          </p:cNvPr>
          <p:cNvSpPr txBox="1"/>
          <p:nvPr/>
        </p:nvSpPr>
        <p:spPr>
          <a:xfrm>
            <a:off x="7435328" y="1257449"/>
            <a:ext cx="21577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Empirical (LOOCV)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D78969D-7F10-4CC8-B669-1D997C64022E}"/>
              </a:ext>
            </a:extLst>
          </p:cNvPr>
          <p:cNvSpPr txBox="1"/>
          <p:nvPr/>
        </p:nvSpPr>
        <p:spPr>
          <a:xfrm>
            <a:off x="4923468" y="1257449"/>
            <a:ext cx="21577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Empirical (k-fold)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233F1EB-D79A-44E4-B39E-BD6EF38982A1}"/>
              </a:ext>
            </a:extLst>
          </p:cNvPr>
          <p:cNvCxnSpPr>
            <a:cxnSpLocks/>
          </p:cNvCxnSpPr>
          <p:nvPr/>
        </p:nvCxnSpPr>
        <p:spPr>
          <a:xfrm flipH="1">
            <a:off x="4739931" y="1257449"/>
            <a:ext cx="13010" cy="5364000"/>
          </a:xfrm>
          <a:prstGeom prst="line">
            <a:avLst/>
          </a:prstGeom>
          <a:ln w="12700">
            <a:solidFill>
              <a:srgbClr val="0071B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3885F12-5CCF-4142-B1A2-3126B23B833C}"/>
              </a:ext>
            </a:extLst>
          </p:cNvPr>
          <p:cNvCxnSpPr>
            <a:cxnSpLocks/>
          </p:cNvCxnSpPr>
          <p:nvPr/>
        </p:nvCxnSpPr>
        <p:spPr>
          <a:xfrm flipH="1">
            <a:off x="7251792" y="1257449"/>
            <a:ext cx="13010" cy="5364000"/>
          </a:xfrm>
          <a:prstGeom prst="line">
            <a:avLst/>
          </a:prstGeom>
          <a:ln w="12700">
            <a:solidFill>
              <a:srgbClr val="0071B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4BE0A4D-8C1C-45AB-AE31-40D9A4F0EA1E}"/>
              </a:ext>
            </a:extLst>
          </p:cNvPr>
          <p:cNvSpPr txBox="1"/>
          <p:nvPr/>
        </p:nvSpPr>
        <p:spPr>
          <a:xfrm>
            <a:off x="4830881" y="2213342"/>
            <a:ext cx="2399501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50" dirty="0">
                <a:latin typeface="Abadi" panose="020F0502020204030204" pitchFamily="34" charset="0"/>
              </a:rPr>
              <a:t>WMSE – 0.5426| R2 – 0.9401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2847F3E-1A2C-466D-8153-FAC7D43A0635}"/>
              </a:ext>
            </a:extLst>
          </p:cNvPr>
          <p:cNvSpPr txBox="1"/>
          <p:nvPr/>
        </p:nvSpPr>
        <p:spPr>
          <a:xfrm>
            <a:off x="4830881" y="2655624"/>
            <a:ext cx="2399501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50" dirty="0">
                <a:latin typeface="Abadi" panose="020F0502020204030204" pitchFamily="34" charset="0"/>
              </a:rPr>
              <a:t>WMSE – 0.5351| R2 – 0.9278 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C5AADCA-92D0-4059-92DC-BD57D6925955}"/>
              </a:ext>
            </a:extLst>
          </p:cNvPr>
          <p:cNvSpPr txBox="1"/>
          <p:nvPr/>
        </p:nvSpPr>
        <p:spPr>
          <a:xfrm>
            <a:off x="4830881" y="3101916"/>
            <a:ext cx="2399501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50" dirty="0">
                <a:latin typeface="Abadi" panose="020F0502020204030204" pitchFamily="34" charset="0"/>
              </a:rPr>
              <a:t>WMSE – 0.0821| R2 – 0.9746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C27F2CC-3E6A-4BA2-B4DB-EB0FFE113F68}"/>
              </a:ext>
            </a:extLst>
          </p:cNvPr>
          <p:cNvSpPr txBox="1"/>
          <p:nvPr/>
        </p:nvSpPr>
        <p:spPr>
          <a:xfrm>
            <a:off x="4830881" y="3548208"/>
            <a:ext cx="2399501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50" dirty="0">
                <a:latin typeface="Abadi" panose="020F0502020204030204" pitchFamily="34" charset="0"/>
              </a:rPr>
              <a:t>WMSE – 0.0761| R2 – 0.9680 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51CEBA5-975A-4F88-A072-4C11828A19FA}"/>
              </a:ext>
            </a:extLst>
          </p:cNvPr>
          <p:cNvSpPr txBox="1"/>
          <p:nvPr/>
        </p:nvSpPr>
        <p:spPr>
          <a:xfrm>
            <a:off x="4830881" y="4620962"/>
            <a:ext cx="2399501" cy="2846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50" dirty="0">
                <a:latin typeface="Abadi" panose="020F0502020204030204" pitchFamily="34" charset="0"/>
              </a:rPr>
              <a:t>WMSE – 0.5585 | R2 – 0.9417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E732322-36FB-4458-BE6A-B4439B199720}"/>
              </a:ext>
            </a:extLst>
          </p:cNvPr>
          <p:cNvSpPr txBox="1"/>
          <p:nvPr/>
        </p:nvSpPr>
        <p:spPr>
          <a:xfrm>
            <a:off x="4830881" y="5059396"/>
            <a:ext cx="2399501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50" dirty="0">
                <a:latin typeface="Abadi" panose="020F0502020204030204" pitchFamily="34" charset="0"/>
              </a:rPr>
              <a:t>WMSE – 1.1517| R2 – 0.8529 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2886735-E7A5-4F7F-B050-3C1CF66697DE}"/>
              </a:ext>
            </a:extLst>
          </p:cNvPr>
          <p:cNvSpPr txBox="1"/>
          <p:nvPr/>
        </p:nvSpPr>
        <p:spPr>
          <a:xfrm>
            <a:off x="4830881" y="5509536"/>
            <a:ext cx="2399501" cy="2846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50" dirty="0">
                <a:latin typeface="Abadi" panose="020F0502020204030204" pitchFamily="34" charset="0"/>
              </a:rPr>
              <a:t>WMSE – 0.0843 | R2 – 0.9776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A67D046-5404-4E43-B7BB-F495849BC01A}"/>
              </a:ext>
            </a:extLst>
          </p:cNvPr>
          <p:cNvSpPr txBox="1"/>
          <p:nvPr/>
        </p:nvSpPr>
        <p:spPr>
          <a:xfrm>
            <a:off x="4830881" y="5955828"/>
            <a:ext cx="2399501" cy="2846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50" dirty="0">
                <a:latin typeface="Abadi" panose="020F0502020204030204" pitchFamily="34" charset="0"/>
              </a:rPr>
              <a:t>WMSE – 0.9812 | R2 – 0.8759  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51E9A97-1C79-499A-A11B-77E5ACEA33E3}"/>
              </a:ext>
            </a:extLst>
          </p:cNvPr>
          <p:cNvSpPr txBox="1"/>
          <p:nvPr/>
        </p:nvSpPr>
        <p:spPr>
          <a:xfrm>
            <a:off x="7279972" y="2203743"/>
            <a:ext cx="2399501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50" dirty="0">
                <a:latin typeface="Abadi" panose="020F0502020204030204" pitchFamily="34" charset="0"/>
              </a:rPr>
              <a:t>WMSE – 0.5426| R2 – 0.9401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52D0A46-C3EB-4137-90B4-D8FC9C411F5A}"/>
              </a:ext>
            </a:extLst>
          </p:cNvPr>
          <p:cNvSpPr txBox="1"/>
          <p:nvPr/>
        </p:nvSpPr>
        <p:spPr>
          <a:xfrm>
            <a:off x="7279972" y="2646025"/>
            <a:ext cx="2399501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50" dirty="0">
                <a:latin typeface="Abadi" panose="020F0502020204030204" pitchFamily="34" charset="0"/>
              </a:rPr>
              <a:t>WMSE – 0.5351| R2 – 0.9278 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9A495D7-E72C-4526-8AE3-B6F2FB0DDE00}"/>
              </a:ext>
            </a:extLst>
          </p:cNvPr>
          <p:cNvSpPr txBox="1"/>
          <p:nvPr/>
        </p:nvSpPr>
        <p:spPr>
          <a:xfrm>
            <a:off x="7279972" y="3092317"/>
            <a:ext cx="2399501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50" dirty="0">
                <a:latin typeface="Abadi" panose="020F0502020204030204" pitchFamily="34" charset="0"/>
              </a:rPr>
              <a:t>WMSE – 0.0821| R2 – 0.9746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9125BD4-EE8D-4A79-B587-DAF467F0B659}"/>
              </a:ext>
            </a:extLst>
          </p:cNvPr>
          <p:cNvSpPr txBox="1"/>
          <p:nvPr/>
        </p:nvSpPr>
        <p:spPr>
          <a:xfrm>
            <a:off x="7279972" y="3538609"/>
            <a:ext cx="2399501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50" dirty="0">
                <a:latin typeface="Abadi" panose="020F0502020204030204" pitchFamily="34" charset="0"/>
              </a:rPr>
              <a:t>WMSE – 0.0761| R2 – 0.9680 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30872E5-A6FD-4FA9-B9A7-33A7F88D6EE2}"/>
              </a:ext>
            </a:extLst>
          </p:cNvPr>
          <p:cNvSpPr txBox="1"/>
          <p:nvPr/>
        </p:nvSpPr>
        <p:spPr>
          <a:xfrm>
            <a:off x="7279972" y="4611363"/>
            <a:ext cx="2399501" cy="2846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50" dirty="0">
                <a:latin typeface="Abadi" panose="020F0502020204030204" pitchFamily="34" charset="0"/>
              </a:rPr>
              <a:t>WMSE – 0.5585 | R2 – 0.9417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013B426-3F0D-4AB4-BD7B-389B79045072}"/>
              </a:ext>
            </a:extLst>
          </p:cNvPr>
          <p:cNvSpPr txBox="1"/>
          <p:nvPr/>
        </p:nvSpPr>
        <p:spPr>
          <a:xfrm>
            <a:off x="7279972" y="5049797"/>
            <a:ext cx="2399501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50" dirty="0">
                <a:latin typeface="Abadi" panose="020F0502020204030204" pitchFamily="34" charset="0"/>
              </a:rPr>
              <a:t>WMSE – 1.1517| R2 – 0.8529  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9F7E48A-4CFB-49A0-9C47-071A6B5EADD4}"/>
              </a:ext>
            </a:extLst>
          </p:cNvPr>
          <p:cNvSpPr txBox="1"/>
          <p:nvPr/>
        </p:nvSpPr>
        <p:spPr>
          <a:xfrm>
            <a:off x="7279972" y="5499937"/>
            <a:ext cx="2399501" cy="2846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50" dirty="0">
                <a:latin typeface="Abadi" panose="020F0502020204030204" pitchFamily="34" charset="0"/>
              </a:rPr>
              <a:t>WMSE – 0.0843 | R2 – 0.9776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5DE757C-BA36-4F62-BD2E-EC2478CAB623}"/>
              </a:ext>
            </a:extLst>
          </p:cNvPr>
          <p:cNvSpPr txBox="1"/>
          <p:nvPr/>
        </p:nvSpPr>
        <p:spPr>
          <a:xfrm>
            <a:off x="7279972" y="5946229"/>
            <a:ext cx="2399501" cy="2846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GB" sz="1250" dirty="0">
                <a:latin typeface="Abadi" panose="020F0502020204030204" pitchFamily="34" charset="0"/>
              </a:rPr>
              <a:t>WMSE – 0.9812 | R2 – 0.8759  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5965ED8-6246-4A3D-8FCA-5AD9052A368C}"/>
              </a:ext>
            </a:extLst>
          </p:cNvPr>
          <p:cNvSpPr txBox="1"/>
          <p:nvPr/>
        </p:nvSpPr>
        <p:spPr>
          <a:xfrm>
            <a:off x="2561500" y="2316250"/>
            <a:ext cx="6794942" cy="1328023"/>
          </a:xfrm>
          <a:prstGeom prst="roundRect">
            <a:avLst/>
          </a:prstGeom>
          <a:solidFill>
            <a:srgbClr val="FF090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200" b="1" i="1" dirty="0"/>
              <a:t>Not updated!!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7320361-16B5-4382-BE8B-E6D3602E323E}"/>
              </a:ext>
            </a:extLst>
          </p:cNvPr>
          <p:cNvSpPr txBox="1"/>
          <p:nvPr/>
        </p:nvSpPr>
        <p:spPr>
          <a:xfrm>
            <a:off x="2548524" y="4737959"/>
            <a:ext cx="6794942" cy="1328023"/>
          </a:xfrm>
          <a:prstGeom prst="roundRect">
            <a:avLst/>
          </a:prstGeom>
          <a:solidFill>
            <a:srgbClr val="FF090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200" b="1" i="1" dirty="0"/>
              <a:t>Not updated!!</a:t>
            </a:r>
          </a:p>
        </p:txBody>
      </p:sp>
    </p:spTree>
    <p:extLst>
      <p:ext uri="{BB962C8B-B14F-4D97-AF65-F5344CB8AC3E}">
        <p14:creationId xmlns:p14="http://schemas.microsoft.com/office/powerpoint/2010/main" val="3587641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7E061-94EE-44E3-0D12-D589E2606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2E1301F-8468-B07D-5DD3-9869ECCBE585}"/>
              </a:ext>
            </a:extLst>
          </p:cNvPr>
          <p:cNvSpPr/>
          <p:nvPr/>
        </p:nvSpPr>
        <p:spPr>
          <a:xfrm>
            <a:off x="0" y="0"/>
            <a:ext cx="12192000" cy="664512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0C9EA9-197E-612B-E60A-56332C5F5164}"/>
              </a:ext>
            </a:extLst>
          </p:cNvPr>
          <p:cNvSpPr/>
          <p:nvPr/>
        </p:nvSpPr>
        <p:spPr>
          <a:xfrm>
            <a:off x="0" y="6449900"/>
            <a:ext cx="12192000" cy="408100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931188F-71E6-F8F3-F03C-78D956C31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077" y="6471387"/>
            <a:ext cx="2743200" cy="365125"/>
          </a:xfrm>
        </p:spPr>
        <p:txBody>
          <a:bodyPr/>
          <a:lstStyle/>
          <a:p>
            <a:fld id="{C45580C8-1F39-4488-AB14-6575A0DF9911}" type="slidenum">
              <a:rPr lang="en-GB" sz="180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16</a:t>
            </a:fld>
            <a:endParaRPr lang="en-GB" sz="1800" dirty="0">
              <a:solidFill>
                <a:schemeClr val="bg1"/>
              </a:solidFill>
              <a:latin typeface="Abadi" panose="020F0502020204030204" pitchFamily="34" charset="0"/>
              <a:ea typeface="+mj-ea"/>
              <a:cs typeface="+mj-cs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E2BAEBE-31DC-4239-42ED-5983DC8D8135}"/>
              </a:ext>
            </a:extLst>
          </p:cNvPr>
          <p:cNvSpPr txBox="1">
            <a:spLocks/>
          </p:cNvSpPr>
          <p:nvPr/>
        </p:nvSpPr>
        <p:spPr>
          <a:xfrm>
            <a:off x="127820" y="93338"/>
            <a:ext cx="7085218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09/2026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  <a:sym typeface="Symbol" panose="05050102010706020507" pitchFamily="18" charset="2"/>
              </a:rPr>
              <a:t>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Results of different test batches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4B1906B-2C96-10D2-0C75-C3C46781C33D}"/>
              </a:ext>
            </a:extLst>
          </p:cNvPr>
          <p:cNvSpPr txBox="1">
            <a:spLocks/>
          </p:cNvSpPr>
          <p:nvPr/>
        </p:nvSpPr>
        <p:spPr>
          <a:xfrm>
            <a:off x="462117" y="799139"/>
            <a:ext cx="9676494" cy="477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GB" sz="1800" dirty="0">
                <a:solidFill>
                  <a:srgbClr val="0071BA"/>
                </a:solidFill>
                <a:latin typeface="Abadi" panose="020F0502020204030204" pitchFamily="34" charset="0"/>
              </a:rPr>
              <a:t>Parity Plots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7FF1A194-A224-DB8A-0890-F6F483774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37095" y="1709518"/>
            <a:ext cx="3904182" cy="39041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C853B0-75BA-453C-9CB9-1420D1F1A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82457" y="1709518"/>
            <a:ext cx="3904182" cy="39041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7A0375-C20F-571A-BE95-483E2D859C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7820" y="1713853"/>
            <a:ext cx="3904182" cy="39041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4F3EB3-65A6-5A87-9F3E-ACE9525EFA4B}"/>
              </a:ext>
            </a:extLst>
          </p:cNvPr>
          <p:cNvSpPr txBox="1"/>
          <p:nvPr/>
        </p:nvSpPr>
        <p:spPr>
          <a:xfrm>
            <a:off x="901421" y="1401741"/>
            <a:ext cx="235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Bottom batch as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A2D25E-EC07-2AED-2923-974CDDC164D8}"/>
              </a:ext>
            </a:extLst>
          </p:cNvPr>
          <p:cNvSpPr txBox="1"/>
          <p:nvPr/>
        </p:nvSpPr>
        <p:spPr>
          <a:xfrm>
            <a:off x="4856058" y="1401740"/>
            <a:ext cx="235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Middle batch as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0C85B8-EABC-04EE-56AB-B2EFE67B3D91}"/>
              </a:ext>
            </a:extLst>
          </p:cNvPr>
          <p:cNvSpPr txBox="1"/>
          <p:nvPr/>
        </p:nvSpPr>
        <p:spPr>
          <a:xfrm>
            <a:off x="8810696" y="1391893"/>
            <a:ext cx="235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Top batch as Test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A9D54-206B-5E16-4765-F80FFD2B6154}"/>
              </a:ext>
            </a:extLst>
          </p:cNvPr>
          <p:cNvSpPr txBox="1"/>
          <p:nvPr/>
        </p:nvSpPr>
        <p:spPr>
          <a:xfrm>
            <a:off x="8281654" y="767249"/>
            <a:ext cx="341506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400" b="1" dirty="0">
                <a:solidFill>
                  <a:srgbClr val="0071BA"/>
                </a:solidFill>
                <a:latin typeface="Abadi" panose="020F0502020204030204" pitchFamily="34" charset="0"/>
              </a:rPr>
              <a:t>Probabilistic (AICc)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E6E27F-07E0-42C7-B516-4440714BD7FE}"/>
              </a:ext>
            </a:extLst>
          </p:cNvPr>
          <p:cNvSpPr txBox="1"/>
          <p:nvPr/>
        </p:nvSpPr>
        <p:spPr>
          <a:xfrm>
            <a:off x="0" y="6500060"/>
            <a:ext cx="522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bad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L. Gündersen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63AF36A-5E9E-4FF5-942A-20B916C8FE7B}"/>
              </a:ext>
            </a:extLst>
          </p:cNvPr>
          <p:cNvSpPr txBox="1">
            <a:spLocks/>
          </p:cNvSpPr>
          <p:nvPr/>
        </p:nvSpPr>
        <p:spPr>
          <a:xfrm>
            <a:off x="7964852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Part I: Regularization and Selection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63B04E-86E3-47C9-94C5-483D346E1323}"/>
              </a:ext>
            </a:extLst>
          </p:cNvPr>
          <p:cNvSpPr txBox="1"/>
          <p:nvPr/>
        </p:nvSpPr>
        <p:spPr>
          <a:xfrm>
            <a:off x="1802972" y="2653446"/>
            <a:ext cx="8839627" cy="1736646"/>
          </a:xfrm>
          <a:prstGeom prst="roundRect">
            <a:avLst/>
          </a:prstGeom>
          <a:solidFill>
            <a:srgbClr val="FF090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600" b="1" i="1" dirty="0"/>
              <a:t>Not updated!!</a:t>
            </a:r>
          </a:p>
        </p:txBody>
      </p:sp>
    </p:spTree>
    <p:extLst>
      <p:ext uri="{BB962C8B-B14F-4D97-AF65-F5344CB8AC3E}">
        <p14:creationId xmlns:p14="http://schemas.microsoft.com/office/powerpoint/2010/main" val="538505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29645-BC73-E4E5-1D8D-605D2483B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E02BF9-22EF-DAFC-4C80-8560F5E66967}"/>
              </a:ext>
            </a:extLst>
          </p:cNvPr>
          <p:cNvSpPr/>
          <p:nvPr/>
        </p:nvSpPr>
        <p:spPr>
          <a:xfrm>
            <a:off x="0" y="0"/>
            <a:ext cx="12192000" cy="664512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2ED2D0-9FFB-D80D-17F0-6AE9A5243073}"/>
              </a:ext>
            </a:extLst>
          </p:cNvPr>
          <p:cNvSpPr/>
          <p:nvPr/>
        </p:nvSpPr>
        <p:spPr>
          <a:xfrm>
            <a:off x="0" y="6449900"/>
            <a:ext cx="12192000" cy="408100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903000-527C-6751-3F25-ED2A12E10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077" y="6471387"/>
            <a:ext cx="2743200" cy="365125"/>
          </a:xfrm>
        </p:spPr>
        <p:txBody>
          <a:bodyPr/>
          <a:lstStyle/>
          <a:p>
            <a:fld id="{C45580C8-1F39-4488-AB14-6575A0DF9911}" type="slidenum">
              <a:rPr lang="en-GB" sz="180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17</a:t>
            </a:fld>
            <a:endParaRPr lang="en-GB" sz="1800" dirty="0">
              <a:solidFill>
                <a:schemeClr val="bg1"/>
              </a:solidFill>
              <a:latin typeface="Abadi" panose="020F0502020204030204" pitchFamily="34" charset="0"/>
              <a:ea typeface="+mj-ea"/>
              <a:cs typeface="+mj-cs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C86DE3B-E07E-65C5-DAB1-2E0AE6DC0894}"/>
              </a:ext>
            </a:extLst>
          </p:cNvPr>
          <p:cNvSpPr txBox="1">
            <a:spLocks/>
          </p:cNvSpPr>
          <p:nvPr/>
        </p:nvSpPr>
        <p:spPr>
          <a:xfrm>
            <a:off x="127820" y="93338"/>
            <a:ext cx="5632899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09/2026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  <a:sym typeface="Symbol" panose="05050102010706020507" pitchFamily="18" charset="2"/>
              </a:rPr>
              <a:t>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Results of different test batches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2774B37D-E457-2300-F3F1-BC336D0B0878}"/>
              </a:ext>
            </a:extLst>
          </p:cNvPr>
          <p:cNvSpPr txBox="1">
            <a:spLocks/>
          </p:cNvSpPr>
          <p:nvPr/>
        </p:nvSpPr>
        <p:spPr>
          <a:xfrm>
            <a:off x="462117" y="799139"/>
            <a:ext cx="9676494" cy="477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GB" sz="1800" dirty="0">
                <a:solidFill>
                  <a:srgbClr val="0071BA"/>
                </a:solidFill>
                <a:latin typeface="Abadi" panose="020F0502020204030204" pitchFamily="34" charset="0"/>
              </a:rPr>
              <a:t>Parity Plots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706BD6-4621-9639-A54A-FA9965C69053}"/>
              </a:ext>
            </a:extLst>
          </p:cNvPr>
          <p:cNvSpPr txBox="1"/>
          <p:nvPr/>
        </p:nvSpPr>
        <p:spPr>
          <a:xfrm>
            <a:off x="8281654" y="767249"/>
            <a:ext cx="341506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400" b="1" dirty="0">
                <a:solidFill>
                  <a:srgbClr val="0071BA"/>
                </a:solidFill>
                <a:latin typeface="Abadi" panose="020F0502020204030204" pitchFamily="34" charset="0"/>
              </a:rPr>
              <a:t>Empirical (k-fold)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9C0E563-0776-4CC5-1F20-0CB581E1F5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37095" y="1709518"/>
            <a:ext cx="3904182" cy="39041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BF9686-B3D1-7494-DFFB-60F6E10DB9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82457" y="1709518"/>
            <a:ext cx="3904182" cy="39041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70A56F-3617-2E9E-AADC-B5071F0C5E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7820" y="1713853"/>
            <a:ext cx="3904182" cy="39041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B946A2-3362-82AD-774C-D2C3CBD10304}"/>
              </a:ext>
            </a:extLst>
          </p:cNvPr>
          <p:cNvSpPr txBox="1"/>
          <p:nvPr/>
        </p:nvSpPr>
        <p:spPr>
          <a:xfrm>
            <a:off x="901421" y="1401741"/>
            <a:ext cx="235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Bottom batch as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A1DB5D-C5FC-3466-DFCE-064173401CE4}"/>
              </a:ext>
            </a:extLst>
          </p:cNvPr>
          <p:cNvSpPr txBox="1"/>
          <p:nvPr/>
        </p:nvSpPr>
        <p:spPr>
          <a:xfrm>
            <a:off x="4856058" y="1401740"/>
            <a:ext cx="235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Middle batch as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9E3F9F-C5E4-48D3-F4DD-E62B6BBE0BEF}"/>
              </a:ext>
            </a:extLst>
          </p:cNvPr>
          <p:cNvSpPr txBox="1"/>
          <p:nvPr/>
        </p:nvSpPr>
        <p:spPr>
          <a:xfrm>
            <a:off x="8810696" y="1391893"/>
            <a:ext cx="235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Top batch as Test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45C795-18B8-4863-975E-AF27603C5B5C}"/>
              </a:ext>
            </a:extLst>
          </p:cNvPr>
          <p:cNvSpPr txBox="1"/>
          <p:nvPr/>
        </p:nvSpPr>
        <p:spPr>
          <a:xfrm>
            <a:off x="0" y="6500060"/>
            <a:ext cx="522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bad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L. Gündersen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8CE32ED-E777-4780-830F-2A470BDA4455}"/>
              </a:ext>
            </a:extLst>
          </p:cNvPr>
          <p:cNvSpPr txBox="1">
            <a:spLocks/>
          </p:cNvSpPr>
          <p:nvPr/>
        </p:nvSpPr>
        <p:spPr>
          <a:xfrm>
            <a:off x="7964852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Part I: Regularization and Selection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5CC882-19D5-49B2-8F76-FE4BF1570BF4}"/>
              </a:ext>
            </a:extLst>
          </p:cNvPr>
          <p:cNvSpPr txBox="1"/>
          <p:nvPr/>
        </p:nvSpPr>
        <p:spPr>
          <a:xfrm>
            <a:off x="1802972" y="2653446"/>
            <a:ext cx="8839627" cy="1736646"/>
          </a:xfrm>
          <a:prstGeom prst="roundRect">
            <a:avLst/>
          </a:prstGeom>
          <a:solidFill>
            <a:srgbClr val="FF090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600" b="1" i="1" dirty="0"/>
              <a:t>Not updated!!</a:t>
            </a:r>
          </a:p>
        </p:txBody>
      </p:sp>
    </p:spTree>
    <p:extLst>
      <p:ext uri="{BB962C8B-B14F-4D97-AF65-F5344CB8AC3E}">
        <p14:creationId xmlns:p14="http://schemas.microsoft.com/office/powerpoint/2010/main" val="837692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3D49C-378C-004B-7D0E-D04D46238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C03C5DD-AC7E-FFA7-7ED9-A34749DA6F27}"/>
              </a:ext>
            </a:extLst>
          </p:cNvPr>
          <p:cNvSpPr/>
          <p:nvPr/>
        </p:nvSpPr>
        <p:spPr>
          <a:xfrm>
            <a:off x="0" y="0"/>
            <a:ext cx="12192000" cy="664512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A92371-AF47-67E0-AEA3-09CFC0C427B1}"/>
              </a:ext>
            </a:extLst>
          </p:cNvPr>
          <p:cNvSpPr/>
          <p:nvPr/>
        </p:nvSpPr>
        <p:spPr>
          <a:xfrm>
            <a:off x="0" y="6449900"/>
            <a:ext cx="12192000" cy="408100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C3BB56-C1EA-B090-F125-3EC7E0DCD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077" y="6471387"/>
            <a:ext cx="2743200" cy="365125"/>
          </a:xfrm>
        </p:spPr>
        <p:txBody>
          <a:bodyPr/>
          <a:lstStyle/>
          <a:p>
            <a:fld id="{C45580C8-1F39-4488-AB14-6575A0DF9911}" type="slidenum">
              <a:rPr lang="en-GB" sz="180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18</a:t>
            </a:fld>
            <a:endParaRPr lang="en-GB" sz="1800" dirty="0">
              <a:solidFill>
                <a:schemeClr val="bg1"/>
              </a:solidFill>
              <a:latin typeface="Abadi" panose="020F0502020204030204" pitchFamily="34" charset="0"/>
              <a:ea typeface="+mj-ea"/>
              <a:cs typeface="+mj-cs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71AC3F5-7189-1A33-976A-97C5DCF5B35A}"/>
              </a:ext>
            </a:extLst>
          </p:cNvPr>
          <p:cNvSpPr txBox="1">
            <a:spLocks/>
          </p:cNvSpPr>
          <p:nvPr/>
        </p:nvSpPr>
        <p:spPr>
          <a:xfrm>
            <a:off x="127820" y="93338"/>
            <a:ext cx="5632899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09/2026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  <a:sym typeface="Symbol" panose="05050102010706020507" pitchFamily="18" charset="2"/>
              </a:rPr>
              <a:t>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Results of different test batches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3C08C56-B3E4-E992-51A0-5A912A68C2CF}"/>
              </a:ext>
            </a:extLst>
          </p:cNvPr>
          <p:cNvSpPr txBox="1">
            <a:spLocks/>
          </p:cNvSpPr>
          <p:nvPr/>
        </p:nvSpPr>
        <p:spPr>
          <a:xfrm>
            <a:off x="462117" y="799139"/>
            <a:ext cx="9676494" cy="477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GB" sz="1800" dirty="0">
                <a:solidFill>
                  <a:srgbClr val="0071BA"/>
                </a:solidFill>
                <a:latin typeface="Abadi" panose="020F0502020204030204" pitchFamily="34" charset="0"/>
              </a:rPr>
              <a:t>mAb prediction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5FA2BC-8D63-E61B-9EB5-F13E56350F06}"/>
              </a:ext>
            </a:extLst>
          </p:cNvPr>
          <p:cNvSpPr txBox="1"/>
          <p:nvPr/>
        </p:nvSpPr>
        <p:spPr>
          <a:xfrm>
            <a:off x="8281654" y="767249"/>
            <a:ext cx="341506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400" b="1" dirty="0">
                <a:solidFill>
                  <a:srgbClr val="0071BA"/>
                </a:solidFill>
                <a:latin typeface="Abadi" panose="020F0502020204030204" pitchFamily="34" charset="0"/>
              </a:rPr>
              <a:t>Probabilistic (AICc)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982244-1BC8-7612-F728-F945731DC286}"/>
              </a:ext>
            </a:extLst>
          </p:cNvPr>
          <p:cNvSpPr txBox="1"/>
          <p:nvPr/>
        </p:nvSpPr>
        <p:spPr>
          <a:xfrm>
            <a:off x="1838311" y="1189330"/>
            <a:ext cx="235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Bottom batch as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E0F8AA-7D19-C4CE-4D79-E298C7C3C659}"/>
              </a:ext>
            </a:extLst>
          </p:cNvPr>
          <p:cNvSpPr txBox="1"/>
          <p:nvPr/>
        </p:nvSpPr>
        <p:spPr>
          <a:xfrm>
            <a:off x="5624989" y="1189329"/>
            <a:ext cx="235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Middle batch as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3FC303-9ADC-DF28-C9DF-F6A7D90084E6}"/>
              </a:ext>
            </a:extLst>
          </p:cNvPr>
          <p:cNvSpPr txBox="1"/>
          <p:nvPr/>
        </p:nvSpPr>
        <p:spPr>
          <a:xfrm>
            <a:off x="9021071" y="1179482"/>
            <a:ext cx="235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Top batch as Test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2E1F108-7327-E2D0-A42D-FCF5CE048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5" r="20045"/>
          <a:stretch/>
        </p:blipFill>
        <p:spPr>
          <a:xfrm>
            <a:off x="5095948" y="1486059"/>
            <a:ext cx="3415062" cy="2302990"/>
          </a:xfrm>
          <a:prstGeom prst="rect">
            <a:avLst/>
          </a:prstGeom>
          <a:ln>
            <a:noFill/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393D83B-934F-4EED-B2A2-711ADA86D8E0}"/>
              </a:ext>
            </a:extLst>
          </p:cNvPr>
          <p:cNvSpPr txBox="1"/>
          <p:nvPr/>
        </p:nvSpPr>
        <p:spPr>
          <a:xfrm>
            <a:off x="0" y="6500060"/>
            <a:ext cx="522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bad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L. Gündersen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21885C7E-A4E2-475B-A1CE-59C53013365A}"/>
              </a:ext>
            </a:extLst>
          </p:cNvPr>
          <p:cNvSpPr txBox="1">
            <a:spLocks/>
          </p:cNvSpPr>
          <p:nvPr/>
        </p:nvSpPr>
        <p:spPr>
          <a:xfrm>
            <a:off x="7964852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Part I: Regularization and Selection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5170C7-0BB8-3944-9EF7-5CA305645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27" y="4348139"/>
            <a:ext cx="4643283" cy="18759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A52B98-CFD7-DC69-2208-C954349D4F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97992" y="4315638"/>
            <a:ext cx="4643282" cy="187591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BF744F7-70A8-4BE8-8F0E-5D0485B5A837}"/>
              </a:ext>
            </a:extLst>
          </p:cNvPr>
          <p:cNvSpPr txBox="1"/>
          <p:nvPr/>
        </p:nvSpPr>
        <p:spPr>
          <a:xfrm>
            <a:off x="1574372" y="4568270"/>
            <a:ext cx="2506561" cy="1464231"/>
          </a:xfrm>
          <a:prstGeom prst="roundRect">
            <a:avLst/>
          </a:prstGeom>
          <a:solidFill>
            <a:srgbClr val="FF090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i="1" dirty="0"/>
              <a:t>Not updated</a:t>
            </a:r>
            <a:r>
              <a:rPr lang="en-US" sz="2400" b="1" i="1" dirty="0"/>
              <a:t>!!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E4BF13-FA88-431D-8B9C-42503FD25564}"/>
              </a:ext>
            </a:extLst>
          </p:cNvPr>
          <p:cNvSpPr txBox="1"/>
          <p:nvPr/>
        </p:nvSpPr>
        <p:spPr>
          <a:xfrm>
            <a:off x="5550198" y="1786742"/>
            <a:ext cx="2506561" cy="1464231"/>
          </a:xfrm>
          <a:prstGeom prst="roundRect">
            <a:avLst/>
          </a:prstGeom>
          <a:solidFill>
            <a:srgbClr val="FF090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i="1" dirty="0"/>
              <a:t>Not updated</a:t>
            </a:r>
            <a:r>
              <a:rPr lang="en-US" sz="2400" b="1" i="1" dirty="0"/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2959124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5D1D9-35AB-2C81-6F2A-BBFEC800B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45B791C-20EB-2C21-145D-DB3EEA957616}"/>
              </a:ext>
            </a:extLst>
          </p:cNvPr>
          <p:cNvSpPr/>
          <p:nvPr/>
        </p:nvSpPr>
        <p:spPr>
          <a:xfrm>
            <a:off x="0" y="0"/>
            <a:ext cx="12192000" cy="664512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43F2C0-D3B2-9B33-A310-F4AE4FCE064D}"/>
              </a:ext>
            </a:extLst>
          </p:cNvPr>
          <p:cNvSpPr/>
          <p:nvPr/>
        </p:nvSpPr>
        <p:spPr>
          <a:xfrm>
            <a:off x="0" y="6449900"/>
            <a:ext cx="12192000" cy="408100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204A6D7-1F2A-86D5-E4E5-14452B58A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077" y="6471387"/>
            <a:ext cx="2743200" cy="365125"/>
          </a:xfrm>
        </p:spPr>
        <p:txBody>
          <a:bodyPr/>
          <a:lstStyle/>
          <a:p>
            <a:fld id="{C45580C8-1F39-4488-AB14-6575A0DF9911}" type="slidenum">
              <a:rPr lang="en-GB" sz="180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19</a:t>
            </a:fld>
            <a:endParaRPr lang="en-GB" sz="1800" dirty="0">
              <a:solidFill>
                <a:schemeClr val="bg1"/>
              </a:solidFill>
              <a:latin typeface="Abadi" panose="020F0502020204030204" pitchFamily="34" charset="0"/>
              <a:ea typeface="+mj-ea"/>
              <a:cs typeface="+mj-cs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D57D27F-F579-FE3F-27D0-D64CB1C54B1B}"/>
              </a:ext>
            </a:extLst>
          </p:cNvPr>
          <p:cNvSpPr txBox="1">
            <a:spLocks/>
          </p:cNvSpPr>
          <p:nvPr/>
        </p:nvSpPr>
        <p:spPr>
          <a:xfrm>
            <a:off x="127820" y="93338"/>
            <a:ext cx="5632899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09/2026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  <a:sym typeface="Symbol" panose="05050102010706020507" pitchFamily="18" charset="2"/>
              </a:rPr>
              <a:t>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Results of different test batches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87ED3C44-91CB-FBBA-278F-2D5F01ECB554}"/>
              </a:ext>
            </a:extLst>
          </p:cNvPr>
          <p:cNvSpPr txBox="1">
            <a:spLocks/>
          </p:cNvSpPr>
          <p:nvPr/>
        </p:nvSpPr>
        <p:spPr>
          <a:xfrm>
            <a:off x="462117" y="799139"/>
            <a:ext cx="9676494" cy="477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GB" sz="1800" dirty="0">
                <a:solidFill>
                  <a:srgbClr val="0071BA"/>
                </a:solidFill>
                <a:latin typeface="Abadi" panose="020F0502020204030204" pitchFamily="34" charset="0"/>
              </a:rPr>
              <a:t>mAb prediction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0E7C74-456F-A453-F0F6-9ED9F70EBF57}"/>
              </a:ext>
            </a:extLst>
          </p:cNvPr>
          <p:cNvSpPr txBox="1"/>
          <p:nvPr/>
        </p:nvSpPr>
        <p:spPr>
          <a:xfrm>
            <a:off x="8281654" y="767249"/>
            <a:ext cx="341506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400" b="1" dirty="0">
                <a:solidFill>
                  <a:srgbClr val="0071BA"/>
                </a:solidFill>
                <a:latin typeface="Abadi" panose="020F0502020204030204" pitchFamily="34" charset="0"/>
              </a:rPr>
              <a:t>Empirical (k-fold)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13CDF-BC91-20B0-CAF3-F9000FA2869D}"/>
              </a:ext>
            </a:extLst>
          </p:cNvPr>
          <p:cNvSpPr txBox="1"/>
          <p:nvPr/>
        </p:nvSpPr>
        <p:spPr>
          <a:xfrm>
            <a:off x="1788108" y="1189330"/>
            <a:ext cx="235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Bottom batch as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A7B361-2F63-88FD-A86F-C37FC2B7D0B1}"/>
              </a:ext>
            </a:extLst>
          </p:cNvPr>
          <p:cNvSpPr txBox="1"/>
          <p:nvPr/>
        </p:nvSpPr>
        <p:spPr>
          <a:xfrm>
            <a:off x="5624989" y="1189329"/>
            <a:ext cx="235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Middle batch as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F234B0-41E6-B6E7-3617-5084D8A046B5}"/>
              </a:ext>
            </a:extLst>
          </p:cNvPr>
          <p:cNvSpPr txBox="1"/>
          <p:nvPr/>
        </p:nvSpPr>
        <p:spPr>
          <a:xfrm>
            <a:off x="9021071" y="1179482"/>
            <a:ext cx="235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Top batch as Test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911A3C-0CD5-F74D-7C65-DEAA5D990007}"/>
              </a:ext>
            </a:extLst>
          </p:cNvPr>
          <p:cNvSpPr txBox="1"/>
          <p:nvPr/>
        </p:nvSpPr>
        <p:spPr>
          <a:xfrm>
            <a:off x="0" y="2060859"/>
            <a:ext cx="12125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Bottom batch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D438AC-7469-644E-E195-C7A6DBFADE1E}"/>
              </a:ext>
            </a:extLst>
          </p:cNvPr>
          <p:cNvSpPr txBox="1"/>
          <p:nvPr/>
        </p:nvSpPr>
        <p:spPr>
          <a:xfrm>
            <a:off x="0" y="3723431"/>
            <a:ext cx="12125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Middle batch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660DA9-ABA3-D2A4-A7BD-83378A120F51}"/>
              </a:ext>
            </a:extLst>
          </p:cNvPr>
          <p:cNvSpPr txBox="1"/>
          <p:nvPr/>
        </p:nvSpPr>
        <p:spPr>
          <a:xfrm>
            <a:off x="0" y="5341658"/>
            <a:ext cx="12125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Top</a:t>
            </a:r>
          </a:p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batch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56B8C7-3460-8681-8901-1B7BBE3ED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5" r="20045"/>
          <a:stretch/>
        </p:blipFill>
        <p:spPr>
          <a:xfrm>
            <a:off x="5144599" y="1514436"/>
            <a:ext cx="3317759" cy="2237372"/>
          </a:xfrm>
          <a:prstGeom prst="rect">
            <a:avLst/>
          </a:prstGeom>
          <a:ln>
            <a:noFill/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28AE1AE-C168-8464-1A70-BAC12E9BF2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5" r="20045"/>
          <a:stretch/>
        </p:blipFill>
        <p:spPr>
          <a:xfrm>
            <a:off x="1307718" y="3954183"/>
            <a:ext cx="3317759" cy="2237372"/>
          </a:xfrm>
          <a:prstGeom prst="rect">
            <a:avLst/>
          </a:prstGeom>
          <a:ln>
            <a:noFill/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A24AD56-690C-4448-9822-5EEA52329CB4}"/>
              </a:ext>
            </a:extLst>
          </p:cNvPr>
          <p:cNvSpPr txBox="1"/>
          <p:nvPr/>
        </p:nvSpPr>
        <p:spPr>
          <a:xfrm>
            <a:off x="0" y="6500060"/>
            <a:ext cx="522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bad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L. Gündersen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3FB3334-6F47-413A-AD87-881D46AA1C73}"/>
              </a:ext>
            </a:extLst>
          </p:cNvPr>
          <p:cNvSpPr txBox="1">
            <a:spLocks/>
          </p:cNvSpPr>
          <p:nvPr/>
        </p:nvSpPr>
        <p:spPr>
          <a:xfrm>
            <a:off x="7964852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Part I: Regularization and Selection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779F5A-A1D7-AF25-7322-1A6E946D87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90668" y="4197710"/>
            <a:ext cx="4850609" cy="195967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48D3F2C-0AB6-4747-8F12-75A39D9C83A4}"/>
              </a:ext>
            </a:extLst>
          </p:cNvPr>
          <p:cNvSpPr txBox="1"/>
          <p:nvPr/>
        </p:nvSpPr>
        <p:spPr>
          <a:xfrm>
            <a:off x="1574372" y="4568270"/>
            <a:ext cx="2506561" cy="1464231"/>
          </a:xfrm>
          <a:prstGeom prst="roundRect">
            <a:avLst/>
          </a:prstGeom>
          <a:solidFill>
            <a:srgbClr val="FF090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i="1" dirty="0"/>
              <a:t>Not updated</a:t>
            </a:r>
            <a:r>
              <a:rPr lang="en-US" sz="2400" b="1" i="1" dirty="0"/>
              <a:t>!!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5D75E0-9831-4102-BE4D-7C512046E744}"/>
              </a:ext>
            </a:extLst>
          </p:cNvPr>
          <p:cNvSpPr txBox="1"/>
          <p:nvPr/>
        </p:nvSpPr>
        <p:spPr>
          <a:xfrm>
            <a:off x="5550198" y="1786742"/>
            <a:ext cx="2506561" cy="1464231"/>
          </a:xfrm>
          <a:prstGeom prst="roundRect">
            <a:avLst/>
          </a:prstGeom>
          <a:solidFill>
            <a:srgbClr val="FF090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i="1" dirty="0"/>
              <a:t>Not updated</a:t>
            </a:r>
            <a:r>
              <a:rPr lang="en-US" sz="2400" b="1" i="1" dirty="0"/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3894857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5D1D9-35AB-2C81-6F2A-BBFEC800B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45B791C-20EB-2C21-145D-DB3EEA957616}"/>
              </a:ext>
            </a:extLst>
          </p:cNvPr>
          <p:cNvSpPr/>
          <p:nvPr/>
        </p:nvSpPr>
        <p:spPr>
          <a:xfrm>
            <a:off x="0" y="0"/>
            <a:ext cx="12192000" cy="664512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43F2C0-D3B2-9B33-A310-F4AE4FCE064D}"/>
              </a:ext>
            </a:extLst>
          </p:cNvPr>
          <p:cNvSpPr/>
          <p:nvPr/>
        </p:nvSpPr>
        <p:spPr>
          <a:xfrm>
            <a:off x="0" y="6449900"/>
            <a:ext cx="12192000" cy="408100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204A6D7-1F2A-86D5-E4E5-14452B58A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077" y="6471387"/>
            <a:ext cx="2743200" cy="365125"/>
          </a:xfrm>
        </p:spPr>
        <p:txBody>
          <a:bodyPr/>
          <a:lstStyle/>
          <a:p>
            <a:fld id="{C45580C8-1F39-4488-AB14-6575A0DF9911}" type="slidenum">
              <a:rPr lang="en-GB" sz="180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20</a:t>
            </a:fld>
            <a:endParaRPr lang="en-GB" sz="1800" dirty="0">
              <a:solidFill>
                <a:schemeClr val="bg1"/>
              </a:solidFill>
              <a:latin typeface="Abadi" panose="020F0502020204030204" pitchFamily="34" charset="0"/>
              <a:ea typeface="+mj-ea"/>
              <a:cs typeface="+mj-cs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D57D27F-F579-FE3F-27D0-D64CB1C54B1B}"/>
              </a:ext>
            </a:extLst>
          </p:cNvPr>
          <p:cNvSpPr txBox="1">
            <a:spLocks/>
          </p:cNvSpPr>
          <p:nvPr/>
        </p:nvSpPr>
        <p:spPr>
          <a:xfrm>
            <a:off x="127820" y="93338"/>
            <a:ext cx="5632899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09/2026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  <a:sym typeface="Symbol" panose="05050102010706020507" pitchFamily="18" charset="2"/>
              </a:rPr>
              <a:t>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Results of different test batches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87ED3C44-91CB-FBBA-278F-2D5F01ECB554}"/>
              </a:ext>
            </a:extLst>
          </p:cNvPr>
          <p:cNvSpPr txBox="1">
            <a:spLocks/>
          </p:cNvSpPr>
          <p:nvPr/>
        </p:nvSpPr>
        <p:spPr>
          <a:xfrm>
            <a:off x="462117" y="799139"/>
            <a:ext cx="9676494" cy="477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GB" sz="1800" dirty="0">
                <a:solidFill>
                  <a:srgbClr val="0071BA"/>
                </a:solidFill>
                <a:latin typeface="Abadi" panose="020F0502020204030204" pitchFamily="34" charset="0"/>
              </a:rPr>
              <a:t>mAb prediction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0E7C74-456F-A453-F0F6-9ED9F70EBF57}"/>
              </a:ext>
            </a:extLst>
          </p:cNvPr>
          <p:cNvSpPr txBox="1"/>
          <p:nvPr/>
        </p:nvSpPr>
        <p:spPr>
          <a:xfrm>
            <a:off x="8281654" y="767249"/>
            <a:ext cx="341506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400" b="1" dirty="0">
                <a:solidFill>
                  <a:srgbClr val="0071BA"/>
                </a:solidFill>
                <a:latin typeface="Abadi" panose="020F0502020204030204" pitchFamily="34" charset="0"/>
              </a:rPr>
              <a:t>Empirical (LOOCV)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013CDF-BC91-20B0-CAF3-F9000FA2869D}"/>
              </a:ext>
            </a:extLst>
          </p:cNvPr>
          <p:cNvSpPr txBox="1"/>
          <p:nvPr/>
        </p:nvSpPr>
        <p:spPr>
          <a:xfrm>
            <a:off x="1788108" y="1189330"/>
            <a:ext cx="235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Bottom batch as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A7B361-2F63-88FD-A86F-C37FC2B7D0B1}"/>
              </a:ext>
            </a:extLst>
          </p:cNvPr>
          <p:cNvSpPr txBox="1"/>
          <p:nvPr/>
        </p:nvSpPr>
        <p:spPr>
          <a:xfrm>
            <a:off x="5624989" y="1189329"/>
            <a:ext cx="235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Middle batch as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F234B0-41E6-B6E7-3617-5084D8A046B5}"/>
              </a:ext>
            </a:extLst>
          </p:cNvPr>
          <p:cNvSpPr txBox="1"/>
          <p:nvPr/>
        </p:nvSpPr>
        <p:spPr>
          <a:xfrm>
            <a:off x="9021071" y="1179482"/>
            <a:ext cx="235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Top batch as Test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911A3C-0CD5-F74D-7C65-DEAA5D990007}"/>
              </a:ext>
            </a:extLst>
          </p:cNvPr>
          <p:cNvSpPr txBox="1"/>
          <p:nvPr/>
        </p:nvSpPr>
        <p:spPr>
          <a:xfrm>
            <a:off x="0" y="2060859"/>
            <a:ext cx="12125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Bottom batch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D438AC-7469-644E-E195-C7A6DBFADE1E}"/>
              </a:ext>
            </a:extLst>
          </p:cNvPr>
          <p:cNvSpPr txBox="1"/>
          <p:nvPr/>
        </p:nvSpPr>
        <p:spPr>
          <a:xfrm>
            <a:off x="0" y="3723431"/>
            <a:ext cx="12125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Middle batch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660DA9-ABA3-D2A4-A7BD-83378A120F51}"/>
              </a:ext>
            </a:extLst>
          </p:cNvPr>
          <p:cNvSpPr txBox="1"/>
          <p:nvPr/>
        </p:nvSpPr>
        <p:spPr>
          <a:xfrm>
            <a:off x="0" y="5341658"/>
            <a:ext cx="12125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Top</a:t>
            </a:r>
          </a:p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batch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56B8C7-3460-8681-8901-1B7BBE3ED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5" r="20045"/>
          <a:stretch/>
        </p:blipFill>
        <p:spPr>
          <a:xfrm>
            <a:off x="5144599" y="1514436"/>
            <a:ext cx="3317759" cy="2237372"/>
          </a:xfrm>
          <a:prstGeom prst="rect">
            <a:avLst/>
          </a:prstGeom>
          <a:ln>
            <a:noFill/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28AE1AE-C168-8464-1A70-BAC12E9BF2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5" r="20045"/>
          <a:stretch/>
        </p:blipFill>
        <p:spPr>
          <a:xfrm>
            <a:off x="1307718" y="3954183"/>
            <a:ext cx="3317759" cy="2237372"/>
          </a:xfrm>
          <a:prstGeom prst="rect">
            <a:avLst/>
          </a:prstGeom>
          <a:ln>
            <a:noFill/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A24AD56-690C-4448-9822-5EEA52329CB4}"/>
              </a:ext>
            </a:extLst>
          </p:cNvPr>
          <p:cNvSpPr txBox="1"/>
          <p:nvPr/>
        </p:nvSpPr>
        <p:spPr>
          <a:xfrm>
            <a:off x="0" y="6500060"/>
            <a:ext cx="522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bad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L. Gündersen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3FB3334-6F47-413A-AD87-881D46AA1C73}"/>
              </a:ext>
            </a:extLst>
          </p:cNvPr>
          <p:cNvSpPr txBox="1">
            <a:spLocks/>
          </p:cNvSpPr>
          <p:nvPr/>
        </p:nvSpPr>
        <p:spPr>
          <a:xfrm>
            <a:off x="7964852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Part I: Regularization and Selection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779F5A-A1D7-AF25-7322-1A6E946D87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90668" y="4197710"/>
            <a:ext cx="4850609" cy="195967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48D3F2C-0AB6-4747-8F12-75A39D9C83A4}"/>
              </a:ext>
            </a:extLst>
          </p:cNvPr>
          <p:cNvSpPr txBox="1"/>
          <p:nvPr/>
        </p:nvSpPr>
        <p:spPr>
          <a:xfrm>
            <a:off x="1574372" y="4568270"/>
            <a:ext cx="2506561" cy="1464231"/>
          </a:xfrm>
          <a:prstGeom prst="roundRect">
            <a:avLst/>
          </a:prstGeom>
          <a:solidFill>
            <a:srgbClr val="FF090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i="1" dirty="0"/>
              <a:t>Not updated</a:t>
            </a:r>
            <a:r>
              <a:rPr lang="en-US" sz="2400" b="1" i="1" dirty="0"/>
              <a:t>!!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5D75E0-9831-4102-BE4D-7C512046E744}"/>
              </a:ext>
            </a:extLst>
          </p:cNvPr>
          <p:cNvSpPr txBox="1"/>
          <p:nvPr/>
        </p:nvSpPr>
        <p:spPr>
          <a:xfrm>
            <a:off x="5550198" y="1786742"/>
            <a:ext cx="2506561" cy="1464231"/>
          </a:xfrm>
          <a:prstGeom prst="roundRect">
            <a:avLst/>
          </a:prstGeom>
          <a:solidFill>
            <a:srgbClr val="FF090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i="1" dirty="0"/>
              <a:t>Not updated</a:t>
            </a:r>
            <a:r>
              <a:rPr lang="en-US" sz="2400" b="1" i="1" dirty="0"/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3559972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473F0-2535-20B8-4855-A4986E3B8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F35E1F6-A35C-523A-4F41-C557DEDD817C}"/>
              </a:ext>
            </a:extLst>
          </p:cNvPr>
          <p:cNvSpPr/>
          <p:nvPr/>
        </p:nvSpPr>
        <p:spPr>
          <a:xfrm>
            <a:off x="0" y="0"/>
            <a:ext cx="12192000" cy="664512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599DA8-9283-B005-FB83-C227DB61D092}"/>
              </a:ext>
            </a:extLst>
          </p:cNvPr>
          <p:cNvSpPr/>
          <p:nvPr/>
        </p:nvSpPr>
        <p:spPr>
          <a:xfrm>
            <a:off x="0" y="6449900"/>
            <a:ext cx="12192000" cy="408100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C14358D-6392-BF63-42D5-31B147BBD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077" y="6471387"/>
            <a:ext cx="2743200" cy="365125"/>
          </a:xfrm>
        </p:spPr>
        <p:txBody>
          <a:bodyPr/>
          <a:lstStyle/>
          <a:p>
            <a:fld id="{C45580C8-1F39-4488-AB14-6575A0DF9911}" type="slidenum">
              <a:rPr lang="en-GB" sz="180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21</a:t>
            </a:fld>
            <a:endParaRPr lang="en-GB" sz="1800" dirty="0">
              <a:solidFill>
                <a:schemeClr val="bg1"/>
              </a:solidFill>
              <a:latin typeface="Abadi" panose="020F0502020204030204" pitchFamily="34" charset="0"/>
              <a:ea typeface="+mj-ea"/>
              <a:cs typeface="+mj-cs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42DE8A3-8D7A-954B-8BD6-03DCFA843358}"/>
              </a:ext>
            </a:extLst>
          </p:cNvPr>
          <p:cNvSpPr txBox="1">
            <a:spLocks/>
          </p:cNvSpPr>
          <p:nvPr/>
        </p:nvSpPr>
        <p:spPr>
          <a:xfrm>
            <a:off x="127820" y="93338"/>
            <a:ext cx="5632899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09/2026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  <a:sym typeface="Symbol" panose="05050102010706020507" pitchFamily="18" charset="2"/>
              </a:rPr>
              <a:t>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Results of different test batches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5F9BF41-6E2C-FCE4-7B36-F8051306709E}"/>
              </a:ext>
            </a:extLst>
          </p:cNvPr>
          <p:cNvSpPr txBox="1">
            <a:spLocks/>
          </p:cNvSpPr>
          <p:nvPr/>
        </p:nvSpPr>
        <p:spPr>
          <a:xfrm>
            <a:off x="462117" y="799139"/>
            <a:ext cx="9676494" cy="477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GB" sz="1800" dirty="0">
                <a:solidFill>
                  <a:srgbClr val="0071BA"/>
                </a:solidFill>
                <a:latin typeface="Abadi" panose="020F0502020204030204" pitchFamily="34" charset="0"/>
              </a:rPr>
              <a:t>Prediction curves for all species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A082D7-96D4-F089-9D15-502D656ABB49}"/>
              </a:ext>
            </a:extLst>
          </p:cNvPr>
          <p:cNvSpPr txBox="1"/>
          <p:nvPr/>
        </p:nvSpPr>
        <p:spPr>
          <a:xfrm>
            <a:off x="8281654" y="767249"/>
            <a:ext cx="341506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400" b="1" dirty="0">
                <a:solidFill>
                  <a:srgbClr val="0071BA"/>
                </a:solidFill>
                <a:latin typeface="Abadi" panose="020F0502020204030204" pitchFamily="34" charset="0"/>
              </a:rPr>
              <a:t>Probabilistic (AICc)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F34E40-8C34-4D99-5DE0-F63B9667C11F}"/>
              </a:ext>
            </a:extLst>
          </p:cNvPr>
          <p:cNvSpPr txBox="1"/>
          <p:nvPr/>
        </p:nvSpPr>
        <p:spPr>
          <a:xfrm>
            <a:off x="1788108" y="1189330"/>
            <a:ext cx="235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Bottom batch as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EAE924-E3EF-D159-0204-16B03E721EBC}"/>
              </a:ext>
            </a:extLst>
          </p:cNvPr>
          <p:cNvSpPr txBox="1"/>
          <p:nvPr/>
        </p:nvSpPr>
        <p:spPr>
          <a:xfrm>
            <a:off x="5624989" y="1189329"/>
            <a:ext cx="235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Middle batch as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AA62DF-DC0D-6FF0-04FD-22EF31BB2DA0}"/>
              </a:ext>
            </a:extLst>
          </p:cNvPr>
          <p:cNvSpPr txBox="1"/>
          <p:nvPr/>
        </p:nvSpPr>
        <p:spPr>
          <a:xfrm>
            <a:off x="9021071" y="1179482"/>
            <a:ext cx="235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Top batch as Test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1C5058-EA5D-1D42-EF91-7681CB9F38F5}"/>
              </a:ext>
            </a:extLst>
          </p:cNvPr>
          <p:cNvSpPr txBox="1"/>
          <p:nvPr/>
        </p:nvSpPr>
        <p:spPr>
          <a:xfrm>
            <a:off x="0" y="2060859"/>
            <a:ext cx="12125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Bottom batch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9FE95A-7778-35C6-87A3-2D100AEC9852}"/>
              </a:ext>
            </a:extLst>
          </p:cNvPr>
          <p:cNvSpPr txBox="1"/>
          <p:nvPr/>
        </p:nvSpPr>
        <p:spPr>
          <a:xfrm>
            <a:off x="0" y="3723431"/>
            <a:ext cx="12125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Middle batch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5FC7F6-C7E9-82E7-AAEA-32E96E791952}"/>
              </a:ext>
            </a:extLst>
          </p:cNvPr>
          <p:cNvSpPr txBox="1"/>
          <p:nvPr/>
        </p:nvSpPr>
        <p:spPr>
          <a:xfrm>
            <a:off x="0" y="5341658"/>
            <a:ext cx="12125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Top</a:t>
            </a:r>
          </a:p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batch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90E2C2-00A2-8D7A-5E01-194761663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" r="273"/>
          <a:stretch/>
        </p:blipFill>
        <p:spPr>
          <a:xfrm>
            <a:off x="5574786" y="1487259"/>
            <a:ext cx="2457386" cy="16571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12F0B8C-7990-475E-2F0C-657592DAEC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" r="273"/>
          <a:stretch/>
        </p:blipFill>
        <p:spPr>
          <a:xfrm>
            <a:off x="5574787" y="3145519"/>
            <a:ext cx="2457385" cy="16571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DC86A75-CCD4-15B3-C4BD-9F82A6A65F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" r="1786"/>
          <a:stretch/>
        </p:blipFill>
        <p:spPr>
          <a:xfrm>
            <a:off x="5612159" y="4746789"/>
            <a:ext cx="2382641" cy="165716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D31FC0C-D007-E0C8-F771-D95221A666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" r="273"/>
          <a:stretch/>
        </p:blipFill>
        <p:spPr>
          <a:xfrm>
            <a:off x="1737905" y="1486059"/>
            <a:ext cx="2457386" cy="16571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883A9A3-AC6F-39F7-AF7F-DA9C9F0A25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" r="273"/>
          <a:stretch/>
        </p:blipFill>
        <p:spPr>
          <a:xfrm>
            <a:off x="1737906" y="3144319"/>
            <a:ext cx="2457385" cy="165716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59A81ED-3C6B-C309-C272-9E10E61EA8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" r="1786"/>
          <a:stretch/>
        </p:blipFill>
        <p:spPr>
          <a:xfrm>
            <a:off x="1775278" y="4745589"/>
            <a:ext cx="2382641" cy="165716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CDFABEA-C409-233C-3143-B357777760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" r="273"/>
          <a:stretch/>
        </p:blipFill>
        <p:spPr>
          <a:xfrm>
            <a:off x="8970868" y="1486059"/>
            <a:ext cx="2457386" cy="165716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1F78059-ADED-7994-9560-525C9F6D25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" r="273"/>
          <a:stretch/>
        </p:blipFill>
        <p:spPr>
          <a:xfrm>
            <a:off x="8969580" y="3139394"/>
            <a:ext cx="2457385" cy="165716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7C74A45-2D49-434B-C821-FE06F612AE6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" r="1786"/>
          <a:stretch/>
        </p:blipFill>
        <p:spPr>
          <a:xfrm>
            <a:off x="9006951" y="4797110"/>
            <a:ext cx="2382641" cy="165716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2794C95-5D20-4E6B-BC7C-EF5B88119AA5}"/>
              </a:ext>
            </a:extLst>
          </p:cNvPr>
          <p:cNvSpPr txBox="1"/>
          <p:nvPr/>
        </p:nvSpPr>
        <p:spPr>
          <a:xfrm>
            <a:off x="0" y="6500060"/>
            <a:ext cx="522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bad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L. Gündersen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4614417-3356-447E-A7ED-852B1DF6F01F}"/>
              </a:ext>
            </a:extLst>
          </p:cNvPr>
          <p:cNvSpPr txBox="1">
            <a:spLocks/>
          </p:cNvSpPr>
          <p:nvPr/>
        </p:nvSpPr>
        <p:spPr>
          <a:xfrm>
            <a:off x="7964852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Part I: Regularization and Selection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0ADF30-1E9A-410A-9D84-0FF7C2A136EC}"/>
              </a:ext>
            </a:extLst>
          </p:cNvPr>
          <p:cNvSpPr txBox="1"/>
          <p:nvPr/>
        </p:nvSpPr>
        <p:spPr>
          <a:xfrm rot="5400000">
            <a:off x="619067" y="3458787"/>
            <a:ext cx="4695061" cy="1123712"/>
          </a:xfrm>
          <a:prstGeom prst="roundRect">
            <a:avLst/>
          </a:prstGeom>
          <a:solidFill>
            <a:srgbClr val="FF090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i="1" dirty="0"/>
              <a:t>Not updated</a:t>
            </a:r>
            <a:r>
              <a:rPr lang="en-US" sz="4000" b="1" i="1" dirty="0"/>
              <a:t>!!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513E87-3A75-4C0F-BE9E-31E87B4752EE}"/>
              </a:ext>
            </a:extLst>
          </p:cNvPr>
          <p:cNvSpPr txBox="1"/>
          <p:nvPr/>
        </p:nvSpPr>
        <p:spPr>
          <a:xfrm rot="5400000">
            <a:off x="4579616" y="3458787"/>
            <a:ext cx="4695061" cy="1123712"/>
          </a:xfrm>
          <a:prstGeom prst="roundRect">
            <a:avLst/>
          </a:prstGeom>
          <a:solidFill>
            <a:srgbClr val="FF090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i="1" dirty="0"/>
              <a:t>Not updated</a:t>
            </a:r>
            <a:r>
              <a:rPr lang="en-US" sz="4000" b="1" i="1" dirty="0"/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18770289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46EBE-FB73-E38E-14F5-76A11B010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9E838A-CB33-CA5A-BD3A-748AB45AFA80}"/>
              </a:ext>
            </a:extLst>
          </p:cNvPr>
          <p:cNvSpPr/>
          <p:nvPr/>
        </p:nvSpPr>
        <p:spPr>
          <a:xfrm>
            <a:off x="0" y="0"/>
            <a:ext cx="12192000" cy="664512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592E41-C554-EFDF-E74D-35D7DD73ACF8}"/>
              </a:ext>
            </a:extLst>
          </p:cNvPr>
          <p:cNvSpPr/>
          <p:nvPr/>
        </p:nvSpPr>
        <p:spPr>
          <a:xfrm>
            <a:off x="0" y="6449900"/>
            <a:ext cx="12192000" cy="408100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81D7E6C-609B-5057-43EC-C53561E8C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077" y="6471387"/>
            <a:ext cx="2743200" cy="365125"/>
          </a:xfrm>
        </p:spPr>
        <p:txBody>
          <a:bodyPr/>
          <a:lstStyle/>
          <a:p>
            <a:fld id="{C45580C8-1F39-4488-AB14-6575A0DF9911}" type="slidenum">
              <a:rPr lang="en-GB" sz="180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22</a:t>
            </a:fld>
            <a:endParaRPr lang="en-GB" sz="1800" dirty="0">
              <a:solidFill>
                <a:schemeClr val="bg1"/>
              </a:solidFill>
              <a:latin typeface="Abadi" panose="020F0502020204030204" pitchFamily="34" charset="0"/>
              <a:ea typeface="+mj-ea"/>
              <a:cs typeface="+mj-cs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A46B401-0ECD-7E14-03A9-96B86EC12DB2}"/>
              </a:ext>
            </a:extLst>
          </p:cNvPr>
          <p:cNvSpPr txBox="1">
            <a:spLocks/>
          </p:cNvSpPr>
          <p:nvPr/>
        </p:nvSpPr>
        <p:spPr>
          <a:xfrm>
            <a:off x="127820" y="93338"/>
            <a:ext cx="5632899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09/2026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  <a:sym typeface="Symbol" panose="05050102010706020507" pitchFamily="18" charset="2"/>
              </a:rPr>
              <a:t>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Results of different test batches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DF234DC-A14F-3F10-5D95-9DD9A3DBE2D5}"/>
              </a:ext>
            </a:extLst>
          </p:cNvPr>
          <p:cNvSpPr txBox="1">
            <a:spLocks/>
          </p:cNvSpPr>
          <p:nvPr/>
        </p:nvSpPr>
        <p:spPr>
          <a:xfrm>
            <a:off x="462117" y="799139"/>
            <a:ext cx="9676494" cy="477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GB" sz="1800" dirty="0">
                <a:solidFill>
                  <a:srgbClr val="0071BA"/>
                </a:solidFill>
                <a:latin typeface="Abadi" panose="020F0502020204030204" pitchFamily="34" charset="0"/>
              </a:rPr>
              <a:t>Prediction curves for all species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9491BB-FEEF-ED30-1EF4-6587625AAE10}"/>
              </a:ext>
            </a:extLst>
          </p:cNvPr>
          <p:cNvSpPr txBox="1"/>
          <p:nvPr/>
        </p:nvSpPr>
        <p:spPr>
          <a:xfrm>
            <a:off x="8281654" y="767249"/>
            <a:ext cx="341506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400" b="1" dirty="0">
                <a:solidFill>
                  <a:srgbClr val="0071BA"/>
                </a:solidFill>
                <a:latin typeface="Abadi" panose="020F0502020204030204" pitchFamily="34" charset="0"/>
              </a:rPr>
              <a:t>Empirical (k-fold)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5CCAB2-18EF-DB53-64C3-7C1EBDB230F1}"/>
              </a:ext>
            </a:extLst>
          </p:cNvPr>
          <p:cNvSpPr txBox="1"/>
          <p:nvPr/>
        </p:nvSpPr>
        <p:spPr>
          <a:xfrm>
            <a:off x="1788108" y="1189330"/>
            <a:ext cx="235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Bottom batch as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340801-3F0F-FA81-F37B-56D7B0416D66}"/>
              </a:ext>
            </a:extLst>
          </p:cNvPr>
          <p:cNvSpPr txBox="1"/>
          <p:nvPr/>
        </p:nvSpPr>
        <p:spPr>
          <a:xfrm>
            <a:off x="5624989" y="1189329"/>
            <a:ext cx="235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Middle batch as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74A9B6-79C3-44FE-B89E-420BA9D49AB0}"/>
              </a:ext>
            </a:extLst>
          </p:cNvPr>
          <p:cNvSpPr txBox="1"/>
          <p:nvPr/>
        </p:nvSpPr>
        <p:spPr>
          <a:xfrm>
            <a:off x="9021071" y="1179482"/>
            <a:ext cx="235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Top batch as Test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6599C6-5A76-4D14-0373-03BC9B131B67}"/>
              </a:ext>
            </a:extLst>
          </p:cNvPr>
          <p:cNvSpPr txBox="1"/>
          <p:nvPr/>
        </p:nvSpPr>
        <p:spPr>
          <a:xfrm>
            <a:off x="0" y="2060859"/>
            <a:ext cx="12125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Bottom batch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7DD7B5-C538-3513-2CC3-FBF092D28FB7}"/>
              </a:ext>
            </a:extLst>
          </p:cNvPr>
          <p:cNvSpPr txBox="1"/>
          <p:nvPr/>
        </p:nvSpPr>
        <p:spPr>
          <a:xfrm>
            <a:off x="0" y="3723431"/>
            <a:ext cx="12125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Middle batch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47BB18-5ED1-2619-BB16-14D6B51188EC}"/>
              </a:ext>
            </a:extLst>
          </p:cNvPr>
          <p:cNvSpPr txBox="1"/>
          <p:nvPr/>
        </p:nvSpPr>
        <p:spPr>
          <a:xfrm>
            <a:off x="0" y="5341658"/>
            <a:ext cx="12125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Top</a:t>
            </a:r>
          </a:p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batch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D525783-EA2F-B1AC-E6ED-8B7134B50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" r="273"/>
          <a:stretch/>
        </p:blipFill>
        <p:spPr>
          <a:xfrm>
            <a:off x="5574786" y="1487259"/>
            <a:ext cx="2457386" cy="16571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49B592A-5D96-D2A3-F481-AC074C28C9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" r="273"/>
          <a:stretch/>
        </p:blipFill>
        <p:spPr>
          <a:xfrm>
            <a:off x="5574787" y="3145519"/>
            <a:ext cx="2457385" cy="16571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D19AEF3-1926-B679-075B-B2952C1F94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" r="1786"/>
          <a:stretch/>
        </p:blipFill>
        <p:spPr>
          <a:xfrm>
            <a:off x="5612159" y="4746789"/>
            <a:ext cx="2382641" cy="165716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1636ACD-A98B-7013-CE7D-7C75203C8B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" r="273"/>
          <a:stretch/>
        </p:blipFill>
        <p:spPr>
          <a:xfrm>
            <a:off x="1737905" y="1486059"/>
            <a:ext cx="2457386" cy="16571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8273B6A-7E02-1DBB-3B4C-43EBEC595C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" r="273"/>
          <a:stretch/>
        </p:blipFill>
        <p:spPr>
          <a:xfrm>
            <a:off x="1737906" y="3144319"/>
            <a:ext cx="2457385" cy="165716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5480D2A-0E0F-2EE4-5243-322739E2D3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" r="1786"/>
          <a:stretch/>
        </p:blipFill>
        <p:spPr>
          <a:xfrm>
            <a:off x="1775278" y="4745589"/>
            <a:ext cx="2382641" cy="165716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494093E-C61B-4986-3436-019C1FC4D6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" r="273"/>
          <a:stretch/>
        </p:blipFill>
        <p:spPr>
          <a:xfrm>
            <a:off x="8970868" y="1486059"/>
            <a:ext cx="2457386" cy="165716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B5305F4-DAE5-430C-E828-660CD5606E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" r="273"/>
          <a:stretch/>
        </p:blipFill>
        <p:spPr>
          <a:xfrm>
            <a:off x="8969580" y="3139394"/>
            <a:ext cx="2457385" cy="165716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9DD1EC0-FDBB-0131-1058-AF620E687F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" r="1786"/>
          <a:stretch/>
        </p:blipFill>
        <p:spPr>
          <a:xfrm>
            <a:off x="9006951" y="4797110"/>
            <a:ext cx="2382641" cy="165716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D9370E3-E07B-4D42-80AF-DE0724C37722}"/>
              </a:ext>
            </a:extLst>
          </p:cNvPr>
          <p:cNvSpPr txBox="1"/>
          <p:nvPr/>
        </p:nvSpPr>
        <p:spPr>
          <a:xfrm>
            <a:off x="0" y="6500060"/>
            <a:ext cx="522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bad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L. Gündersen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2AF4084A-4D87-4AFC-BFAB-6FC2C65791B1}"/>
              </a:ext>
            </a:extLst>
          </p:cNvPr>
          <p:cNvSpPr txBox="1">
            <a:spLocks/>
          </p:cNvSpPr>
          <p:nvPr/>
        </p:nvSpPr>
        <p:spPr>
          <a:xfrm>
            <a:off x="7964852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Part I: Regularization and Selection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7ADC14-63CA-4816-886A-15A103647F2B}"/>
              </a:ext>
            </a:extLst>
          </p:cNvPr>
          <p:cNvSpPr txBox="1"/>
          <p:nvPr/>
        </p:nvSpPr>
        <p:spPr>
          <a:xfrm rot="5400000">
            <a:off x="619067" y="3458787"/>
            <a:ext cx="4695061" cy="1123712"/>
          </a:xfrm>
          <a:prstGeom prst="roundRect">
            <a:avLst/>
          </a:prstGeom>
          <a:solidFill>
            <a:srgbClr val="FF090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i="1" dirty="0"/>
              <a:t>Not updated</a:t>
            </a:r>
            <a:r>
              <a:rPr lang="en-US" sz="4000" b="1" i="1" dirty="0"/>
              <a:t>!!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8D54CE-F5C6-4EC9-A5F4-B860B40D0675}"/>
              </a:ext>
            </a:extLst>
          </p:cNvPr>
          <p:cNvSpPr txBox="1"/>
          <p:nvPr/>
        </p:nvSpPr>
        <p:spPr>
          <a:xfrm rot="5400000">
            <a:off x="4579616" y="3458787"/>
            <a:ext cx="4695061" cy="1123712"/>
          </a:xfrm>
          <a:prstGeom prst="roundRect">
            <a:avLst/>
          </a:prstGeom>
          <a:solidFill>
            <a:srgbClr val="FF090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i="1" dirty="0"/>
              <a:t>Not updated</a:t>
            </a:r>
            <a:r>
              <a:rPr lang="en-US" sz="4000" b="1" i="1" dirty="0"/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684698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46EBE-FB73-E38E-14F5-76A11B010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9E838A-CB33-CA5A-BD3A-748AB45AFA80}"/>
              </a:ext>
            </a:extLst>
          </p:cNvPr>
          <p:cNvSpPr/>
          <p:nvPr/>
        </p:nvSpPr>
        <p:spPr>
          <a:xfrm>
            <a:off x="0" y="0"/>
            <a:ext cx="12192000" cy="664512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592E41-C554-EFDF-E74D-35D7DD73ACF8}"/>
              </a:ext>
            </a:extLst>
          </p:cNvPr>
          <p:cNvSpPr/>
          <p:nvPr/>
        </p:nvSpPr>
        <p:spPr>
          <a:xfrm>
            <a:off x="0" y="6449900"/>
            <a:ext cx="12192000" cy="408100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81D7E6C-609B-5057-43EC-C53561E8C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077" y="6471387"/>
            <a:ext cx="2743200" cy="365125"/>
          </a:xfrm>
        </p:spPr>
        <p:txBody>
          <a:bodyPr/>
          <a:lstStyle/>
          <a:p>
            <a:fld id="{C45580C8-1F39-4488-AB14-6575A0DF9911}" type="slidenum">
              <a:rPr lang="en-GB" sz="180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23</a:t>
            </a:fld>
            <a:endParaRPr lang="en-GB" sz="1800" dirty="0">
              <a:solidFill>
                <a:schemeClr val="bg1"/>
              </a:solidFill>
              <a:latin typeface="Abadi" panose="020F0502020204030204" pitchFamily="34" charset="0"/>
              <a:ea typeface="+mj-ea"/>
              <a:cs typeface="+mj-cs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A46B401-0ECD-7E14-03A9-96B86EC12DB2}"/>
              </a:ext>
            </a:extLst>
          </p:cNvPr>
          <p:cNvSpPr txBox="1">
            <a:spLocks/>
          </p:cNvSpPr>
          <p:nvPr/>
        </p:nvSpPr>
        <p:spPr>
          <a:xfrm>
            <a:off x="127820" y="93338"/>
            <a:ext cx="5632899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09/2026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  <a:sym typeface="Symbol" panose="05050102010706020507" pitchFamily="18" charset="2"/>
              </a:rPr>
              <a:t>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Results of different test batches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DF234DC-A14F-3F10-5D95-9DD9A3DBE2D5}"/>
              </a:ext>
            </a:extLst>
          </p:cNvPr>
          <p:cNvSpPr txBox="1">
            <a:spLocks/>
          </p:cNvSpPr>
          <p:nvPr/>
        </p:nvSpPr>
        <p:spPr>
          <a:xfrm>
            <a:off x="462117" y="799139"/>
            <a:ext cx="9676494" cy="477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GB" sz="1800" dirty="0">
                <a:solidFill>
                  <a:srgbClr val="0071BA"/>
                </a:solidFill>
                <a:latin typeface="Abadi" panose="020F0502020204030204" pitchFamily="34" charset="0"/>
              </a:rPr>
              <a:t>Prediction curves for all species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9491BB-FEEF-ED30-1EF4-6587625AAE10}"/>
              </a:ext>
            </a:extLst>
          </p:cNvPr>
          <p:cNvSpPr txBox="1"/>
          <p:nvPr/>
        </p:nvSpPr>
        <p:spPr>
          <a:xfrm>
            <a:off x="8281654" y="767249"/>
            <a:ext cx="341506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400" b="1" dirty="0">
                <a:solidFill>
                  <a:srgbClr val="0071BA"/>
                </a:solidFill>
                <a:latin typeface="Abadi" panose="020F0502020204030204" pitchFamily="34" charset="0"/>
              </a:rPr>
              <a:t>Empirical (LOOCV)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5CCAB2-18EF-DB53-64C3-7C1EBDB230F1}"/>
              </a:ext>
            </a:extLst>
          </p:cNvPr>
          <p:cNvSpPr txBox="1"/>
          <p:nvPr/>
        </p:nvSpPr>
        <p:spPr>
          <a:xfrm>
            <a:off x="1788108" y="1189330"/>
            <a:ext cx="235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Bottom batch as 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340801-3F0F-FA81-F37B-56D7B0416D66}"/>
              </a:ext>
            </a:extLst>
          </p:cNvPr>
          <p:cNvSpPr txBox="1"/>
          <p:nvPr/>
        </p:nvSpPr>
        <p:spPr>
          <a:xfrm>
            <a:off x="5624989" y="1189329"/>
            <a:ext cx="235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Middle batch as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74A9B6-79C3-44FE-B89E-420BA9D49AB0}"/>
              </a:ext>
            </a:extLst>
          </p:cNvPr>
          <p:cNvSpPr txBox="1"/>
          <p:nvPr/>
        </p:nvSpPr>
        <p:spPr>
          <a:xfrm>
            <a:off x="9021071" y="1179482"/>
            <a:ext cx="2356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Top batch as Test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6599C6-5A76-4D14-0373-03BC9B131B67}"/>
              </a:ext>
            </a:extLst>
          </p:cNvPr>
          <p:cNvSpPr txBox="1"/>
          <p:nvPr/>
        </p:nvSpPr>
        <p:spPr>
          <a:xfrm>
            <a:off x="0" y="2060859"/>
            <a:ext cx="12125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Bottom batch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7DD7B5-C538-3513-2CC3-FBF092D28FB7}"/>
              </a:ext>
            </a:extLst>
          </p:cNvPr>
          <p:cNvSpPr txBox="1"/>
          <p:nvPr/>
        </p:nvSpPr>
        <p:spPr>
          <a:xfrm>
            <a:off x="0" y="3723431"/>
            <a:ext cx="12125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Middle batch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47BB18-5ED1-2619-BB16-14D6B51188EC}"/>
              </a:ext>
            </a:extLst>
          </p:cNvPr>
          <p:cNvSpPr txBox="1"/>
          <p:nvPr/>
        </p:nvSpPr>
        <p:spPr>
          <a:xfrm>
            <a:off x="0" y="5341658"/>
            <a:ext cx="12125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Top</a:t>
            </a:r>
          </a:p>
          <a:p>
            <a:pPr algn="ctr"/>
            <a:r>
              <a:rPr lang="en-GB" sz="1400" b="1" dirty="0">
                <a:solidFill>
                  <a:srgbClr val="0071BA"/>
                </a:solidFill>
                <a:latin typeface="Abadi" panose="020F0502020204030204" pitchFamily="34" charset="0"/>
              </a:rPr>
              <a:t>batch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D525783-EA2F-B1AC-E6ED-8B7134B50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" r="273"/>
          <a:stretch/>
        </p:blipFill>
        <p:spPr>
          <a:xfrm>
            <a:off x="5574786" y="1487259"/>
            <a:ext cx="2457386" cy="16571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49B592A-5D96-D2A3-F481-AC074C28C9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" r="273"/>
          <a:stretch/>
        </p:blipFill>
        <p:spPr>
          <a:xfrm>
            <a:off x="5574787" y="3145519"/>
            <a:ext cx="2457385" cy="16571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D19AEF3-1926-B679-075B-B2952C1F94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" r="1786"/>
          <a:stretch/>
        </p:blipFill>
        <p:spPr>
          <a:xfrm>
            <a:off x="5612159" y="4746789"/>
            <a:ext cx="2382641" cy="165716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1636ACD-A98B-7013-CE7D-7C75203C8B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" r="273"/>
          <a:stretch/>
        </p:blipFill>
        <p:spPr>
          <a:xfrm>
            <a:off x="1737905" y="1486059"/>
            <a:ext cx="2457386" cy="16571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8273B6A-7E02-1DBB-3B4C-43EBEC595C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" r="273"/>
          <a:stretch/>
        </p:blipFill>
        <p:spPr>
          <a:xfrm>
            <a:off x="1737906" y="3144319"/>
            <a:ext cx="2457385" cy="165716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5480D2A-0E0F-2EE4-5243-322739E2D3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" r="1786"/>
          <a:stretch/>
        </p:blipFill>
        <p:spPr>
          <a:xfrm>
            <a:off x="1775278" y="4745589"/>
            <a:ext cx="2382641" cy="165716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494093E-C61B-4986-3436-019C1FC4D6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" r="273"/>
          <a:stretch/>
        </p:blipFill>
        <p:spPr>
          <a:xfrm>
            <a:off x="8970868" y="1486059"/>
            <a:ext cx="2457386" cy="165716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B5305F4-DAE5-430C-E828-660CD5606E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" r="273"/>
          <a:stretch/>
        </p:blipFill>
        <p:spPr>
          <a:xfrm>
            <a:off x="8969580" y="3139394"/>
            <a:ext cx="2457385" cy="165716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9DD1EC0-FDBB-0131-1058-AF620E687F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" r="1786"/>
          <a:stretch/>
        </p:blipFill>
        <p:spPr>
          <a:xfrm>
            <a:off x="9006951" y="4797110"/>
            <a:ext cx="2382641" cy="165716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D9370E3-E07B-4D42-80AF-DE0724C37722}"/>
              </a:ext>
            </a:extLst>
          </p:cNvPr>
          <p:cNvSpPr txBox="1"/>
          <p:nvPr/>
        </p:nvSpPr>
        <p:spPr>
          <a:xfrm>
            <a:off x="0" y="6500060"/>
            <a:ext cx="522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bad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L. Gündersen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2AF4084A-4D87-4AFC-BFAB-6FC2C65791B1}"/>
              </a:ext>
            </a:extLst>
          </p:cNvPr>
          <p:cNvSpPr txBox="1">
            <a:spLocks/>
          </p:cNvSpPr>
          <p:nvPr/>
        </p:nvSpPr>
        <p:spPr>
          <a:xfrm>
            <a:off x="7964852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Part I: Regularization and Selection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7ADC14-63CA-4816-886A-15A103647F2B}"/>
              </a:ext>
            </a:extLst>
          </p:cNvPr>
          <p:cNvSpPr txBox="1"/>
          <p:nvPr/>
        </p:nvSpPr>
        <p:spPr>
          <a:xfrm rot="5400000">
            <a:off x="619067" y="3458787"/>
            <a:ext cx="4695061" cy="1123712"/>
          </a:xfrm>
          <a:prstGeom prst="roundRect">
            <a:avLst/>
          </a:prstGeom>
          <a:solidFill>
            <a:srgbClr val="FF090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i="1" dirty="0"/>
              <a:t>Not updated</a:t>
            </a:r>
            <a:r>
              <a:rPr lang="en-US" sz="4000" b="1" i="1" dirty="0"/>
              <a:t>!!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8D54CE-F5C6-4EC9-A5F4-B860B40D0675}"/>
              </a:ext>
            </a:extLst>
          </p:cNvPr>
          <p:cNvSpPr txBox="1"/>
          <p:nvPr/>
        </p:nvSpPr>
        <p:spPr>
          <a:xfrm rot="5400000">
            <a:off x="4579616" y="3458787"/>
            <a:ext cx="4695061" cy="1123712"/>
          </a:xfrm>
          <a:prstGeom prst="roundRect">
            <a:avLst/>
          </a:prstGeom>
          <a:solidFill>
            <a:srgbClr val="FF090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i="1" dirty="0"/>
              <a:t>Not updated</a:t>
            </a:r>
            <a:r>
              <a:rPr lang="en-US" sz="4000" b="1" i="1" dirty="0"/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20032386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F72B1E9-76F2-705A-0740-FAA84D5EE711}"/>
              </a:ext>
            </a:extLst>
          </p:cNvPr>
          <p:cNvSpPr/>
          <p:nvPr/>
        </p:nvSpPr>
        <p:spPr>
          <a:xfrm>
            <a:off x="0" y="6449900"/>
            <a:ext cx="12192000" cy="408100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5FC722-FE00-50EF-E835-F378FFDAA2F7}"/>
              </a:ext>
            </a:extLst>
          </p:cNvPr>
          <p:cNvSpPr/>
          <p:nvPr/>
        </p:nvSpPr>
        <p:spPr>
          <a:xfrm>
            <a:off x="0" y="21488"/>
            <a:ext cx="12192000" cy="664512"/>
          </a:xfrm>
          <a:prstGeom prst="rect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A10065-4FE3-0EDD-1066-EA909469B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583" y="884796"/>
            <a:ext cx="3042201" cy="499524"/>
          </a:xfrm>
        </p:spPr>
        <p:txBody>
          <a:bodyPr>
            <a:normAutofit fontScale="90000"/>
          </a:bodyPr>
          <a:lstStyle/>
          <a:p>
            <a:r>
              <a:rPr lang="en-GB" sz="2400" dirty="0"/>
              <a:t>Hybrid Deep Modelling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00438-E24E-43A4-21EB-E2B59E9CBA22}"/>
              </a:ext>
            </a:extLst>
          </p:cNvPr>
          <p:cNvSpPr txBox="1">
            <a:spLocks/>
          </p:cNvSpPr>
          <p:nvPr/>
        </p:nvSpPr>
        <p:spPr>
          <a:xfrm>
            <a:off x="127820" y="93338"/>
            <a:ext cx="4354533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09/2026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  <a:sym typeface="Symbol" panose="05050102010706020507" pitchFamily="18" charset="2"/>
              </a:rPr>
              <a:t> </a:t>
            </a:r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Conclusions to Part 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AF34E9-2852-5600-C36B-0804CB272C28}"/>
              </a:ext>
            </a:extLst>
          </p:cNvPr>
          <p:cNvSpPr txBox="1"/>
          <p:nvPr/>
        </p:nvSpPr>
        <p:spPr>
          <a:xfrm>
            <a:off x="0" y="6500060"/>
            <a:ext cx="522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latin typeface="Abadi" panose="020F0502020204030204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L. Gündersen</a:t>
            </a:r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A4B18115-4507-4CD5-B56B-E225B322B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077" y="6471387"/>
            <a:ext cx="2743200" cy="365125"/>
          </a:xfrm>
        </p:spPr>
        <p:txBody>
          <a:bodyPr/>
          <a:lstStyle/>
          <a:p>
            <a:fld id="{C45580C8-1F39-4488-AB14-6575A0DF9911}" type="slidenum">
              <a:rPr lang="en-GB" sz="1800">
                <a:solidFill>
                  <a:schemeClr val="bg1"/>
                </a:solidFill>
                <a:latin typeface="Abadi" panose="020F0502020204030204" pitchFamily="34" charset="0"/>
                <a:ea typeface="+mj-ea"/>
                <a:cs typeface="+mj-cs"/>
              </a:rPr>
              <a:t>24</a:t>
            </a:fld>
            <a:endParaRPr lang="en-GB" sz="1800" dirty="0">
              <a:solidFill>
                <a:schemeClr val="bg1"/>
              </a:solidFill>
              <a:latin typeface="Abadi" panose="020F0502020204030204" pitchFamily="34" charset="0"/>
              <a:ea typeface="+mj-ea"/>
              <a:cs typeface="+mj-cs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71502DF-0ADF-88A6-9BB6-69E36C40888B}"/>
              </a:ext>
            </a:extLst>
          </p:cNvPr>
          <p:cNvSpPr txBox="1">
            <a:spLocks/>
          </p:cNvSpPr>
          <p:nvPr/>
        </p:nvSpPr>
        <p:spPr>
          <a:xfrm>
            <a:off x="410138" y="1534280"/>
            <a:ext cx="10587650" cy="15007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60000"/>
              </a:lnSpc>
              <a:spcBef>
                <a:spcPct val="0"/>
              </a:spcBef>
            </a:pPr>
            <a:r>
              <a:rPr lang="en-GB" sz="1800" dirty="0">
                <a:solidFill>
                  <a:srgbClr val="0071BA"/>
                </a:solidFill>
                <a:latin typeface="Abadi" panose="020F0502020204030204" pitchFamily="34" charset="0"/>
              </a:rPr>
              <a:t>Regarding Optuna:</a:t>
            </a:r>
          </a:p>
          <a:p>
            <a:pPr marL="540000" lvl="1" indent="-144000" algn="l">
              <a:lnSpc>
                <a:spcPct val="16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latin typeface="Abadi" panose="020F0502020204030204" pitchFamily="34" charset="0"/>
              </a:rPr>
              <a:t>The </a:t>
            </a:r>
            <a:r>
              <a:rPr lang="en-GB" sz="1400" b="1" dirty="0">
                <a:latin typeface="Abadi" panose="020F0502020204030204" pitchFamily="34" charset="0"/>
              </a:rPr>
              <a:t>probabilistic selection </a:t>
            </a:r>
            <a:r>
              <a:rPr lang="en-GB" sz="1400" dirty="0">
                <a:latin typeface="Abadi" panose="020F0502020204030204" pitchFamily="34" charset="0"/>
              </a:rPr>
              <a:t>criteria (Valloss) resulted in significantly </a:t>
            </a:r>
            <a:r>
              <a:rPr lang="en-GB" sz="1400" b="1" dirty="0">
                <a:latin typeface="Abadi" panose="020F0502020204030204" pitchFamily="34" charset="0"/>
              </a:rPr>
              <a:t>larger computation times</a:t>
            </a:r>
            <a:r>
              <a:rPr lang="en-GB" sz="1400" dirty="0">
                <a:latin typeface="Abadi" panose="020F0502020204030204" pitchFamily="34" charset="0"/>
              </a:rPr>
              <a:t> (about 4.3x larger) compared to empirical selection criteria (AICc);</a:t>
            </a:r>
          </a:p>
          <a:p>
            <a:pPr marL="540000" lvl="1" indent="-144000" algn="l">
              <a:lnSpc>
                <a:spcPct val="16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 dirty="0">
                <a:latin typeface="Abadi" panose="020F0502020204030204" pitchFamily="34" charset="0"/>
              </a:rPr>
              <a:t>The </a:t>
            </a:r>
            <a:r>
              <a:rPr lang="en-GB" sz="1600" b="1" dirty="0">
                <a:latin typeface="Abadi" panose="020F0502020204030204" pitchFamily="34" charset="0"/>
              </a:rPr>
              <a:t>AICc criteria </a:t>
            </a:r>
            <a:r>
              <a:rPr lang="en-GB" sz="1600" dirty="0">
                <a:latin typeface="Abadi" panose="020F0502020204030204" pitchFamily="34" charset="0"/>
              </a:rPr>
              <a:t>selected a small </a:t>
            </a:r>
            <a:r>
              <a:rPr lang="en-GB" sz="1600" b="1" dirty="0">
                <a:latin typeface="Abadi" panose="020F0502020204030204" pitchFamily="34" charset="0"/>
              </a:rPr>
              <a:t>single hidden layer </a:t>
            </a:r>
            <a:r>
              <a:rPr lang="en-GB" sz="1600" dirty="0">
                <a:latin typeface="Abadi" panose="020F0502020204030204" pitchFamily="34" charset="0"/>
              </a:rPr>
              <a:t>( [2] ), while </a:t>
            </a:r>
            <a:r>
              <a:rPr lang="en-GB" sz="1600" b="1" dirty="0">
                <a:latin typeface="Abadi" panose="020F0502020204030204" pitchFamily="34" charset="0"/>
              </a:rPr>
              <a:t>Valloss </a:t>
            </a:r>
            <a:r>
              <a:rPr lang="en-GB" sz="1600" dirty="0">
                <a:latin typeface="Abadi" panose="020F0502020204030204" pitchFamily="34" charset="0"/>
              </a:rPr>
              <a:t>selected a </a:t>
            </a:r>
            <a:r>
              <a:rPr lang="en-GB" sz="1600" b="1" dirty="0">
                <a:latin typeface="Abadi" panose="020F0502020204030204" pitchFamily="34" charset="0"/>
              </a:rPr>
              <a:t>deep model </a:t>
            </a:r>
            <a:r>
              <a:rPr lang="en-GB" sz="1600" dirty="0">
                <a:latin typeface="Abadi" panose="020F0502020204030204" pitchFamily="34" charset="0"/>
              </a:rPr>
              <a:t>( [11 11 ] ).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F6FF0EA-73E0-42AC-8883-BA8654EE1F35}"/>
              </a:ext>
            </a:extLst>
          </p:cNvPr>
          <p:cNvSpPr txBox="1">
            <a:spLocks/>
          </p:cNvSpPr>
          <p:nvPr/>
        </p:nvSpPr>
        <p:spPr>
          <a:xfrm>
            <a:off x="7964852" y="93338"/>
            <a:ext cx="4129547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2000" dirty="0">
                <a:solidFill>
                  <a:schemeClr val="bg1"/>
                </a:solidFill>
                <a:latin typeface="Abadi" panose="020F0502020204030204" pitchFamily="34" charset="0"/>
              </a:rPr>
              <a:t>Part I: Regularization and Selection 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82143190-ED06-4F00-B695-B8E2DAF9A822}"/>
              </a:ext>
            </a:extLst>
          </p:cNvPr>
          <p:cNvSpPr txBox="1">
            <a:spLocks/>
          </p:cNvSpPr>
          <p:nvPr/>
        </p:nvSpPr>
        <p:spPr>
          <a:xfrm>
            <a:off x="410138" y="3245558"/>
            <a:ext cx="11073650" cy="1154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GB" sz="1400" dirty="0">
                <a:solidFill>
                  <a:srgbClr val="0071BA"/>
                </a:solidFill>
                <a:latin typeface="Abadi" panose="020F0502020204030204" pitchFamily="34" charset="0"/>
              </a:rPr>
              <a:t>Regarding regularization/selection criteria:</a:t>
            </a:r>
          </a:p>
          <a:p>
            <a:pPr marL="540000" lvl="1" indent="-1440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300" dirty="0">
                <a:latin typeface="Abadi" panose="020F0502020204030204" pitchFamily="34" charset="0"/>
              </a:rPr>
              <a:t>The </a:t>
            </a:r>
            <a:r>
              <a:rPr lang="en-GB" sz="1300" b="1" dirty="0">
                <a:latin typeface="Abadi" panose="020F0502020204030204" pitchFamily="34" charset="0"/>
              </a:rPr>
              <a:t>empirical selection </a:t>
            </a:r>
            <a:r>
              <a:rPr lang="en-GB" sz="1300" dirty="0">
                <a:latin typeface="Abadi" panose="020F0502020204030204" pitchFamily="34" charset="0"/>
              </a:rPr>
              <a:t>criteria (AICc) resulted in </a:t>
            </a:r>
            <a:r>
              <a:rPr lang="en-GB" sz="1300" b="1" dirty="0">
                <a:latin typeface="Abadi" panose="020F0502020204030204" pitchFamily="34" charset="0"/>
              </a:rPr>
              <a:t>significantly</a:t>
            </a:r>
            <a:r>
              <a:rPr lang="en-GB" sz="1300" dirty="0">
                <a:latin typeface="Abadi" panose="020F0502020204030204" pitchFamily="34" charset="0"/>
              </a:rPr>
              <a:t> </a:t>
            </a:r>
            <a:r>
              <a:rPr lang="en-GB" sz="1300" b="1" dirty="0">
                <a:latin typeface="Abadi" panose="020F0502020204030204" pitchFamily="34" charset="0"/>
              </a:rPr>
              <a:t>better </a:t>
            </a:r>
            <a:r>
              <a:rPr lang="en-GB" sz="1300" dirty="0">
                <a:latin typeface="Abadi" panose="020F0502020204030204" pitchFamily="34" charset="0"/>
              </a:rPr>
              <a:t>results (both testing and training) compared to the probabilistic selection;</a:t>
            </a:r>
          </a:p>
          <a:p>
            <a:pPr marL="540000" lvl="1" indent="-1440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 dirty="0">
                <a:latin typeface="Abadi" panose="020F0502020204030204" pitchFamily="34" charset="0"/>
              </a:rPr>
              <a:t>It was observed that the </a:t>
            </a:r>
            <a:r>
              <a:rPr lang="en-GB" sz="1600" b="1" dirty="0">
                <a:latin typeface="Abadi" panose="020F0502020204030204" pitchFamily="34" charset="0"/>
              </a:rPr>
              <a:t>empirical selection </a:t>
            </a:r>
            <a:r>
              <a:rPr lang="en-GB" sz="1600" dirty="0">
                <a:latin typeface="Abadi" panose="020F0502020204030204" pitchFamily="34" charset="0"/>
              </a:rPr>
              <a:t>criteria was </a:t>
            </a:r>
            <a:r>
              <a:rPr lang="en-GB" sz="1600" b="1" dirty="0">
                <a:latin typeface="Abadi" panose="020F0502020204030204" pitchFamily="34" charset="0"/>
              </a:rPr>
              <a:t>faster and better performing </a:t>
            </a:r>
            <a:r>
              <a:rPr lang="en-GB" sz="1600" dirty="0">
                <a:latin typeface="Abadi" panose="020F0502020204030204" pitchFamily="34" charset="0"/>
              </a:rPr>
              <a:t>than the probabilistic criteria. </a:t>
            </a: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415104A6-9CE3-4303-AFA7-1A600F5D468C}"/>
              </a:ext>
            </a:extLst>
          </p:cNvPr>
          <p:cNvSpPr txBox="1">
            <a:spLocks/>
          </p:cNvSpPr>
          <p:nvPr/>
        </p:nvSpPr>
        <p:spPr>
          <a:xfrm>
            <a:off x="410138" y="4558978"/>
            <a:ext cx="11073650" cy="1585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GB" sz="1400" dirty="0">
                <a:solidFill>
                  <a:srgbClr val="0071BA"/>
                </a:solidFill>
                <a:latin typeface="Abadi" panose="020F0502020204030204" pitchFamily="34" charset="0"/>
              </a:rPr>
              <a:t>Regarding Test batch:</a:t>
            </a:r>
          </a:p>
          <a:p>
            <a:pPr marL="540000" lvl="1" indent="-1440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300" dirty="0">
                <a:latin typeface="Abadi" panose="020F0502020204030204" pitchFamily="34" charset="0"/>
              </a:rPr>
              <a:t>No consistent differences in the WMSE and R2 were observed by changing the test batch, but it showed a definitive impact.</a:t>
            </a:r>
          </a:p>
          <a:p>
            <a:pPr marL="540000" lvl="1" indent="-144000" algn="l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1600" dirty="0">
                <a:latin typeface="Abadi" panose="020F0502020204030204" pitchFamily="34" charset="0"/>
              </a:rPr>
              <a:t>This highlighted the need to better understand </a:t>
            </a:r>
            <a:r>
              <a:rPr lang="en-GB" sz="1600" b="1" dirty="0">
                <a:latin typeface="Abadi" panose="020F0502020204030204" pitchFamily="34" charset="0"/>
              </a:rPr>
              <a:t>how different data splits impact model performance</a:t>
            </a:r>
            <a:r>
              <a:rPr lang="en-GB" sz="1600" dirty="0">
                <a:latin typeface="Abadi" panose="020F0502020204030204" pitchFamily="34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39ECE1-DCC8-49A9-894B-A2D22B3A4373}"/>
              </a:ext>
            </a:extLst>
          </p:cNvPr>
          <p:cNvSpPr txBox="1"/>
          <p:nvPr/>
        </p:nvSpPr>
        <p:spPr>
          <a:xfrm>
            <a:off x="3557546" y="961727"/>
            <a:ext cx="58635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empirical</a:t>
            </a:r>
            <a:r>
              <a:rPr lang="en-GB" sz="2000" dirty="0"/>
              <a:t> </a:t>
            </a:r>
            <a:r>
              <a:rPr lang="en-GB" sz="2000" i="1" dirty="0"/>
              <a:t>versus</a:t>
            </a:r>
            <a:r>
              <a:rPr lang="en-GB" sz="2000" dirty="0"/>
              <a:t> </a:t>
            </a:r>
            <a:r>
              <a:rPr lang="en-GB" sz="2000" b="1" dirty="0"/>
              <a:t>probabilistic</a:t>
            </a:r>
            <a:r>
              <a:rPr lang="en-GB" sz="2000" dirty="0"/>
              <a:t> model selection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D8CA09F-B2FB-4A08-8301-C48123BAC6BB}"/>
              </a:ext>
            </a:extLst>
          </p:cNvPr>
          <p:cNvSpPr>
            <a:spLocks noChangeAspect="1"/>
          </p:cNvSpPr>
          <p:nvPr/>
        </p:nvSpPr>
        <p:spPr>
          <a:xfrm>
            <a:off x="3440784" y="1134842"/>
            <a:ext cx="54000" cy="53880"/>
          </a:xfrm>
          <a:prstGeom prst="ellipse">
            <a:avLst/>
          </a:prstGeom>
          <a:solidFill>
            <a:srgbClr val="0071BA"/>
          </a:solidFill>
          <a:ln>
            <a:solidFill>
              <a:srgbClr val="0071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94785A-A7F1-4E6D-B47E-C8CE1553E5D1}"/>
              </a:ext>
            </a:extLst>
          </p:cNvPr>
          <p:cNvSpPr txBox="1"/>
          <p:nvPr/>
        </p:nvSpPr>
        <p:spPr>
          <a:xfrm>
            <a:off x="1828373" y="5032345"/>
            <a:ext cx="6794942" cy="442674"/>
          </a:xfrm>
          <a:prstGeom prst="roundRect">
            <a:avLst/>
          </a:prstGeom>
          <a:solidFill>
            <a:srgbClr val="FF090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Not updated!!</a:t>
            </a:r>
          </a:p>
        </p:txBody>
      </p:sp>
    </p:spTree>
    <p:extLst>
      <p:ext uri="{BB962C8B-B14F-4D97-AF65-F5344CB8AC3E}">
        <p14:creationId xmlns:p14="http://schemas.microsoft.com/office/powerpoint/2010/main" val="10853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78651</TotalTime>
  <Words>2726</Words>
  <Application>Microsoft Office PowerPoint</Application>
  <PresentationFormat>Widescreen</PresentationFormat>
  <Paragraphs>544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Abadi</vt:lpstr>
      <vt:lpstr>Aptos</vt:lpstr>
      <vt:lpstr>Aptos Display</vt:lpstr>
      <vt:lpstr>Aptos Narrow</vt:lpstr>
      <vt:lpstr>Arial</vt:lpstr>
      <vt:lpstr>Calibri</vt:lpstr>
      <vt:lpstr>Cambria Math</vt:lpstr>
      <vt:lpstr>Wingdings</vt:lpstr>
      <vt:lpstr>Office Theme</vt:lpstr>
      <vt:lpstr>HYDeep</vt:lpstr>
      <vt:lpstr>Hybrid Deep Modelling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Hybrid Deep Modelling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Deep Modelling</dc:title>
  <dc:creator>Leonor Gündersen</dc:creator>
  <cp:lastModifiedBy>SBEGroup</cp:lastModifiedBy>
  <cp:revision>113</cp:revision>
  <dcterms:created xsi:type="dcterms:W3CDTF">2026-02-05T17:06:31Z</dcterms:created>
  <dcterms:modified xsi:type="dcterms:W3CDTF">2026-10-19T10:47:54Z</dcterms:modified>
</cp:coreProperties>
</file>