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notesMasterIdLst>
    <p:notesMasterId r:id="rId3"/>
  </p:notesMasterIdLst>
  <p:sldIdLst>
    <p:sldId id="263" r:id="rId2"/>
  </p:sldIdLst>
  <p:sldSz cx="32399288" cy="35999738"/>
  <p:notesSz cx="6858000" cy="9144000"/>
  <p:embeddedFontLst>
    <p:embeddedFont>
      <p:font typeface="Arial Black" panose="020B0A04020102020204" pitchFamily="34" charset="0"/>
      <p:bold r:id="rId4"/>
    </p:embeddedFont>
    <p:embeddedFont>
      <p:font typeface="Calibri" panose="020F0502020204030204" pitchFamily="34" charset="0"/>
      <p:regular r:id="rId5"/>
      <p:bold r:id="rId6"/>
      <p:italic r:id="rId7"/>
      <p:boldItalic r:id="rId8"/>
    </p:embeddedFont>
  </p:embeddedFontLst>
  <p:custDataLst>
    <p:tags r:id="rId9"/>
  </p:custDataLst>
  <p:defaultTex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559" userDrawn="1">
          <p15:clr>
            <a:srgbClr val="A4A3A4"/>
          </p15:clr>
        </p15:guide>
        <p15:guide id="2" pos="7653" userDrawn="1">
          <p15:clr>
            <a:srgbClr val="A4A3A4"/>
          </p15:clr>
        </p15:guide>
        <p15:guide id="3" orient="horz" pos="11339" userDrawn="1">
          <p15:clr>
            <a:srgbClr val="A4A3A4"/>
          </p15:clr>
        </p15:guide>
        <p15:guide id="4" pos="1020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E6DA"/>
    <a:srgbClr val="DFF1D3"/>
    <a:srgbClr val="BFE2A8"/>
    <a:srgbClr val="95D1E2"/>
    <a:srgbClr val="91CFE1"/>
    <a:srgbClr val="0065BD"/>
    <a:srgbClr val="FFFFFF"/>
    <a:srgbClr val="87DFE1"/>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CCF7D-CF56-4E14-9CEF-042581E1567A}" v="532" dt="2026-09-07T03:16:58.422"/>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25" autoAdjust="0"/>
    <p:restoredTop sz="93519" autoAdjust="0"/>
  </p:normalViewPr>
  <p:slideViewPr>
    <p:cSldViewPr snapToGrid="0">
      <p:cViewPr>
        <p:scale>
          <a:sx n="30" d="100"/>
          <a:sy n="30" d="100"/>
        </p:scale>
        <p:origin x="1968" y="24"/>
      </p:cViewPr>
      <p:guideLst>
        <p:guide orient="horz" pos="7559"/>
        <p:guide pos="7653"/>
        <p:guide orient="horz" pos="11339"/>
        <p:guide pos="10205"/>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tags" Target="tags/tag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defPPr>
              <a:defRPr kern="1200"/>
            </a:defPPr>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defPPr>
              <a:defRPr kern="1200"/>
            </a:defPPr>
            <a:lvl1pPr algn="r">
              <a:defRPr sz="1200"/>
            </a:lvl1pPr>
          </a:lstStyle>
          <a:p>
            <a:fld id="{7B0E8FA9-8B5F-4493-A208-FBBD06A1EBF4}" type="datetimeFigureOut">
              <a:rPr lang="en-US" smtClean="0"/>
              <a:t>07-Sep-26</a:t>
            </a:fld>
            <a:endParaRPr lang="en-US"/>
          </a:p>
        </p:txBody>
      </p:sp>
      <p:sp>
        <p:nvSpPr>
          <p:cNvPr id="4" name="Slide Image Placeholder 3"/>
          <p:cNvSpPr>
            <a:spLocks noGrp="1" noRot="1" noChangeAspect="1"/>
          </p:cNvSpPr>
          <p:nvPr>
            <p:ph type="sldImg" idx="2"/>
          </p:nvPr>
        </p:nvSpPr>
        <p:spPr>
          <a:xfrm>
            <a:off x="1885950" y="685800"/>
            <a:ext cx="3086100" cy="342900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defPPr>
              <a:defRPr kern="1200"/>
            </a:defPPr>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defPPr>
              <a:defRPr kern="1200"/>
            </a:defPPr>
            <a:lvl1pPr algn="r">
              <a:defRPr sz="1200"/>
            </a:lvl1pPr>
          </a:lstStyle>
          <a:p>
            <a:fld id="{CD15AFD9-35F1-4A8D-8AD3-EDB948176196}" type="slidenum">
              <a:rPr lang="en-US" smtClean="0"/>
              <a:t>‹#›</a:t>
            </a:fld>
            <a:endParaRPr lang="en-US"/>
          </a:p>
        </p:txBody>
      </p:sp>
    </p:spTree>
    <p:extLst>
      <p:ext uri="{BB962C8B-B14F-4D97-AF65-F5344CB8AC3E}">
        <p14:creationId xmlns:p14="http://schemas.microsoft.com/office/powerpoint/2010/main" val="2095315684"/>
      </p:ext>
    </p:extLst>
  </p:cSld>
  <p:clrMap bg1="lt1" tx1="dk1" bg2="lt2" tx2="dk2" accent1="accent1" accent2="accent2" accent3="accent3" accent4="accent4" accent5="accent5" accent6="accent6" hlink="hlink" folHlink="folHlink"/>
  <p:notesStyle>
    <a:lvl1pPr marL="0" algn="l" defTabSz="4388077" rtl="0" eaLnBrk="1" latinLnBrk="0" hangingPunct="1">
      <a:defRPr sz="5700" kern="1200">
        <a:solidFill>
          <a:schemeClr val="tx1"/>
        </a:solidFill>
        <a:latin typeface="+mn-lt"/>
        <a:ea typeface="+mn-ea"/>
        <a:cs typeface="+mn-cs"/>
      </a:defRPr>
    </a:lvl1pPr>
    <a:lvl2pPr marL="2194039" algn="l" defTabSz="4388077" rtl="0" eaLnBrk="1" latinLnBrk="0" hangingPunct="1">
      <a:defRPr sz="5700" kern="1200">
        <a:solidFill>
          <a:schemeClr val="tx1"/>
        </a:solidFill>
        <a:latin typeface="+mn-lt"/>
        <a:ea typeface="+mn-ea"/>
        <a:cs typeface="+mn-cs"/>
      </a:defRPr>
    </a:lvl2pPr>
    <a:lvl3pPr marL="4388077" algn="l" defTabSz="4388077" rtl="0" eaLnBrk="1" latinLnBrk="0" hangingPunct="1">
      <a:defRPr sz="5700" kern="1200">
        <a:solidFill>
          <a:schemeClr val="tx1"/>
        </a:solidFill>
        <a:latin typeface="+mn-lt"/>
        <a:ea typeface="+mn-ea"/>
        <a:cs typeface="+mn-cs"/>
      </a:defRPr>
    </a:lvl3pPr>
    <a:lvl4pPr marL="6582120" algn="l" defTabSz="4388077" rtl="0" eaLnBrk="1" latinLnBrk="0" hangingPunct="1">
      <a:defRPr sz="5700" kern="1200">
        <a:solidFill>
          <a:schemeClr val="tx1"/>
        </a:solidFill>
        <a:latin typeface="+mn-lt"/>
        <a:ea typeface="+mn-ea"/>
        <a:cs typeface="+mn-cs"/>
      </a:defRPr>
    </a:lvl4pPr>
    <a:lvl5pPr marL="8776160" algn="l" defTabSz="4388077" rtl="0" eaLnBrk="1" latinLnBrk="0" hangingPunct="1">
      <a:defRPr sz="5700" kern="1200">
        <a:solidFill>
          <a:schemeClr val="tx1"/>
        </a:solidFill>
        <a:latin typeface="+mn-lt"/>
        <a:ea typeface="+mn-ea"/>
        <a:cs typeface="+mn-cs"/>
      </a:defRPr>
    </a:lvl5pPr>
    <a:lvl6pPr marL="10970199" algn="l" defTabSz="4388077" rtl="0" eaLnBrk="1" latinLnBrk="0" hangingPunct="1">
      <a:defRPr sz="5700" kern="1200">
        <a:solidFill>
          <a:schemeClr val="tx1"/>
        </a:solidFill>
        <a:latin typeface="+mn-lt"/>
        <a:ea typeface="+mn-ea"/>
        <a:cs typeface="+mn-cs"/>
      </a:defRPr>
    </a:lvl6pPr>
    <a:lvl7pPr marL="13164238" algn="l" defTabSz="4388077" rtl="0" eaLnBrk="1" latinLnBrk="0" hangingPunct="1">
      <a:defRPr sz="5700" kern="1200">
        <a:solidFill>
          <a:schemeClr val="tx1"/>
        </a:solidFill>
        <a:latin typeface="+mn-lt"/>
        <a:ea typeface="+mn-ea"/>
        <a:cs typeface="+mn-cs"/>
      </a:defRPr>
    </a:lvl7pPr>
    <a:lvl8pPr marL="15358277" algn="l" defTabSz="4388077" rtl="0" eaLnBrk="1" latinLnBrk="0" hangingPunct="1">
      <a:defRPr sz="5700" kern="1200">
        <a:solidFill>
          <a:schemeClr val="tx1"/>
        </a:solidFill>
        <a:latin typeface="+mn-lt"/>
        <a:ea typeface="+mn-ea"/>
        <a:cs typeface="+mn-cs"/>
      </a:defRPr>
    </a:lvl8pPr>
    <a:lvl9pPr marL="17552318" algn="l" defTabSz="4388077" rtl="0" eaLnBrk="1" latinLnBrk="0" hangingPunct="1">
      <a:defRPr sz="57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9676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9462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New picture"/>
          <p:cNvPicPr/>
          <p:nvPr/>
        </p:nvPicPr>
        <p:blipFill>
          <a:blip r:embed="rId4"/>
          <a:stretch>
            <a:fillRect/>
          </a:stretch>
        </p:blipFill>
        <p:spPr>
          <a:xfrm rot="16200000">
            <a:off x="-11680413" y="18215174"/>
            <a:ext cx="15610997" cy="3874915"/>
          </a:xfrm>
          <a:prstGeom prst="rect">
            <a:avLst/>
          </a:prstGeom>
        </p:spPr>
      </p:pic>
      <p:pic>
        <p:nvPicPr>
          <p:cNvPr id="3" name="New picture"/>
          <p:cNvPicPr/>
          <p:nvPr/>
        </p:nvPicPr>
        <p:blipFill>
          <a:blip r:embed="rId4"/>
          <a:stretch>
            <a:fillRect/>
          </a:stretch>
        </p:blipFill>
        <p:spPr>
          <a:xfrm rot="5400000">
            <a:off x="28468704" y="18215174"/>
            <a:ext cx="15610997" cy="3874915"/>
          </a:xfrm>
          <a:prstGeom prst="rect">
            <a:avLst/>
          </a:prstGeom>
        </p:spPr>
      </p:pic>
      <p:pic>
        <p:nvPicPr>
          <p:cNvPr id="4" name="New picture"/>
          <p:cNvPicPr/>
          <p:nvPr/>
        </p:nvPicPr>
        <p:blipFill>
          <a:blip r:embed="rId5"/>
          <a:stretch>
            <a:fillRect/>
          </a:stretch>
        </p:blipFill>
        <p:spPr>
          <a:xfrm>
            <a:off x="1437469" y="36555289"/>
            <a:ext cx="29524351" cy="1583322"/>
          </a:xfrm>
          <a:prstGeom prst="rect">
            <a:avLst/>
          </a:prstGeom>
        </p:spPr>
      </p:pic>
      <p:sp>
        <p:nvSpPr>
          <p:cNvPr id="5" name="New shape"/>
          <p:cNvSpPr/>
          <p:nvPr/>
        </p:nvSpPr>
        <p:spPr>
          <a:xfrm>
            <a:off x="1437468" y="37180285"/>
            <a:ext cx="16199644" cy="13888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488">
                <a:solidFill>
                  <a:srgbClr val="808080"/>
                </a:solidFill>
              </a:rPr>
              <a:t>Template ID: assessingslate  Size: 36x36</a:t>
            </a:r>
          </a:p>
        </p:txBody>
      </p:sp>
    </p:spTree>
    <p:extLst>
      <p:ext uri="{BB962C8B-B14F-4D97-AF65-F5344CB8AC3E}">
        <p14:creationId xmlns:p14="http://schemas.microsoft.com/office/powerpoint/2010/main" val="2054342921"/>
      </p:ext>
    </p:extLst>
  </p:cSld>
  <p:clrMap bg1="lt1" tx1="dk1" bg2="lt2" tx2="dk2" accent1="accent1" accent2="accent2" accent3="accent3" accent4="accent4" accent5="accent5" accent6="accent6" hlink="hlink" folHlink="folHlink"/>
  <p:sldLayoutIdLst>
    <p:sldLayoutId id="2147483679" r:id="rId1"/>
    <p:sldLayoutId id="2147483680" r:id="rId2"/>
  </p:sldLayoutIdLst>
  <p:transition/>
  <p:txStyles>
    <p:titleStyle>
      <a:defPPr>
        <a:defRPr kern="1200"/>
      </a:defPPr>
      <a:lvl1pPr algn="ctr" defTabSz="3239680" rtl="0" eaLnBrk="1" latinLnBrk="0" hangingPunct="1">
        <a:spcBef>
          <a:spcPct val="0"/>
        </a:spcBef>
        <a:buNone/>
        <a:defRPr sz="9891" kern="1200">
          <a:solidFill>
            <a:schemeClr val="tx1"/>
          </a:solidFill>
          <a:latin typeface="+mj-lt"/>
          <a:ea typeface="+mj-ea"/>
          <a:cs typeface="+mj-cs"/>
        </a:defRPr>
      </a:lvl1pPr>
    </p:titleStyle>
    <p:bodyStyle>
      <a:defPPr>
        <a:defRPr kern="1200"/>
      </a:defPPr>
      <a:lvl1pPr marL="0" indent="0" algn="l" defTabSz="3239680" rtl="0" eaLnBrk="1" latinLnBrk="0" hangingPunct="1">
        <a:spcBef>
          <a:spcPct val="20000"/>
        </a:spcBef>
        <a:buFont typeface="Arial" pitchFamily="34" charset="0"/>
        <a:buNone/>
        <a:defRPr sz="9891" kern="1200">
          <a:solidFill>
            <a:schemeClr val="tx1"/>
          </a:solidFill>
          <a:latin typeface="+mn-lt"/>
          <a:ea typeface="+mn-ea"/>
          <a:cs typeface="+mn-cs"/>
        </a:defRPr>
      </a:lvl1pPr>
      <a:lvl2pPr marL="2632242" indent="-1012401" algn="l" defTabSz="3239680" rtl="0" eaLnBrk="1" latinLnBrk="0" hangingPunct="1">
        <a:spcBef>
          <a:spcPct val="20000"/>
        </a:spcBef>
        <a:buFont typeface="Arial" pitchFamily="34" charset="0"/>
        <a:buChar char="–"/>
        <a:defRPr sz="9891" kern="1200">
          <a:solidFill>
            <a:schemeClr val="tx1"/>
          </a:solidFill>
          <a:latin typeface="+mn-lt"/>
          <a:ea typeface="+mn-ea"/>
          <a:cs typeface="+mn-cs"/>
        </a:defRPr>
      </a:lvl2pPr>
      <a:lvl3pPr marL="4049602" indent="-809921" algn="l" defTabSz="3239680" rtl="0" eaLnBrk="1" latinLnBrk="0" hangingPunct="1">
        <a:spcBef>
          <a:spcPct val="20000"/>
        </a:spcBef>
        <a:buFont typeface="Arial" pitchFamily="34" charset="0"/>
        <a:buChar char="•"/>
        <a:defRPr sz="8489" kern="1200">
          <a:solidFill>
            <a:schemeClr val="tx1"/>
          </a:solidFill>
          <a:latin typeface="+mn-lt"/>
          <a:ea typeface="+mn-ea"/>
          <a:cs typeface="+mn-cs"/>
        </a:defRPr>
      </a:lvl3pPr>
      <a:lvl4pPr marL="5669441"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4pPr>
      <a:lvl5pPr marL="7289281"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5pPr>
      <a:lvl6pPr marL="8909121"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6pPr>
      <a:lvl7pPr marL="10528962"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7pPr>
      <a:lvl8pPr marL="12148802"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8pPr>
      <a:lvl9pPr marL="13768641" indent="-809921" algn="l" defTabSz="3239680" rtl="0" eaLnBrk="1" latinLnBrk="0" hangingPunct="1">
        <a:spcBef>
          <a:spcPct val="20000"/>
        </a:spcBef>
        <a:buFont typeface="Arial" pitchFamily="34" charset="0"/>
        <a:buChar char="•"/>
        <a:defRPr sz="7160" kern="1200">
          <a:solidFill>
            <a:schemeClr val="tx1"/>
          </a:solidFill>
          <a:latin typeface="+mn-lt"/>
          <a:ea typeface="+mn-ea"/>
          <a:cs typeface="+mn-cs"/>
        </a:defRPr>
      </a:lvl9pPr>
    </p:bodyStyle>
    <p:otherStyle>
      <a:defPPr>
        <a:defRPr lang="en-US"/>
      </a:defPPr>
      <a:lvl1pPr marL="0" algn="l" defTabSz="3239680" rtl="0" eaLnBrk="1" latinLnBrk="0" hangingPunct="1">
        <a:defRPr sz="6422" kern="1200">
          <a:solidFill>
            <a:schemeClr val="tx1"/>
          </a:solidFill>
          <a:latin typeface="+mn-lt"/>
          <a:ea typeface="+mn-ea"/>
          <a:cs typeface="+mn-cs"/>
        </a:defRPr>
      </a:lvl1pPr>
      <a:lvl2pPr marL="1619841" algn="l" defTabSz="3239680" rtl="0" eaLnBrk="1" latinLnBrk="0" hangingPunct="1">
        <a:defRPr sz="6422" kern="1200">
          <a:solidFill>
            <a:schemeClr val="tx1"/>
          </a:solidFill>
          <a:latin typeface="+mn-lt"/>
          <a:ea typeface="+mn-ea"/>
          <a:cs typeface="+mn-cs"/>
        </a:defRPr>
      </a:lvl2pPr>
      <a:lvl3pPr marL="3239680" algn="l" defTabSz="3239680" rtl="0" eaLnBrk="1" latinLnBrk="0" hangingPunct="1">
        <a:defRPr sz="6422" kern="1200">
          <a:solidFill>
            <a:schemeClr val="tx1"/>
          </a:solidFill>
          <a:latin typeface="+mn-lt"/>
          <a:ea typeface="+mn-ea"/>
          <a:cs typeface="+mn-cs"/>
        </a:defRPr>
      </a:lvl3pPr>
      <a:lvl4pPr marL="4859521" algn="l" defTabSz="3239680" rtl="0" eaLnBrk="1" latinLnBrk="0" hangingPunct="1">
        <a:defRPr sz="6422" kern="1200">
          <a:solidFill>
            <a:schemeClr val="tx1"/>
          </a:solidFill>
          <a:latin typeface="+mn-lt"/>
          <a:ea typeface="+mn-ea"/>
          <a:cs typeface="+mn-cs"/>
        </a:defRPr>
      </a:lvl4pPr>
      <a:lvl5pPr marL="6479362" algn="l" defTabSz="3239680" rtl="0" eaLnBrk="1" latinLnBrk="0" hangingPunct="1">
        <a:defRPr sz="6422" kern="1200">
          <a:solidFill>
            <a:schemeClr val="tx1"/>
          </a:solidFill>
          <a:latin typeface="+mn-lt"/>
          <a:ea typeface="+mn-ea"/>
          <a:cs typeface="+mn-cs"/>
        </a:defRPr>
      </a:lvl5pPr>
      <a:lvl6pPr marL="8099200" algn="l" defTabSz="3239680" rtl="0" eaLnBrk="1" latinLnBrk="0" hangingPunct="1">
        <a:defRPr sz="6422" kern="1200">
          <a:solidFill>
            <a:schemeClr val="tx1"/>
          </a:solidFill>
          <a:latin typeface="+mn-lt"/>
          <a:ea typeface="+mn-ea"/>
          <a:cs typeface="+mn-cs"/>
        </a:defRPr>
      </a:lvl6pPr>
      <a:lvl7pPr marL="9719041" algn="l" defTabSz="3239680" rtl="0" eaLnBrk="1" latinLnBrk="0" hangingPunct="1">
        <a:defRPr sz="6422" kern="1200">
          <a:solidFill>
            <a:schemeClr val="tx1"/>
          </a:solidFill>
          <a:latin typeface="+mn-lt"/>
          <a:ea typeface="+mn-ea"/>
          <a:cs typeface="+mn-cs"/>
        </a:defRPr>
      </a:lvl7pPr>
      <a:lvl8pPr marL="11338881" algn="l" defTabSz="3239680" rtl="0" eaLnBrk="1" latinLnBrk="0" hangingPunct="1">
        <a:defRPr sz="6422" kern="1200">
          <a:solidFill>
            <a:schemeClr val="tx1"/>
          </a:solidFill>
          <a:latin typeface="+mn-lt"/>
          <a:ea typeface="+mn-ea"/>
          <a:cs typeface="+mn-cs"/>
        </a:defRPr>
      </a:lvl8pPr>
      <a:lvl9pPr marL="12958723" algn="l" defTabSz="3239680" rtl="0" eaLnBrk="1" latinLnBrk="0" hangingPunct="1">
        <a:defRPr sz="64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1.jpeg"/><Relationship Id="rId2" Type="http://schemas.openxmlformats.org/officeDocument/2006/relationships/image" Target="../media/image3.png"/><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5" Type="http://schemas.openxmlformats.org/officeDocument/2006/relationships/image" Target="../media/image14.png"/><Relationship Id="rId10" Type="http://schemas.openxmlformats.org/officeDocument/2006/relationships/image" Target="../media/image9.png"/><Relationship Id="rId4" Type="http://schemas.microsoft.com/office/2007/relationships/hdphoto" Target="../media/hdphoto1.wdp"/><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0942C843-1398-4393-85D8-9C02B0D3D5B2}"/>
              </a:ext>
            </a:extLst>
          </p:cNvPr>
          <p:cNvSpPr/>
          <p:nvPr/>
        </p:nvSpPr>
        <p:spPr>
          <a:xfrm>
            <a:off x="21764387" y="33925639"/>
            <a:ext cx="10283946" cy="1639874"/>
          </a:xfrm>
          <a:prstGeom prst="roundRect">
            <a:avLst>
              <a:gd name="adj" fmla="val 17264"/>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72" name="Rectangle 71"/>
          <p:cNvSpPr/>
          <p:nvPr/>
        </p:nvSpPr>
        <p:spPr>
          <a:xfrm>
            <a:off x="240" y="-4502"/>
            <a:ext cx="32399288" cy="4843496"/>
          </a:xfrm>
          <a:prstGeom prst="rect">
            <a:avLst/>
          </a:prstGeom>
          <a:solidFill>
            <a:srgbClr val="95D1E2"/>
          </a:solidFill>
          <a:ln>
            <a:solidFill>
              <a:srgbClr val="95D1E2"/>
            </a:solidFill>
          </a:ln>
        </p:spPr>
        <p:style>
          <a:lnRef idx="2">
            <a:schemeClr val="accent1">
              <a:shade val="50000"/>
            </a:schemeClr>
          </a:lnRef>
          <a:fillRef idx="1">
            <a:schemeClr val="accent1"/>
          </a:fillRef>
          <a:effectRef idx="0">
            <a:schemeClr val="accent1"/>
          </a:effectRef>
          <a:fontRef idx="minor">
            <a:schemeClr val="lt1"/>
          </a:fontRef>
        </p:style>
        <p:txBody>
          <a:bodyPr lIns="94498" tIns="47249" rIns="94498" bIns="47249" rtlCol="0" anchor="ctr"/>
          <a:lstStyle>
            <a:defPPr>
              <a:defRPr kern="1200"/>
            </a:defPPr>
          </a:lstStyle>
          <a:p>
            <a:pPr algn="ctr"/>
            <a:endParaRPr lang="en-US" sz="6421"/>
          </a:p>
        </p:txBody>
      </p:sp>
      <p:sp>
        <p:nvSpPr>
          <p:cNvPr id="51" name="Title 11">
            <a:extLst>
              <a:ext uri="{FF2B5EF4-FFF2-40B4-BE49-F238E27FC236}">
                <a16:creationId xmlns:a16="http://schemas.microsoft.com/office/drawing/2014/main" id="{EE7A5C51-35F0-4B71-992D-43D344D16C04}"/>
              </a:ext>
            </a:extLst>
          </p:cNvPr>
          <p:cNvSpPr txBox="1"/>
          <p:nvPr/>
        </p:nvSpPr>
        <p:spPr>
          <a:xfrm>
            <a:off x="700553" y="269229"/>
            <a:ext cx="25567383" cy="2027712"/>
          </a:xfrm>
          <a:prstGeom prst="rect">
            <a:avLst/>
          </a:prstGeom>
        </p:spPr>
        <p:txBody>
          <a:bodyPr lIns="94498" tIns="47249" rIns="94498" bIns="47249"/>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pPr algn="l">
              <a:lnSpc>
                <a:spcPct val="120000"/>
              </a:lnSpc>
            </a:pPr>
            <a:r>
              <a:rPr lang="en-US" sz="5512" b="1" dirty="0">
                <a:latin typeface="+mn-lt"/>
              </a:rPr>
              <a:t>Deep hybrid modelling of CHO platforms: addressing multiple development campaigns across different antibody products</a:t>
            </a:r>
          </a:p>
        </p:txBody>
      </p:sp>
      <p:sp>
        <p:nvSpPr>
          <p:cNvPr id="58" name="Text Placeholder 16">
            <a:extLst>
              <a:ext uri="{FF2B5EF4-FFF2-40B4-BE49-F238E27FC236}">
                <a16:creationId xmlns:a16="http://schemas.microsoft.com/office/drawing/2014/main" id="{1F3AA395-C058-4F87-B3A3-A8A8BC543EF9}"/>
              </a:ext>
            </a:extLst>
          </p:cNvPr>
          <p:cNvSpPr txBox="1"/>
          <p:nvPr/>
        </p:nvSpPr>
        <p:spPr>
          <a:xfrm>
            <a:off x="700553" y="2360015"/>
            <a:ext cx="24694538" cy="761851"/>
          </a:xfrm>
          <a:prstGeom prst="rect">
            <a:avLst/>
          </a:prstGeom>
        </p:spPr>
        <p:txBody>
          <a:bodyPr wrap="square" lIns="94498" tIns="47249" rIns="94498" bIns="47249">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r>
              <a:rPr lang="pt-BR" sz="4330" u="sng" dirty="0"/>
              <a:t>Leonor Gündersen</a:t>
            </a:r>
            <a:r>
              <a:rPr lang="el-GR" sz="4330" u="sng" baseline="30000" dirty="0"/>
              <a:t>α</a:t>
            </a:r>
            <a:r>
              <a:rPr lang="en-US" sz="4330" u="sng" baseline="30000" dirty="0"/>
              <a:t>,</a:t>
            </a:r>
            <a:r>
              <a:rPr lang="pt-BR" sz="4330" u="sng" baseline="30000" dirty="0"/>
              <a:t>1, 2</a:t>
            </a:r>
            <a:r>
              <a:rPr lang="pt-BR" sz="4330" dirty="0"/>
              <a:t>, José Pinto</a:t>
            </a:r>
            <a:r>
              <a:rPr lang="pt-BR" sz="4330" baseline="30000" dirty="0"/>
              <a:t>1,2,3</a:t>
            </a:r>
            <a:r>
              <a:rPr lang="pt-BR" sz="4330" dirty="0"/>
              <a:t>, Rui Oliveira</a:t>
            </a:r>
            <a:r>
              <a:rPr lang="pt-BR" sz="4330" baseline="30000" dirty="0"/>
              <a:t>1,2,3</a:t>
            </a:r>
          </a:p>
        </p:txBody>
      </p:sp>
      <p:sp>
        <p:nvSpPr>
          <p:cNvPr id="42" name="Rectangle: Rounded Corners 41"/>
          <p:cNvSpPr/>
          <p:nvPr/>
        </p:nvSpPr>
        <p:spPr>
          <a:xfrm>
            <a:off x="21764387" y="17482939"/>
            <a:ext cx="10283946" cy="10622161"/>
          </a:xfrm>
          <a:prstGeom prst="roundRect">
            <a:avLst>
              <a:gd name="adj" fmla="val 3349"/>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61" name="TextBox 60">
            <a:extLst>
              <a:ext uri="{FF2B5EF4-FFF2-40B4-BE49-F238E27FC236}">
                <a16:creationId xmlns:a16="http://schemas.microsoft.com/office/drawing/2014/main" id="{89EBE15B-4246-47D5-A572-FC8BC1A36A14}"/>
              </a:ext>
            </a:extLst>
          </p:cNvPr>
          <p:cNvSpPr txBox="1"/>
          <p:nvPr/>
        </p:nvSpPr>
        <p:spPr>
          <a:xfrm>
            <a:off x="22214140" y="18294121"/>
            <a:ext cx="9349042" cy="3823675"/>
          </a:xfrm>
          <a:prstGeom prst="rect">
            <a:avLst/>
          </a:prstGeom>
          <a:noFill/>
        </p:spPr>
        <p:txBody>
          <a:bodyPr wrap="square" rtlCol="0">
            <a:spAutoFit/>
          </a:bodyPr>
          <a:lstStyle>
            <a:defPPr>
              <a:defRPr kern="1200"/>
            </a:defPPr>
          </a:lstStyle>
          <a:p>
            <a:pPr marL="180000" lvl="0" indent="-360000" algn="just">
              <a:lnSpc>
                <a:spcPct val="130000"/>
              </a:lnSpc>
              <a:buFont typeface="+mj-lt"/>
              <a:buAutoNum type="romanUcPeriod"/>
            </a:pPr>
            <a:r>
              <a:rPr lang="en-GB" sz="2362" dirty="0">
                <a:solidFill>
                  <a:schemeClr val="tx1">
                    <a:lumMod val="65000"/>
                    <a:lumOff val="35000"/>
                  </a:schemeClr>
                </a:solidFill>
                <a:ea typeface="Open Sans" panose="020B0606030504020204" pitchFamily="34" charset="0"/>
                <a:cs typeface="Open Sans" panose="020B0606030504020204" pitchFamily="34" charset="0"/>
              </a:rPr>
              <a:t>Best performing structure was shallows, [20], with a test WMSE and R</a:t>
            </a:r>
            <a:r>
              <a:rPr lang="en-GB" sz="2362" baseline="30000" dirty="0">
                <a:solidFill>
                  <a:schemeClr val="tx1">
                    <a:lumMod val="65000"/>
                    <a:lumOff val="35000"/>
                  </a:schemeClr>
                </a:solidFill>
                <a:ea typeface="Open Sans" panose="020B0606030504020204" pitchFamily="34" charset="0"/>
                <a:cs typeface="Open Sans" panose="020B0606030504020204" pitchFamily="34" charset="0"/>
              </a:rPr>
              <a:t>2</a:t>
            </a:r>
            <a:r>
              <a:rPr lang="en-GB" sz="2362" dirty="0">
                <a:solidFill>
                  <a:schemeClr val="tx1">
                    <a:lumMod val="65000"/>
                    <a:lumOff val="35000"/>
                  </a:schemeClr>
                </a:solidFill>
                <a:ea typeface="Open Sans" panose="020B0606030504020204" pitchFamily="34" charset="0"/>
                <a:cs typeface="Open Sans" panose="020B0606030504020204" pitchFamily="34" charset="0"/>
              </a:rPr>
              <a:t> of 0.2123 and 0.9454, respectively;</a:t>
            </a:r>
          </a:p>
          <a:p>
            <a:pPr marL="180000" indent="-360000" algn="just">
              <a:lnSpc>
                <a:spcPct val="130000"/>
              </a:lnSpc>
              <a:buFont typeface="+mj-lt"/>
              <a:buAutoNum type="romanUcPeriod"/>
            </a:pPr>
            <a:r>
              <a:rPr lang="en-GB" sz="2362" dirty="0">
                <a:solidFill>
                  <a:schemeClr val="tx1">
                    <a:lumMod val="65000"/>
                    <a:lumOff val="35000"/>
                  </a:schemeClr>
                </a:solidFill>
                <a:ea typeface="Open Sans" panose="020B0606030504020204" pitchFamily="34" charset="0"/>
                <a:cs typeface="Open Sans" panose="020B0606030504020204" pitchFamily="34" charset="0"/>
              </a:rPr>
              <a:t>Training set was reduced by adding the cube and central DoE points to the test set. This reduced training CPU and maintained predictive capability.</a:t>
            </a:r>
          </a:p>
          <a:p>
            <a:pPr marL="180000" indent="-360000" algn="just">
              <a:lnSpc>
                <a:spcPct val="130000"/>
              </a:lnSpc>
              <a:buFont typeface="+mj-lt"/>
              <a:buAutoNum type="romanUcPeriod"/>
            </a:pPr>
            <a:r>
              <a:rPr lang="en-GB" sz="2362" dirty="0">
                <a:solidFill>
                  <a:schemeClr val="tx1">
                    <a:lumMod val="65000"/>
                    <a:lumOff val="35000"/>
                  </a:schemeClr>
                </a:solidFill>
                <a:ea typeface="Open Sans" panose="020B0606030504020204" pitchFamily="34" charset="0"/>
                <a:cs typeface="Open Sans" panose="020B0606030504020204" pitchFamily="34" charset="0"/>
              </a:rPr>
              <a:t> Multiple-mAb prediction was not achieved. The mAb output collapsed to zero across all 10 mAbs tested. This resulted from hybrid model structure limitations to address different mAbs.</a:t>
            </a:r>
          </a:p>
        </p:txBody>
      </p:sp>
      <p:sp>
        <p:nvSpPr>
          <p:cNvPr id="83" name="TextBox 82">
            <a:extLst>
              <a:ext uri="{FF2B5EF4-FFF2-40B4-BE49-F238E27FC236}">
                <a16:creationId xmlns:a16="http://schemas.microsoft.com/office/drawing/2014/main" id="{66B428E8-E946-4C04-BA2E-DBE7C90A92EC}"/>
              </a:ext>
            </a:extLst>
          </p:cNvPr>
          <p:cNvSpPr txBox="1"/>
          <p:nvPr/>
        </p:nvSpPr>
        <p:spPr>
          <a:xfrm>
            <a:off x="22214140" y="17728748"/>
            <a:ext cx="9349042"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Conclusions</a:t>
            </a:r>
          </a:p>
        </p:txBody>
      </p:sp>
      <p:sp>
        <p:nvSpPr>
          <p:cNvPr id="45" name="Rectangle: Rounded Corners 44"/>
          <p:cNvSpPr/>
          <p:nvPr/>
        </p:nvSpPr>
        <p:spPr>
          <a:xfrm>
            <a:off x="21764387" y="28595753"/>
            <a:ext cx="10283946" cy="4980013"/>
          </a:xfrm>
          <a:prstGeom prst="roundRect">
            <a:avLst>
              <a:gd name="adj" fmla="val 597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84" name="TextBox 83">
            <a:extLst>
              <a:ext uri="{FF2B5EF4-FFF2-40B4-BE49-F238E27FC236}">
                <a16:creationId xmlns:a16="http://schemas.microsoft.com/office/drawing/2014/main" id="{7ABCCD2C-433F-478B-B18B-A4DAD100C702}"/>
              </a:ext>
            </a:extLst>
          </p:cNvPr>
          <p:cNvSpPr txBox="1"/>
          <p:nvPr/>
        </p:nvSpPr>
        <p:spPr>
          <a:xfrm>
            <a:off x="21961650" y="29544066"/>
            <a:ext cx="9889420" cy="3725122"/>
          </a:xfrm>
          <a:prstGeom prst="rect">
            <a:avLst/>
          </a:prstGeom>
          <a:noFill/>
        </p:spPr>
        <p:txBody>
          <a:bodyPr wrap="square" rtlCol="0">
            <a:spAutoFit/>
          </a:bodyPr>
          <a:lstStyle>
            <a:defPPr>
              <a:defRPr kern="1200"/>
            </a:defPPr>
          </a:lstStyle>
          <a:p>
            <a:pPr>
              <a:lnSpc>
                <a:spcPct val="110000"/>
              </a:lnSpc>
            </a:pPr>
            <a:r>
              <a:rPr lang="en-US" sz="1800" dirty="0">
                <a:solidFill>
                  <a:schemeClr val="tx1">
                    <a:lumMod val="65000"/>
                    <a:lumOff val="35000"/>
                  </a:schemeClr>
                </a:solidFill>
                <a:ea typeface="Open Sans" panose="020B0606030504020204" pitchFamily="34" charset="0"/>
                <a:cs typeface="Open Sans" panose="020B0606030504020204" pitchFamily="34" charset="0"/>
              </a:rPr>
              <a:t>[1] J. Pinto, J. R. C. Ramos, R. S. Costa, S. Rossell, P. Dumas, and R. Oliveira, “Hybrid deep modeling of a CHO-K1 fed-batch process: combining first-principles with deep neural networks,” Frontiers in Bioengineering and Biotechnology, vol. 11, Sep. 2023.</a:t>
            </a:r>
          </a:p>
          <a:p>
            <a:pPr>
              <a:lnSpc>
                <a:spcPct val="110000"/>
              </a:lnSpc>
            </a:pPr>
            <a:r>
              <a:rPr lang="en-US" sz="1800" dirty="0">
                <a:solidFill>
                  <a:schemeClr val="tx1">
                    <a:lumMod val="65000"/>
                    <a:lumOff val="35000"/>
                  </a:schemeClr>
                </a:solidFill>
                <a:ea typeface="Open Sans" panose="020B0606030504020204" pitchFamily="34" charset="0"/>
                <a:cs typeface="Open Sans" panose="020B0606030504020204" pitchFamily="34" charset="0"/>
              </a:rPr>
              <a:t>[2] </a:t>
            </a:r>
            <a:r>
              <a:rPr lang="en-GB" sz="1800" dirty="0">
                <a:solidFill>
                  <a:schemeClr val="tx1">
                    <a:lumMod val="65000"/>
                    <a:lumOff val="35000"/>
                  </a:schemeClr>
                </a:solidFill>
                <a:ea typeface="Open Sans" panose="020B0606030504020204" pitchFamily="34" charset="0"/>
                <a:cs typeface="Open Sans" panose="020B0606030504020204" pitchFamily="34" charset="0"/>
              </a:rPr>
              <a:t>H. Hetzner, C. Schmid, S. Tremmel, K. Durst, and S. </a:t>
            </a:r>
            <a:r>
              <a:rPr lang="en-GB" sz="1800" dirty="0" err="1">
                <a:solidFill>
                  <a:schemeClr val="tx1">
                    <a:lumMod val="65000"/>
                    <a:lumOff val="35000"/>
                  </a:schemeClr>
                </a:solidFill>
                <a:ea typeface="Open Sans" panose="020B0606030504020204" pitchFamily="34" charset="0"/>
                <a:cs typeface="Open Sans" panose="020B0606030504020204" pitchFamily="34" charset="0"/>
              </a:rPr>
              <a:t>Wartzack</a:t>
            </a:r>
            <a:r>
              <a:rPr lang="en-GB" sz="1800" dirty="0">
                <a:solidFill>
                  <a:schemeClr val="tx1">
                    <a:lumMod val="65000"/>
                    <a:lumOff val="35000"/>
                  </a:schemeClr>
                </a:solidFill>
                <a:ea typeface="Open Sans" panose="020B0606030504020204" pitchFamily="34" charset="0"/>
                <a:cs typeface="Open Sans" panose="020B0606030504020204" pitchFamily="34" charset="0"/>
              </a:rPr>
              <a:t>, “Empirical-Statistical Study on the Relationship between Deposition Parameters, Process Variables, Deposition Rate and Mechanical Properties of a-C:H:W Coatings,” Coatings, vol. 4, no. 4, pp. 772–795, Dec. 2014</a:t>
            </a:r>
          </a:p>
          <a:p>
            <a:pPr>
              <a:lnSpc>
                <a:spcPct val="110000"/>
              </a:lnSpc>
            </a:pPr>
            <a:r>
              <a:rPr lang="en-GB" sz="1800" dirty="0">
                <a:solidFill>
                  <a:schemeClr val="tx1">
                    <a:lumMod val="65000"/>
                    <a:lumOff val="35000"/>
                  </a:schemeClr>
                </a:solidFill>
                <a:ea typeface="Open Sans" panose="020B0606030504020204" pitchFamily="34" charset="0"/>
                <a:cs typeface="Open Sans" panose="020B0606030504020204" pitchFamily="34" charset="0"/>
              </a:rPr>
              <a:t>‌</a:t>
            </a:r>
            <a:r>
              <a:rPr lang="en-US" sz="1800" dirty="0">
                <a:solidFill>
                  <a:schemeClr val="tx1">
                    <a:lumMod val="65000"/>
                    <a:lumOff val="35000"/>
                  </a:schemeClr>
                </a:solidFill>
                <a:ea typeface="Open Sans" panose="020B0606030504020204" pitchFamily="34" charset="0"/>
                <a:cs typeface="Open Sans" panose="020B0606030504020204" pitchFamily="34" charset="0"/>
              </a:rPr>
              <a:t>[3] J. Robitaille, J. Chen, and M. Jolicoeur, “A Single Dynamic Metabolic Model Can Describe mAb Producing CHO Cell Batch and Fed-Batch Cultures on Different Culture Media,” PLOS ONE, vol. 10, no. 9, p. e0136815, Sept. 2015.</a:t>
            </a:r>
          </a:p>
          <a:p>
            <a:pPr>
              <a:lnSpc>
                <a:spcPct val="110000"/>
              </a:lnSpc>
            </a:pPr>
            <a:r>
              <a:rPr lang="en-US" sz="1800" dirty="0">
                <a:solidFill>
                  <a:schemeClr val="tx1">
                    <a:lumMod val="65000"/>
                    <a:lumOff val="35000"/>
                  </a:schemeClr>
                </a:solidFill>
                <a:ea typeface="Open Sans" panose="020B0606030504020204" pitchFamily="34" charset="0"/>
                <a:cs typeface="Open Sans" panose="020B0606030504020204" pitchFamily="34" charset="0"/>
              </a:rPr>
              <a:t>[4] J. Pinto, M. Mestre, J. Ramos, R. S. Costa, G. </a:t>
            </a:r>
            <a:r>
              <a:rPr lang="en-US" sz="1800" dirty="0" err="1">
                <a:solidFill>
                  <a:schemeClr val="tx1">
                    <a:lumMod val="65000"/>
                    <a:lumOff val="35000"/>
                  </a:schemeClr>
                </a:solidFill>
                <a:ea typeface="Open Sans" panose="020B0606030504020204" pitchFamily="34" charset="0"/>
                <a:cs typeface="Open Sans" panose="020B0606030504020204" pitchFamily="34" charset="0"/>
              </a:rPr>
              <a:t>Striedner</a:t>
            </a:r>
            <a:r>
              <a:rPr lang="en-US" sz="1800" dirty="0">
                <a:solidFill>
                  <a:schemeClr val="tx1">
                    <a:lumMod val="65000"/>
                    <a:lumOff val="35000"/>
                  </a:schemeClr>
                </a:solidFill>
                <a:ea typeface="Open Sans" panose="020B0606030504020204" pitchFamily="34" charset="0"/>
                <a:cs typeface="Open Sans" panose="020B0606030504020204" pitchFamily="34" charset="0"/>
              </a:rPr>
              <a:t>, and R. Oliveira, “A general deep hybrid model for bioreactor systems: Combining first principles with deep neural networks,” Computers &amp; Chemical Engineering, vol. 165, p. 107952, Sept. 2022.</a:t>
            </a:r>
          </a:p>
        </p:txBody>
      </p:sp>
      <p:sp>
        <p:nvSpPr>
          <p:cNvPr id="85" name="TextBox 84">
            <a:extLst>
              <a:ext uri="{FF2B5EF4-FFF2-40B4-BE49-F238E27FC236}">
                <a16:creationId xmlns:a16="http://schemas.microsoft.com/office/drawing/2014/main" id="{2F9F16DD-B1FB-447B-BA78-9201D1B2D897}"/>
              </a:ext>
            </a:extLst>
          </p:cNvPr>
          <p:cNvSpPr txBox="1"/>
          <p:nvPr/>
        </p:nvSpPr>
        <p:spPr>
          <a:xfrm>
            <a:off x="22053671" y="28871119"/>
            <a:ext cx="9349042"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References</a:t>
            </a:r>
          </a:p>
        </p:txBody>
      </p:sp>
      <p:sp>
        <p:nvSpPr>
          <p:cNvPr id="39" name="Rectangle: Rounded Corners 38"/>
          <p:cNvSpPr/>
          <p:nvPr/>
        </p:nvSpPr>
        <p:spPr>
          <a:xfrm>
            <a:off x="430981" y="5151708"/>
            <a:ext cx="10283946" cy="6165927"/>
          </a:xfrm>
          <a:prstGeom prst="roundRect">
            <a:avLst>
              <a:gd name="adj" fmla="val 483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47" name="TextBox 46"/>
          <p:cNvSpPr txBox="1"/>
          <p:nvPr/>
        </p:nvSpPr>
        <p:spPr>
          <a:xfrm>
            <a:off x="778322" y="5348584"/>
            <a:ext cx="9509760"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Introduction</a:t>
            </a:r>
          </a:p>
        </p:txBody>
      </p:sp>
      <p:sp>
        <p:nvSpPr>
          <p:cNvPr id="43" name="Rectangle: Rounded Corners 42"/>
          <p:cNvSpPr/>
          <p:nvPr/>
        </p:nvSpPr>
        <p:spPr>
          <a:xfrm>
            <a:off x="430981" y="11589421"/>
            <a:ext cx="10283946" cy="2688713"/>
          </a:xfrm>
          <a:prstGeom prst="roundRect">
            <a:avLst>
              <a:gd name="adj" fmla="val 7374"/>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86" name="TextBox 85">
            <a:extLst>
              <a:ext uri="{FF2B5EF4-FFF2-40B4-BE49-F238E27FC236}">
                <a16:creationId xmlns:a16="http://schemas.microsoft.com/office/drawing/2014/main" id="{9B320F11-3F85-4920-92E0-15D89C7AF4D2}"/>
              </a:ext>
            </a:extLst>
          </p:cNvPr>
          <p:cNvSpPr txBox="1"/>
          <p:nvPr/>
        </p:nvSpPr>
        <p:spPr>
          <a:xfrm>
            <a:off x="778322" y="12392953"/>
            <a:ext cx="9509760" cy="1719060"/>
          </a:xfrm>
          <a:prstGeom prst="rect">
            <a:avLst/>
          </a:prstGeom>
          <a:noFill/>
        </p:spPr>
        <p:txBody>
          <a:bodyPr wrap="square" rtlCol="0">
            <a:spAutoFit/>
          </a:bodyPr>
          <a:lstStyle>
            <a:defPPr>
              <a:defRPr kern="1200"/>
            </a:defPPr>
          </a:lstStyle>
          <a:p>
            <a:pPr marL="365760" indent="-365760" algn="just">
              <a:lnSpc>
                <a:spcPct val="150000"/>
              </a:lnSpc>
              <a:buSzPct val="90000"/>
              <a:buFont typeface="+mj-lt"/>
              <a:buAutoNum type="romanUcPeriod"/>
            </a:pPr>
            <a:r>
              <a:rPr lang="en-US" sz="2450" kern="900" dirty="0">
                <a:solidFill>
                  <a:schemeClr val="tx1">
                    <a:lumMod val="65000"/>
                    <a:lumOff val="35000"/>
                  </a:schemeClr>
                </a:solidFill>
                <a:ea typeface="Open Sans" panose="020B0606030504020204" pitchFamily="34" charset="0"/>
                <a:cs typeface="Open Sans" panose="020B0606030504020204" pitchFamily="34" charset="0"/>
              </a:rPr>
              <a:t>Develop a hybrid model for </a:t>
            </a:r>
            <a:r>
              <a:rPr lang="en-US" sz="2450" b="1" kern="900" dirty="0">
                <a:solidFill>
                  <a:schemeClr val="tx1">
                    <a:lumMod val="65000"/>
                    <a:lumOff val="35000"/>
                  </a:schemeClr>
                </a:solidFill>
                <a:ea typeface="Open Sans" panose="020B0606030504020204" pitchFamily="34" charset="0"/>
                <a:cs typeface="Open Sans" panose="020B0606030504020204" pitchFamily="34" charset="0"/>
              </a:rPr>
              <a:t>single-mAb prediction</a:t>
            </a:r>
            <a:r>
              <a:rPr lang="en-US" sz="2450" kern="900" dirty="0">
                <a:solidFill>
                  <a:schemeClr val="tx1">
                    <a:lumMod val="65000"/>
                    <a:lumOff val="35000"/>
                  </a:schemeClr>
                </a:solidFill>
                <a:ea typeface="Open Sans" panose="020B0606030504020204" pitchFamily="34" charset="0"/>
                <a:cs typeface="Open Sans" panose="020B0606030504020204" pitchFamily="34" charset="0"/>
              </a:rPr>
              <a:t>;</a:t>
            </a:r>
          </a:p>
          <a:p>
            <a:pPr marL="365760" indent="-365760" algn="just">
              <a:lnSpc>
                <a:spcPct val="150000"/>
              </a:lnSpc>
              <a:buSzPct val="90000"/>
              <a:buFont typeface="+mj-lt"/>
              <a:buAutoNum type="romanUcPeriod"/>
            </a:pPr>
            <a:r>
              <a:rPr lang="en-US" sz="2450" kern="900" dirty="0">
                <a:solidFill>
                  <a:schemeClr val="tx1">
                    <a:lumMod val="65000"/>
                    <a:lumOff val="35000"/>
                  </a:schemeClr>
                </a:solidFill>
                <a:ea typeface="Open Sans" panose="020B0606030504020204" pitchFamily="34" charset="0"/>
                <a:cs typeface="Open Sans" panose="020B0606030504020204" pitchFamily="34" charset="0"/>
              </a:rPr>
              <a:t>Assess impact of </a:t>
            </a:r>
            <a:r>
              <a:rPr lang="en-US" sz="2450" b="1" kern="900" dirty="0">
                <a:solidFill>
                  <a:schemeClr val="tx1">
                    <a:lumMod val="65000"/>
                    <a:lumOff val="35000"/>
                  </a:schemeClr>
                </a:solidFill>
                <a:ea typeface="Open Sans" panose="020B0606030504020204" pitchFamily="34" charset="0"/>
                <a:cs typeface="Open Sans" panose="020B0606030504020204" pitchFamily="34" charset="0"/>
              </a:rPr>
              <a:t>training dataset size </a:t>
            </a:r>
            <a:r>
              <a:rPr lang="en-US" sz="2450" kern="900" dirty="0">
                <a:solidFill>
                  <a:schemeClr val="tx1">
                    <a:lumMod val="65000"/>
                    <a:lumOff val="35000"/>
                  </a:schemeClr>
                </a:solidFill>
                <a:ea typeface="Open Sans" panose="020B0606030504020204" pitchFamily="34" charset="0"/>
                <a:cs typeface="Open Sans" panose="020B0606030504020204" pitchFamily="34" charset="0"/>
              </a:rPr>
              <a:t>on model performance;</a:t>
            </a:r>
          </a:p>
          <a:p>
            <a:pPr marL="365760" indent="-365760" algn="just">
              <a:lnSpc>
                <a:spcPct val="150000"/>
              </a:lnSpc>
              <a:buSzPct val="90000"/>
              <a:buFont typeface="+mj-lt"/>
              <a:buAutoNum type="romanUcPeriod"/>
            </a:pPr>
            <a:r>
              <a:rPr lang="en-US" sz="2450" kern="900" dirty="0">
                <a:solidFill>
                  <a:schemeClr val="tx1">
                    <a:lumMod val="65000"/>
                    <a:lumOff val="35000"/>
                  </a:schemeClr>
                </a:solidFill>
                <a:ea typeface="Open Sans" panose="020B0606030504020204" pitchFamily="34" charset="0"/>
                <a:cs typeface="Open Sans" panose="020B0606030504020204" pitchFamily="34" charset="0"/>
              </a:rPr>
              <a:t>Implement </a:t>
            </a:r>
            <a:r>
              <a:rPr lang="en-US" sz="2450" b="1" kern="900" dirty="0">
                <a:solidFill>
                  <a:schemeClr val="tx1">
                    <a:lumMod val="65000"/>
                    <a:lumOff val="35000"/>
                  </a:schemeClr>
                </a:solidFill>
                <a:ea typeface="Open Sans" panose="020B0606030504020204" pitchFamily="34" charset="0"/>
                <a:cs typeface="Open Sans" panose="020B0606030504020204" pitchFamily="34" charset="0"/>
              </a:rPr>
              <a:t>multiple-mAb prediction </a:t>
            </a:r>
            <a:r>
              <a:rPr lang="en-US" sz="2450" kern="900" dirty="0">
                <a:solidFill>
                  <a:schemeClr val="tx1">
                    <a:lumMod val="65000"/>
                    <a:lumOff val="35000"/>
                  </a:schemeClr>
                </a:solidFill>
                <a:ea typeface="Open Sans" panose="020B0606030504020204" pitchFamily="34" charset="0"/>
                <a:cs typeface="Open Sans" panose="020B0606030504020204" pitchFamily="34" charset="0"/>
              </a:rPr>
              <a:t>and evaluate performance;</a:t>
            </a:r>
          </a:p>
        </p:txBody>
      </p:sp>
      <p:sp>
        <p:nvSpPr>
          <p:cNvPr id="87" name="TextBox 86">
            <a:extLst>
              <a:ext uri="{FF2B5EF4-FFF2-40B4-BE49-F238E27FC236}">
                <a16:creationId xmlns:a16="http://schemas.microsoft.com/office/drawing/2014/main" id="{7DB2E49A-CE7A-4210-AE9F-5037030C938E}"/>
              </a:ext>
            </a:extLst>
          </p:cNvPr>
          <p:cNvSpPr txBox="1"/>
          <p:nvPr/>
        </p:nvSpPr>
        <p:spPr>
          <a:xfrm>
            <a:off x="778322" y="11821607"/>
            <a:ext cx="9509760"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Objectives</a:t>
            </a:r>
          </a:p>
        </p:txBody>
      </p:sp>
      <p:sp>
        <p:nvSpPr>
          <p:cNvPr id="44" name="Rectangle: Rounded Corners 43"/>
          <p:cNvSpPr/>
          <p:nvPr/>
        </p:nvSpPr>
        <p:spPr>
          <a:xfrm>
            <a:off x="11073826" y="11171508"/>
            <a:ext cx="10283946" cy="24394005"/>
          </a:xfrm>
          <a:prstGeom prst="roundRect">
            <a:avLst>
              <a:gd name="adj" fmla="val 2700"/>
            </a:avLst>
          </a:prstGeom>
          <a:solidFill>
            <a:srgbClr val="DFF1D3"/>
          </a:solidFill>
          <a:ln>
            <a:solidFill>
              <a:srgbClr val="DFF1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89" name="TextBox 88">
            <a:extLst>
              <a:ext uri="{FF2B5EF4-FFF2-40B4-BE49-F238E27FC236}">
                <a16:creationId xmlns:a16="http://schemas.microsoft.com/office/drawing/2014/main" id="{CA3FBD3B-628E-43FF-A33F-32B15438C990}"/>
              </a:ext>
            </a:extLst>
          </p:cNvPr>
          <p:cNvSpPr txBox="1"/>
          <p:nvPr/>
        </p:nvSpPr>
        <p:spPr>
          <a:xfrm>
            <a:off x="11428117" y="11440576"/>
            <a:ext cx="9555886"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Results and Discussion</a:t>
            </a:r>
          </a:p>
        </p:txBody>
      </p:sp>
      <p:pic>
        <p:nvPicPr>
          <p:cNvPr id="27" name="Picture 2" descr="NOVA FCT MATCH | NOVA FCT">
            <a:extLst>
              <a:ext uri="{FF2B5EF4-FFF2-40B4-BE49-F238E27FC236}">
                <a16:creationId xmlns:a16="http://schemas.microsoft.com/office/drawing/2014/main" id="{2EE6EEFC-0156-4C53-8202-31C535A94B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87932" y="406745"/>
            <a:ext cx="3843473" cy="21619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718850BC-BE5D-43F8-9493-F160035AA09B}"/>
              </a:ext>
            </a:extLst>
          </p:cNvPr>
          <p:cNvSpPr txBox="1"/>
          <p:nvPr/>
        </p:nvSpPr>
        <p:spPr>
          <a:xfrm>
            <a:off x="700552" y="3126716"/>
            <a:ext cx="25567383" cy="1512658"/>
          </a:xfrm>
          <a:prstGeom prst="rect">
            <a:avLst/>
          </a:prstGeom>
          <a:noFill/>
        </p:spPr>
        <p:txBody>
          <a:bodyPr wrap="square">
            <a:spAutoFit/>
          </a:bodyPr>
          <a:lstStyle/>
          <a:p>
            <a:pPr>
              <a:lnSpc>
                <a:spcPct val="120000"/>
              </a:lnSpc>
            </a:pPr>
            <a:r>
              <a:rPr lang="en-US" sz="1968" dirty="0"/>
              <a:t>(</a:t>
            </a:r>
            <a:r>
              <a:rPr lang="el-GR" sz="1968" dirty="0"/>
              <a:t>α</a:t>
            </a:r>
            <a:r>
              <a:rPr lang="en-US" sz="1968" dirty="0"/>
              <a:t>) Presenting author: </a:t>
            </a:r>
            <a:r>
              <a:rPr lang="en-US" sz="1968" b="1" dirty="0"/>
              <a:t>leonorgundersen@gmail.com</a:t>
            </a:r>
          </a:p>
          <a:p>
            <a:pPr>
              <a:lnSpc>
                <a:spcPct val="120000"/>
              </a:lnSpc>
            </a:pPr>
            <a:r>
              <a:rPr lang="en-US" sz="1968" dirty="0"/>
              <a:t>(1) Systems Biology &amp; Engineering group, Chemistry Department, School of Sciences and Technology, NOVA School of Science and Technology, Lisbon, Portugal</a:t>
            </a:r>
          </a:p>
          <a:p>
            <a:pPr>
              <a:lnSpc>
                <a:spcPct val="120000"/>
              </a:lnSpc>
            </a:pPr>
            <a:r>
              <a:rPr lang="en-US" sz="1968" dirty="0"/>
              <a:t>(2) UCIBIO - Applied Molecular Biosciences Unit, Department of Chemistry, NOVA School of Science and Technology, Universidade NOVA de Lisboa, 2829-516 Caparica, Portugal</a:t>
            </a:r>
          </a:p>
          <a:p>
            <a:pPr>
              <a:lnSpc>
                <a:spcPct val="120000"/>
              </a:lnSpc>
            </a:pPr>
            <a:r>
              <a:rPr lang="en-US" sz="1968" dirty="0"/>
              <a:t>(3) Associate Laboratory i4HB - Institute for Health and Bioeconomy, NOVA School of Science and Technology, Universidade NOVA de Lisboa, 2829-516 Caparica, Portugal</a:t>
            </a:r>
          </a:p>
        </p:txBody>
      </p:sp>
      <p:sp>
        <p:nvSpPr>
          <p:cNvPr id="31" name="TextBox 30">
            <a:extLst>
              <a:ext uri="{FF2B5EF4-FFF2-40B4-BE49-F238E27FC236}">
                <a16:creationId xmlns:a16="http://schemas.microsoft.com/office/drawing/2014/main" id="{E7992326-952F-43BB-B1A2-0ED992616B71}"/>
              </a:ext>
            </a:extLst>
          </p:cNvPr>
          <p:cNvSpPr txBox="1"/>
          <p:nvPr/>
        </p:nvSpPr>
        <p:spPr>
          <a:xfrm>
            <a:off x="21869628" y="2979276"/>
            <a:ext cx="10073463" cy="1230465"/>
          </a:xfrm>
          <a:prstGeom prst="rect">
            <a:avLst/>
          </a:prstGeom>
          <a:noFill/>
        </p:spPr>
        <p:txBody>
          <a:bodyPr wrap="square">
            <a:spAutoFit/>
          </a:bodyPr>
          <a:lstStyle/>
          <a:p>
            <a:pPr algn="ctr">
              <a:lnSpc>
                <a:spcPct val="150000"/>
              </a:lnSpc>
            </a:pPr>
            <a:r>
              <a:rPr lang="pt-BR" sz="2600" dirty="0">
                <a:solidFill>
                  <a:schemeClr val="tx1">
                    <a:lumMod val="75000"/>
                    <a:lumOff val="25000"/>
                  </a:schemeClr>
                </a:solidFill>
                <a:latin typeface="+mj-lt"/>
              </a:rPr>
              <a:t>XII International Forum on Industrial Bioprocesses   </a:t>
            </a:r>
          </a:p>
          <a:p>
            <a:pPr algn="ctr">
              <a:lnSpc>
                <a:spcPct val="150000"/>
              </a:lnSpc>
            </a:pPr>
            <a:r>
              <a:rPr lang="pt-BR" sz="2600" dirty="0">
                <a:solidFill>
                  <a:schemeClr val="tx1">
                    <a:lumMod val="75000"/>
                    <a:lumOff val="25000"/>
                  </a:schemeClr>
                </a:solidFill>
                <a:latin typeface="+mj-lt"/>
              </a:rPr>
              <a:t>Braga, Portugal  •  9th - 12th September, 2026</a:t>
            </a:r>
            <a:endParaRPr lang="en-US" sz="2600" dirty="0">
              <a:solidFill>
                <a:schemeClr val="tx1">
                  <a:lumMod val="75000"/>
                  <a:lumOff val="25000"/>
                </a:schemeClr>
              </a:solidFill>
              <a:latin typeface="+mj-lt"/>
            </a:endParaRPr>
          </a:p>
        </p:txBody>
      </p:sp>
      <p:sp>
        <p:nvSpPr>
          <p:cNvPr id="38" name="Rectangle: Rounded Corners 37">
            <a:extLst>
              <a:ext uri="{FF2B5EF4-FFF2-40B4-BE49-F238E27FC236}">
                <a16:creationId xmlns:a16="http://schemas.microsoft.com/office/drawing/2014/main" id="{D92C89AD-A034-45B6-A889-3313FA987B33}"/>
              </a:ext>
            </a:extLst>
          </p:cNvPr>
          <p:cNvSpPr/>
          <p:nvPr/>
        </p:nvSpPr>
        <p:spPr>
          <a:xfrm>
            <a:off x="430981" y="14641845"/>
            <a:ext cx="10283946" cy="20923668"/>
          </a:xfrm>
          <a:prstGeom prst="roundRect">
            <a:avLst>
              <a:gd name="adj" fmla="val 2004"/>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41" name="TextBox 40">
            <a:extLst>
              <a:ext uri="{FF2B5EF4-FFF2-40B4-BE49-F238E27FC236}">
                <a16:creationId xmlns:a16="http://schemas.microsoft.com/office/drawing/2014/main" id="{18F979CF-35AE-430B-AF20-7C9FC2515994}"/>
              </a:ext>
            </a:extLst>
          </p:cNvPr>
          <p:cNvSpPr txBox="1"/>
          <p:nvPr/>
        </p:nvSpPr>
        <p:spPr>
          <a:xfrm>
            <a:off x="880736" y="15457251"/>
            <a:ext cx="9349042"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Synthetic Data</a:t>
            </a:r>
          </a:p>
        </p:txBody>
      </p:sp>
      <p:sp>
        <p:nvSpPr>
          <p:cNvPr id="48" name="TextBox 47">
            <a:extLst>
              <a:ext uri="{FF2B5EF4-FFF2-40B4-BE49-F238E27FC236}">
                <a16:creationId xmlns:a16="http://schemas.microsoft.com/office/drawing/2014/main" id="{500285E5-B6DD-4A43-938E-4A31110CC823}"/>
              </a:ext>
            </a:extLst>
          </p:cNvPr>
          <p:cNvSpPr txBox="1"/>
          <p:nvPr/>
        </p:nvSpPr>
        <p:spPr>
          <a:xfrm>
            <a:off x="880736" y="14873205"/>
            <a:ext cx="9349042" cy="637547"/>
          </a:xfrm>
          <a:prstGeom prst="rect">
            <a:avLst/>
          </a:prstGeom>
          <a:noFill/>
        </p:spPr>
        <p:txBody>
          <a:bodyPr wrap="square" rtlCol="0">
            <a:spAutoFit/>
          </a:bodyPr>
          <a:lstStyle>
            <a:defPPr>
              <a:defRPr kern="1200"/>
            </a:defPPr>
          </a:lstStyle>
          <a:p>
            <a:r>
              <a:rPr lang="en-US" sz="3543" b="1" dirty="0">
                <a:solidFill>
                  <a:schemeClr val="tx1">
                    <a:lumMod val="75000"/>
                    <a:lumOff val="25000"/>
                  </a:schemeClr>
                </a:solidFill>
                <a:latin typeface="+mj-lt"/>
              </a:rPr>
              <a:t>Framework</a:t>
            </a:r>
          </a:p>
        </p:txBody>
      </p:sp>
      <p:sp>
        <p:nvSpPr>
          <p:cNvPr id="49" name="TextBox 48">
            <a:extLst>
              <a:ext uri="{FF2B5EF4-FFF2-40B4-BE49-F238E27FC236}">
                <a16:creationId xmlns:a16="http://schemas.microsoft.com/office/drawing/2014/main" id="{1E1C47F2-8B26-4EFF-B8E4-8EB00B4FA17A}"/>
              </a:ext>
            </a:extLst>
          </p:cNvPr>
          <p:cNvSpPr txBox="1"/>
          <p:nvPr/>
        </p:nvSpPr>
        <p:spPr>
          <a:xfrm>
            <a:off x="778322" y="5986131"/>
            <a:ext cx="9509760" cy="2493568"/>
          </a:xfrm>
          <a:prstGeom prst="rect">
            <a:avLst/>
          </a:prstGeom>
          <a:noFill/>
        </p:spPr>
        <p:txBody>
          <a:bodyPr wrap="square" rtlCol="0">
            <a:spAutoFit/>
          </a:bodyPr>
          <a:lstStyle>
            <a:defPPr>
              <a:defRPr kern="1200"/>
            </a:defPPr>
          </a:lstStyle>
          <a:p>
            <a:pPr algn="just">
              <a:lnSpc>
                <a:spcPct val="130000"/>
              </a:lnSpc>
            </a:pPr>
            <a:r>
              <a:rPr lang="en-US" sz="2800" b="1" dirty="0">
                <a:solidFill>
                  <a:schemeClr val="tx1">
                    <a:lumMod val="65000"/>
                    <a:lumOff val="35000"/>
                  </a:schemeClr>
                </a:solidFill>
                <a:ea typeface="Open Sans" panose="020B0606030504020204" pitchFamily="34" charset="0"/>
                <a:cs typeface="Open Sans" panose="020B0606030504020204" pitchFamily="34" charset="0"/>
              </a:rPr>
              <a:t>Hybrid models </a:t>
            </a:r>
            <a:r>
              <a:rPr lang="en-US" sz="2362" dirty="0">
                <a:solidFill>
                  <a:schemeClr val="tx1">
                    <a:lumMod val="65000"/>
                    <a:lumOff val="35000"/>
                  </a:schemeClr>
                </a:solidFill>
                <a:ea typeface="Open Sans" panose="020B0606030504020204" pitchFamily="34" charset="0"/>
                <a:cs typeface="Open Sans" panose="020B0606030504020204" pitchFamily="34" charset="0"/>
              </a:rPr>
              <a:t>combine mechanistic and data-driven methods, leveraging on prior knowledge and data availability. The mechanistic component reduces data needs, while the data-driven component fills knowledge gaps. This flexibility makes hybrid modeling the method of choice for digital twins in Biopharma 4.0.</a:t>
            </a:r>
          </a:p>
        </p:txBody>
      </p:sp>
      <p:sp>
        <p:nvSpPr>
          <p:cNvPr id="50" name="TextBox 49">
            <a:extLst>
              <a:ext uri="{FF2B5EF4-FFF2-40B4-BE49-F238E27FC236}">
                <a16:creationId xmlns:a16="http://schemas.microsoft.com/office/drawing/2014/main" id="{09BE11CC-EAFA-43EF-A688-09B9AB383577}"/>
              </a:ext>
            </a:extLst>
          </p:cNvPr>
          <p:cNvSpPr txBox="1"/>
          <p:nvPr/>
        </p:nvSpPr>
        <p:spPr>
          <a:xfrm>
            <a:off x="778322" y="8572223"/>
            <a:ext cx="9509760" cy="2493568"/>
          </a:xfrm>
          <a:prstGeom prst="rect">
            <a:avLst/>
          </a:prstGeom>
          <a:noFill/>
        </p:spPr>
        <p:txBody>
          <a:bodyPr wrap="square" rtlCol="0">
            <a:spAutoFit/>
          </a:bodyPr>
          <a:lstStyle>
            <a:defPPr>
              <a:defRPr kern="1200"/>
            </a:defPPr>
          </a:lstStyle>
          <a:p>
            <a:pPr algn="just">
              <a:lnSpc>
                <a:spcPct val="130000"/>
              </a:lnSpc>
            </a:pPr>
            <a:r>
              <a:rPr lang="en-US" sz="2800" b="1" dirty="0">
                <a:solidFill>
                  <a:schemeClr val="tx1">
                    <a:lumMod val="65000"/>
                    <a:lumOff val="35000"/>
                  </a:schemeClr>
                </a:solidFill>
                <a:ea typeface="Open Sans" panose="020B0606030504020204" pitchFamily="34" charset="0"/>
                <a:cs typeface="Open Sans" panose="020B0606030504020204" pitchFamily="34" charset="0"/>
              </a:rPr>
              <a:t>CHO cells </a:t>
            </a:r>
            <a:r>
              <a:rPr lang="en-US" sz="2362" dirty="0">
                <a:solidFill>
                  <a:schemeClr val="tx1">
                    <a:lumMod val="65000"/>
                    <a:lumOff val="35000"/>
                  </a:schemeClr>
                </a:solidFill>
                <a:ea typeface="Open Sans" panose="020B0606030504020204" pitchFamily="34" charset="0"/>
                <a:cs typeface="Open Sans" panose="020B0606030504020204" pitchFamily="34" charset="0"/>
              </a:rPr>
              <a:t>are the preferred host system for biotherapeutic production, but establishing and optimizing each new biotherapeutic is costly and slow. Hybrid models that can minimize experimental burden and leverage knowledge transferability are a key tool for bioprocess digitalization towards efficient development of new biotherapeutics.</a:t>
            </a:r>
          </a:p>
        </p:txBody>
      </p:sp>
      <p:sp>
        <p:nvSpPr>
          <p:cNvPr id="52" name="TextBox 51">
            <a:extLst>
              <a:ext uri="{FF2B5EF4-FFF2-40B4-BE49-F238E27FC236}">
                <a16:creationId xmlns:a16="http://schemas.microsoft.com/office/drawing/2014/main" id="{65EB8E1B-34FE-4D5F-9C64-ACF979AAA310}"/>
              </a:ext>
            </a:extLst>
          </p:cNvPr>
          <p:cNvSpPr txBox="1"/>
          <p:nvPr/>
        </p:nvSpPr>
        <p:spPr>
          <a:xfrm>
            <a:off x="778322" y="27581880"/>
            <a:ext cx="9349042"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Hybrid Model</a:t>
            </a:r>
          </a:p>
        </p:txBody>
      </p:sp>
      <p:pic>
        <p:nvPicPr>
          <p:cNvPr id="54" name="Picture 2" descr="UCIBIO in the news | UCIBIO classified as Exceptional on the Evaluation of  R&amp;D Units by FCT &amp; ESF | UCIBIO">
            <a:extLst>
              <a:ext uri="{FF2B5EF4-FFF2-40B4-BE49-F238E27FC236}">
                <a16:creationId xmlns:a16="http://schemas.microsoft.com/office/drawing/2014/main" id="{E12E40DE-CB5C-4550-A4D3-04622EED214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Effect>
                      <a14:saturation sat="200000"/>
                    </a14:imgEffect>
                  </a14:imgLayer>
                </a14:imgProps>
              </a:ext>
              <a:ext uri="{28A0092B-C50C-407E-A947-70E740481C1C}">
                <a14:useLocalDpi xmlns:a14="http://schemas.microsoft.com/office/drawing/2010/main" val="0"/>
              </a:ext>
            </a:extLst>
          </a:blip>
          <a:srcRect l="7115" t="21587" r="7885" b="25332"/>
          <a:stretch/>
        </p:blipFill>
        <p:spPr bwMode="auto">
          <a:xfrm>
            <a:off x="25166307" y="34220559"/>
            <a:ext cx="2333767" cy="1069999"/>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6" descr="Uma Bolsa de Investigação para Mestre (Ref.ª “BM/02-2025/BM-UCIBIO/i4HB” |  Departamento de Química">
            <a:extLst>
              <a:ext uri="{FF2B5EF4-FFF2-40B4-BE49-F238E27FC236}">
                <a16:creationId xmlns:a16="http://schemas.microsoft.com/office/drawing/2014/main" id="{23CC31D2-C867-4BBF-AFA8-C80EC3C6055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786816" y="34258315"/>
            <a:ext cx="1450204" cy="99448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75726D96-3972-4926-9D46-EF49ED92A973}"/>
              </a:ext>
            </a:extLst>
          </p:cNvPr>
          <p:cNvPicPr>
            <a:picLocks noChangeAspect="1"/>
          </p:cNvPicPr>
          <p:nvPr/>
        </p:nvPicPr>
        <p:blipFill>
          <a:blip r:embed="rId6"/>
          <a:stretch>
            <a:fillRect/>
          </a:stretch>
        </p:blipFill>
        <p:spPr>
          <a:xfrm>
            <a:off x="29812519" y="34182802"/>
            <a:ext cx="1527349" cy="1145512"/>
          </a:xfrm>
          <a:prstGeom prst="rect">
            <a:avLst/>
          </a:prstGeom>
        </p:spPr>
      </p:pic>
      <p:pic>
        <p:nvPicPr>
          <p:cNvPr id="62" name="Google Shape;347;p13">
            <a:extLst>
              <a:ext uri="{FF2B5EF4-FFF2-40B4-BE49-F238E27FC236}">
                <a16:creationId xmlns:a16="http://schemas.microsoft.com/office/drawing/2014/main" id="{40210F5F-2653-4463-ABBB-263DF3BB4AC3}"/>
              </a:ext>
            </a:extLst>
          </p:cNvPr>
          <p:cNvPicPr preferRelativeResize="0"/>
          <p:nvPr/>
        </p:nvPicPr>
        <p:blipFill rotWithShape="1">
          <a:blip r:embed="rId7">
            <a:alphaModFix/>
            <a:extLst>
              <a:ext uri="{BEBA8EAE-BF5A-486C-A8C5-ECC9F3942E4B}">
                <a14:imgProps xmlns:a14="http://schemas.microsoft.com/office/drawing/2010/main">
                  <a14:imgLayer r:embed="rId8">
                    <a14:imgEffect>
                      <a14:sharpenSoften amount="25000"/>
                    </a14:imgEffect>
                  </a14:imgLayer>
                </a14:imgProps>
              </a:ext>
            </a:extLst>
          </a:blip>
          <a:srcRect b="24611"/>
          <a:stretch/>
        </p:blipFill>
        <p:spPr>
          <a:xfrm>
            <a:off x="22214140" y="34270687"/>
            <a:ext cx="2521047" cy="969743"/>
          </a:xfrm>
          <a:prstGeom prst="rect">
            <a:avLst/>
          </a:prstGeom>
          <a:noFill/>
          <a:ln>
            <a:noFill/>
          </a:ln>
        </p:spPr>
      </p:pic>
      <p:pic>
        <p:nvPicPr>
          <p:cNvPr id="20" name="Picture 19">
            <a:extLst>
              <a:ext uri="{FF2B5EF4-FFF2-40B4-BE49-F238E27FC236}">
                <a16:creationId xmlns:a16="http://schemas.microsoft.com/office/drawing/2014/main" id="{2FF8797C-9A21-4DD8-BF72-443047FB00B5}"/>
              </a:ext>
            </a:extLst>
          </p:cNvPr>
          <p:cNvPicPr>
            <a:picLocks noChangeAspect="1"/>
          </p:cNvPicPr>
          <p:nvPr/>
        </p:nvPicPr>
        <p:blipFill>
          <a:blip r:embed="rId9"/>
          <a:stretch>
            <a:fillRect/>
          </a:stretch>
        </p:blipFill>
        <p:spPr>
          <a:xfrm>
            <a:off x="5607079" y="22206423"/>
            <a:ext cx="4356000" cy="3467021"/>
          </a:xfrm>
          <a:prstGeom prst="rect">
            <a:avLst/>
          </a:prstGeom>
        </p:spPr>
      </p:pic>
      <p:pic>
        <p:nvPicPr>
          <p:cNvPr id="24" name="Picture 23">
            <a:extLst>
              <a:ext uri="{FF2B5EF4-FFF2-40B4-BE49-F238E27FC236}">
                <a16:creationId xmlns:a16="http://schemas.microsoft.com/office/drawing/2014/main" id="{97747D39-E7BF-4737-806E-E0E5E6B3D635}"/>
              </a:ext>
            </a:extLst>
          </p:cNvPr>
          <p:cNvPicPr>
            <a:picLocks noChangeAspect="1"/>
          </p:cNvPicPr>
          <p:nvPr/>
        </p:nvPicPr>
        <p:blipFill>
          <a:blip r:embed="rId10"/>
          <a:stretch>
            <a:fillRect/>
          </a:stretch>
        </p:blipFill>
        <p:spPr>
          <a:xfrm>
            <a:off x="1122304" y="22206423"/>
            <a:ext cx="4356000" cy="3467021"/>
          </a:xfrm>
          <a:prstGeom prst="rect">
            <a:avLst/>
          </a:prstGeom>
        </p:spPr>
      </p:pic>
      <p:sp>
        <p:nvSpPr>
          <p:cNvPr id="134" name="TextBox 133">
            <a:extLst>
              <a:ext uri="{FF2B5EF4-FFF2-40B4-BE49-F238E27FC236}">
                <a16:creationId xmlns:a16="http://schemas.microsoft.com/office/drawing/2014/main" id="{A96C6946-8FBB-6965-4DC2-31417C98E34F}"/>
              </a:ext>
            </a:extLst>
          </p:cNvPr>
          <p:cNvSpPr txBox="1"/>
          <p:nvPr/>
        </p:nvSpPr>
        <p:spPr>
          <a:xfrm>
            <a:off x="880736" y="16028821"/>
            <a:ext cx="9349042" cy="1360885"/>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Data-generation code was adapted from Robitaille et al. (2015). A 3-factor Design of Experiments (DoE) was used: </a:t>
            </a:r>
            <a:r>
              <a:rPr lang="en-GB" sz="2362" u="sng" dirty="0">
                <a:solidFill>
                  <a:schemeClr val="tx1">
                    <a:lumMod val="65000"/>
                    <a:lumOff val="35000"/>
                  </a:schemeClr>
                </a:solidFill>
                <a:ea typeface="Open Sans" panose="020B0606030504020204" pitchFamily="34" charset="0"/>
                <a:cs typeface="Open Sans" panose="020B0606030504020204" pitchFamily="34" charset="0"/>
              </a:rPr>
              <a:t>induction time</a:t>
            </a:r>
            <a:r>
              <a:rPr lang="en-GB" sz="2362" dirty="0">
                <a:solidFill>
                  <a:schemeClr val="tx1">
                    <a:lumMod val="65000"/>
                    <a:lumOff val="35000"/>
                  </a:schemeClr>
                </a:solidFill>
                <a:ea typeface="Open Sans" panose="020B0606030504020204" pitchFamily="34" charset="0"/>
                <a:cs typeface="Open Sans" panose="020B0606030504020204" pitchFamily="34" charset="0"/>
              </a:rPr>
              <a:t> (T</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ind</a:t>
            </a:r>
            <a:r>
              <a:rPr lang="en-GB" sz="2362" dirty="0">
                <a:solidFill>
                  <a:schemeClr val="tx1">
                    <a:lumMod val="65000"/>
                    <a:lumOff val="35000"/>
                  </a:schemeClr>
                </a:solidFill>
                <a:ea typeface="Open Sans" panose="020B0606030504020204" pitchFamily="34" charset="0"/>
                <a:cs typeface="Open Sans" panose="020B0606030504020204" pitchFamily="34" charset="0"/>
              </a:rPr>
              <a:t>) and </a:t>
            </a:r>
            <a:r>
              <a:rPr lang="en-GB" sz="2362" u="sng" dirty="0">
                <a:solidFill>
                  <a:schemeClr val="tx1">
                    <a:lumMod val="65000"/>
                    <a:lumOff val="35000"/>
                  </a:schemeClr>
                </a:solidFill>
                <a:ea typeface="Open Sans" panose="020B0606030504020204" pitchFamily="34" charset="0"/>
                <a:cs typeface="Open Sans" panose="020B0606030504020204" pitchFamily="34" charset="0"/>
              </a:rPr>
              <a:t>pre</a:t>
            </a:r>
            <a:r>
              <a:rPr lang="en-GB" sz="2362" dirty="0">
                <a:solidFill>
                  <a:schemeClr val="tx1">
                    <a:lumMod val="65000"/>
                    <a:lumOff val="35000"/>
                  </a:schemeClr>
                </a:solidFill>
                <a:ea typeface="Open Sans" panose="020B0606030504020204" pitchFamily="34" charset="0"/>
                <a:cs typeface="Open Sans" panose="020B0606030504020204" pitchFamily="34" charset="0"/>
              </a:rPr>
              <a:t> (F</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Pre</a:t>
            </a:r>
            <a:r>
              <a:rPr lang="en-GB" sz="2362" dirty="0">
                <a:solidFill>
                  <a:schemeClr val="tx1">
                    <a:lumMod val="65000"/>
                    <a:lumOff val="35000"/>
                  </a:schemeClr>
                </a:solidFill>
                <a:ea typeface="Open Sans" panose="020B0606030504020204" pitchFamily="34" charset="0"/>
                <a:cs typeface="Open Sans" panose="020B0606030504020204" pitchFamily="34" charset="0"/>
              </a:rPr>
              <a:t>) and </a:t>
            </a:r>
            <a:r>
              <a:rPr lang="en-GB" sz="2362" u="sng" dirty="0">
                <a:solidFill>
                  <a:schemeClr val="tx1">
                    <a:lumMod val="65000"/>
                    <a:lumOff val="35000"/>
                  </a:schemeClr>
                </a:solidFill>
                <a:ea typeface="Open Sans" panose="020B0606030504020204" pitchFamily="34" charset="0"/>
                <a:cs typeface="Open Sans" panose="020B0606030504020204" pitchFamily="34" charset="0"/>
              </a:rPr>
              <a:t>post induction feed rate</a:t>
            </a:r>
            <a:r>
              <a:rPr lang="en-GB" sz="2362" dirty="0">
                <a:solidFill>
                  <a:schemeClr val="tx1">
                    <a:lumMod val="65000"/>
                    <a:lumOff val="35000"/>
                  </a:schemeClr>
                </a:solidFill>
                <a:ea typeface="Open Sans" panose="020B0606030504020204" pitchFamily="34" charset="0"/>
                <a:cs typeface="Open Sans" panose="020B0606030504020204" pitchFamily="34" charset="0"/>
              </a:rPr>
              <a:t> (F</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Pre</a:t>
            </a:r>
            <a:r>
              <a:rPr lang="en-GB" sz="2362" dirty="0">
                <a:solidFill>
                  <a:schemeClr val="tx1">
                    <a:lumMod val="65000"/>
                    <a:lumOff val="35000"/>
                  </a:schemeClr>
                </a:solidFill>
                <a:ea typeface="Open Sans" panose="020B0606030504020204" pitchFamily="34" charset="0"/>
                <a:cs typeface="Open Sans" panose="020B0606030504020204" pitchFamily="34" charset="0"/>
              </a:rPr>
              <a:t>) </a:t>
            </a:r>
            <a:r>
              <a:rPr lang="en-GB" sz="2362" b="1" dirty="0">
                <a:solidFill>
                  <a:schemeClr val="tx1">
                    <a:lumMod val="65000"/>
                    <a:lumOff val="35000"/>
                  </a:schemeClr>
                </a:solidFill>
                <a:ea typeface="Open Sans" panose="020B0606030504020204" pitchFamily="34" charset="0"/>
                <a:cs typeface="Open Sans" panose="020B0606030504020204" pitchFamily="34" charset="0"/>
              </a:rPr>
              <a:t>(Figure 1)</a:t>
            </a:r>
            <a:r>
              <a:rPr lang="en-GB" sz="2362" dirty="0">
                <a:solidFill>
                  <a:schemeClr val="tx1">
                    <a:lumMod val="65000"/>
                    <a:lumOff val="35000"/>
                  </a:schemeClr>
                </a:solidFill>
                <a:ea typeface="Open Sans" panose="020B0606030504020204" pitchFamily="34" charset="0"/>
                <a:cs typeface="Open Sans" panose="020B0606030504020204" pitchFamily="34" charset="0"/>
              </a:rPr>
              <a:t>.</a:t>
            </a:r>
            <a:endParaRPr lang="en-US" sz="2362" b="1"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136" name="TextBox 135">
            <a:extLst>
              <a:ext uri="{FF2B5EF4-FFF2-40B4-BE49-F238E27FC236}">
                <a16:creationId xmlns:a16="http://schemas.microsoft.com/office/drawing/2014/main" id="{663A435B-3EAD-F1F3-7BA7-3902FF699735}"/>
              </a:ext>
            </a:extLst>
          </p:cNvPr>
          <p:cNvSpPr txBox="1"/>
          <p:nvPr/>
        </p:nvSpPr>
        <p:spPr>
          <a:xfrm>
            <a:off x="1678303" y="19803664"/>
            <a:ext cx="7933752" cy="400110"/>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1: </a:t>
            </a:r>
            <a:r>
              <a:rPr lang="en-GB" sz="2000" dirty="0">
                <a:solidFill>
                  <a:schemeClr val="tx1">
                    <a:lumMod val="65000"/>
                    <a:lumOff val="35000"/>
                  </a:schemeClr>
                </a:solidFill>
                <a:ea typeface="Open Sans" panose="020B0606030504020204" pitchFamily="34" charset="0"/>
                <a:cs typeface="Open Sans" panose="020B0606030504020204" pitchFamily="34" charset="0"/>
              </a:rPr>
              <a:t>DoE schematic with 3 varying factors (T</a:t>
            </a:r>
            <a:r>
              <a:rPr lang="en-GB" sz="2000" baseline="-25000" dirty="0">
                <a:solidFill>
                  <a:schemeClr val="tx1">
                    <a:lumMod val="65000"/>
                    <a:lumOff val="35000"/>
                  </a:schemeClr>
                </a:solidFill>
                <a:ea typeface="Open Sans" panose="020B0606030504020204" pitchFamily="34" charset="0"/>
                <a:cs typeface="Open Sans" panose="020B0606030504020204" pitchFamily="34" charset="0"/>
              </a:rPr>
              <a:t>ind</a:t>
            </a:r>
            <a:r>
              <a:rPr lang="en-GB" sz="2000" dirty="0">
                <a:solidFill>
                  <a:schemeClr val="tx1">
                    <a:lumMod val="65000"/>
                    <a:lumOff val="35000"/>
                  </a:schemeClr>
                </a:solidFill>
                <a:ea typeface="Open Sans" panose="020B0606030504020204" pitchFamily="34" charset="0"/>
                <a:cs typeface="Open Sans" panose="020B0606030504020204" pitchFamily="34" charset="0"/>
              </a:rPr>
              <a:t>, F</a:t>
            </a:r>
            <a:r>
              <a:rPr lang="en-GB" sz="2000" baseline="-25000" dirty="0">
                <a:solidFill>
                  <a:schemeClr val="tx1">
                    <a:lumMod val="65000"/>
                    <a:lumOff val="35000"/>
                  </a:schemeClr>
                </a:solidFill>
                <a:ea typeface="Open Sans" panose="020B0606030504020204" pitchFamily="34" charset="0"/>
                <a:cs typeface="Open Sans" panose="020B0606030504020204" pitchFamily="34" charset="0"/>
              </a:rPr>
              <a:t>Pre</a:t>
            </a:r>
            <a:r>
              <a:rPr lang="en-GB" sz="2000" dirty="0">
                <a:solidFill>
                  <a:schemeClr val="tx1">
                    <a:lumMod val="65000"/>
                    <a:lumOff val="35000"/>
                  </a:schemeClr>
                </a:solidFill>
                <a:ea typeface="Open Sans" panose="020B0606030504020204" pitchFamily="34" charset="0"/>
                <a:cs typeface="Open Sans" panose="020B0606030504020204" pitchFamily="34" charset="0"/>
              </a:rPr>
              <a:t> , and F</a:t>
            </a:r>
            <a:r>
              <a:rPr lang="en-GB" sz="2000" baseline="-25000" dirty="0">
                <a:solidFill>
                  <a:schemeClr val="tx1">
                    <a:lumMod val="65000"/>
                    <a:lumOff val="35000"/>
                  </a:schemeClr>
                </a:solidFill>
                <a:ea typeface="Open Sans" panose="020B0606030504020204" pitchFamily="34" charset="0"/>
                <a:cs typeface="Open Sans" panose="020B0606030504020204" pitchFamily="34" charset="0"/>
              </a:rPr>
              <a:t>Pre</a:t>
            </a:r>
            <a:r>
              <a:rPr lang="en-GB" sz="2000" dirty="0">
                <a:solidFill>
                  <a:schemeClr val="tx1">
                    <a:lumMod val="65000"/>
                    <a:lumOff val="35000"/>
                  </a:schemeClr>
                </a:solidFill>
                <a:ea typeface="Open Sans" panose="020B0606030504020204" pitchFamily="34" charset="0"/>
                <a:cs typeface="Open Sans" panose="020B0606030504020204" pitchFamily="34" charset="0"/>
              </a:rPr>
              <a:t>).  </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149" name="TextBox 148">
            <a:extLst>
              <a:ext uri="{FF2B5EF4-FFF2-40B4-BE49-F238E27FC236}">
                <a16:creationId xmlns:a16="http://schemas.microsoft.com/office/drawing/2014/main" id="{DC63A668-373A-3630-81A6-3E2AE8BE1B88}"/>
              </a:ext>
            </a:extLst>
          </p:cNvPr>
          <p:cNvSpPr txBox="1"/>
          <p:nvPr/>
        </p:nvSpPr>
        <p:spPr>
          <a:xfrm>
            <a:off x="880736" y="20231689"/>
            <a:ext cx="9349042" cy="1797095"/>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Data was generated for </a:t>
            </a:r>
            <a:r>
              <a:rPr lang="en-US" sz="2362" u="sng" dirty="0">
                <a:solidFill>
                  <a:schemeClr val="tx1">
                    <a:lumMod val="65000"/>
                    <a:lumOff val="35000"/>
                  </a:schemeClr>
                </a:solidFill>
                <a:ea typeface="Open Sans" panose="020B0606030504020204" pitchFamily="34" charset="0"/>
                <a:cs typeface="Open Sans" panose="020B0606030504020204" pitchFamily="34" charset="0"/>
              </a:rPr>
              <a:t>72 commercial monoclonal antibodies </a:t>
            </a:r>
            <a:r>
              <a:rPr lang="en-US" sz="2362" dirty="0">
                <a:solidFill>
                  <a:schemeClr val="tx1">
                    <a:lumMod val="65000"/>
                    <a:lumOff val="35000"/>
                  </a:schemeClr>
                </a:solidFill>
                <a:ea typeface="Open Sans" panose="020B0606030504020204" pitchFamily="34" charset="0"/>
                <a:cs typeface="Open Sans" panose="020B0606030504020204" pitchFamily="34" charset="0"/>
              </a:rPr>
              <a:t>(mAbs), with different </a:t>
            </a:r>
            <a:r>
              <a:rPr lang="en-US" sz="2362" u="sng" dirty="0">
                <a:solidFill>
                  <a:schemeClr val="tx1">
                    <a:lumMod val="65000"/>
                    <a:lumOff val="35000"/>
                  </a:schemeClr>
                </a:solidFill>
                <a:ea typeface="Open Sans" panose="020B0606030504020204" pitchFamily="34" charset="0"/>
                <a:cs typeface="Open Sans" panose="020B0606030504020204" pitchFamily="34" charset="0"/>
              </a:rPr>
              <a:t>maximum production velocities</a:t>
            </a:r>
            <a:r>
              <a:rPr lang="en-US" sz="2362" dirty="0">
                <a:solidFill>
                  <a:schemeClr val="tx1">
                    <a:lumMod val="65000"/>
                    <a:lumOff val="35000"/>
                  </a:schemeClr>
                </a:solidFill>
                <a:ea typeface="Open Sans" panose="020B0606030504020204" pitchFamily="34" charset="0"/>
                <a:cs typeface="Open Sans" panose="020B0606030504020204" pitchFamily="34" charset="0"/>
              </a:rPr>
              <a:t> (V</a:t>
            </a:r>
            <a:r>
              <a:rPr lang="en-US" sz="2362" baseline="-25000" dirty="0">
                <a:solidFill>
                  <a:schemeClr val="tx1">
                    <a:lumMod val="65000"/>
                    <a:lumOff val="35000"/>
                  </a:schemeClr>
                </a:solidFill>
                <a:ea typeface="Open Sans" panose="020B0606030504020204" pitchFamily="34" charset="0"/>
                <a:cs typeface="Open Sans" panose="020B0606030504020204" pitchFamily="34" charset="0"/>
              </a:rPr>
              <a:t>maxmAb</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r>
              <a:rPr lang="en-US" sz="2362" b="1" dirty="0">
                <a:solidFill>
                  <a:schemeClr val="tx1">
                    <a:lumMod val="65000"/>
                    <a:lumOff val="35000"/>
                  </a:schemeClr>
                </a:solidFill>
                <a:ea typeface="Open Sans" panose="020B0606030504020204" pitchFamily="34" charset="0"/>
                <a:cs typeface="Open Sans" panose="020B0606030504020204" pitchFamily="34" charset="0"/>
              </a:rPr>
              <a:t>(Figure 2.A)</a:t>
            </a:r>
            <a:r>
              <a:rPr lang="en-US" sz="2362" dirty="0">
                <a:solidFill>
                  <a:schemeClr val="tx1">
                    <a:lumMod val="65000"/>
                    <a:lumOff val="35000"/>
                  </a:schemeClr>
                </a:solidFill>
                <a:ea typeface="Open Sans" panose="020B0606030504020204" pitchFamily="34" charset="0"/>
                <a:cs typeface="Open Sans" panose="020B0606030504020204" pitchFamily="34" charset="0"/>
              </a:rPr>
              <a:t>.</a:t>
            </a:r>
            <a:r>
              <a:rPr lang="en-US" sz="2362" b="1" dirty="0">
                <a:solidFill>
                  <a:schemeClr val="tx1">
                    <a:lumMod val="65000"/>
                    <a:lumOff val="35000"/>
                  </a:schemeClr>
                </a:solidFill>
                <a:ea typeface="Open Sans" panose="020B0606030504020204" pitchFamily="34" charset="0"/>
                <a:cs typeface="Open Sans" panose="020B0606030504020204" pitchFamily="34" charset="0"/>
              </a:rPr>
              <a:t> </a:t>
            </a:r>
            <a:r>
              <a:rPr lang="en-US" sz="2362" dirty="0">
                <a:solidFill>
                  <a:schemeClr val="tx1">
                    <a:lumMod val="65000"/>
                    <a:lumOff val="35000"/>
                  </a:schemeClr>
                </a:solidFill>
                <a:ea typeface="Open Sans" panose="020B0606030504020204" pitchFamily="34" charset="0"/>
                <a:cs typeface="Open Sans" panose="020B0606030504020204" pitchFamily="34" charset="0"/>
              </a:rPr>
              <a:t>The different </a:t>
            </a:r>
            <a:r>
              <a:rPr lang="en-GB" sz="2362" dirty="0">
                <a:solidFill>
                  <a:schemeClr val="tx1">
                    <a:lumMod val="65000"/>
                    <a:lumOff val="35000"/>
                  </a:schemeClr>
                </a:solidFill>
                <a:ea typeface="Open Sans" panose="020B0606030504020204" pitchFamily="34" charset="0"/>
                <a:cs typeface="Open Sans" panose="020B0606030504020204" pitchFamily="34" charset="0"/>
              </a:rPr>
              <a:t>metabolic profiles </a:t>
            </a:r>
            <a:r>
              <a:rPr lang="en-US" sz="2362" dirty="0">
                <a:solidFill>
                  <a:schemeClr val="tx1">
                    <a:lumMod val="65000"/>
                    <a:lumOff val="35000"/>
                  </a:schemeClr>
                </a:solidFill>
                <a:ea typeface="Open Sans" panose="020B0606030504020204" pitchFamily="34" charset="0"/>
                <a:cs typeface="Open Sans" panose="020B0606030504020204" pitchFamily="34" charset="0"/>
              </a:rPr>
              <a:t>and </a:t>
            </a:r>
            <a:r>
              <a:rPr lang="en-GB" sz="2362" dirty="0">
                <a:solidFill>
                  <a:schemeClr val="tx1">
                    <a:lumMod val="65000"/>
                    <a:lumOff val="35000"/>
                  </a:schemeClr>
                </a:solidFill>
                <a:ea typeface="Open Sans" panose="020B0606030504020204" pitchFamily="34" charset="0"/>
                <a:cs typeface="Open Sans" panose="020B0606030504020204" pitchFamily="34" charset="0"/>
              </a:rPr>
              <a:t>batch conditions lead to distinct productions of antibody </a:t>
            </a:r>
            <a:r>
              <a:rPr lang="en-US" sz="2362" b="1" dirty="0">
                <a:solidFill>
                  <a:schemeClr val="tx1">
                    <a:lumMod val="65000"/>
                    <a:lumOff val="35000"/>
                  </a:schemeClr>
                </a:solidFill>
                <a:ea typeface="Open Sans" panose="020B0606030504020204" pitchFamily="34" charset="0"/>
                <a:cs typeface="Open Sans" panose="020B0606030504020204" pitchFamily="34" charset="0"/>
              </a:rPr>
              <a:t>(Figure 2.B)</a:t>
            </a:r>
            <a:r>
              <a:rPr lang="en-US" sz="2362" dirty="0">
                <a:solidFill>
                  <a:schemeClr val="tx1">
                    <a:lumMod val="65000"/>
                    <a:lumOff val="35000"/>
                  </a:schemeClr>
                </a:solidFill>
                <a:ea typeface="Open Sans" panose="020B0606030504020204" pitchFamily="34" charset="0"/>
                <a:cs typeface="Open Sans" panose="020B0606030504020204" pitchFamily="34" charset="0"/>
              </a:rPr>
              <a:t>.</a:t>
            </a:r>
            <a:r>
              <a:rPr lang="en-US" sz="2362" b="1" dirty="0">
                <a:solidFill>
                  <a:schemeClr val="tx1">
                    <a:lumMod val="65000"/>
                    <a:lumOff val="35000"/>
                  </a:schemeClr>
                </a:solidFill>
                <a:ea typeface="Open Sans" panose="020B0606030504020204" pitchFamily="34" charset="0"/>
                <a:cs typeface="Open Sans" panose="020B0606030504020204" pitchFamily="34" charset="0"/>
              </a:rPr>
              <a:t> </a:t>
            </a:r>
            <a:endParaRPr lang="en-US" sz="2362"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152" name="TextBox 151">
            <a:extLst>
              <a:ext uri="{FF2B5EF4-FFF2-40B4-BE49-F238E27FC236}">
                <a16:creationId xmlns:a16="http://schemas.microsoft.com/office/drawing/2014/main" id="{B7762F02-2890-6ECC-A2D9-8AC792759002}"/>
              </a:ext>
            </a:extLst>
          </p:cNvPr>
          <p:cNvSpPr txBox="1"/>
          <p:nvPr/>
        </p:nvSpPr>
        <p:spPr>
          <a:xfrm>
            <a:off x="2641585" y="22384733"/>
            <a:ext cx="635243" cy="455830"/>
          </a:xfrm>
          <a:prstGeom prst="rect">
            <a:avLst/>
          </a:prstGeom>
          <a:noFill/>
        </p:spPr>
        <p:txBody>
          <a:bodyPr wrap="square" rtlCol="0">
            <a:spAutoFit/>
          </a:bodyPr>
          <a:lstStyle>
            <a:defPPr>
              <a:defRPr kern="1200"/>
            </a:defPPr>
          </a:lstStyle>
          <a:p>
            <a:pPr algn="ctr"/>
            <a:r>
              <a:rPr lang="en-US" sz="2362" b="1" dirty="0">
                <a:solidFill>
                  <a:schemeClr val="tx1">
                    <a:lumMod val="65000"/>
                    <a:lumOff val="35000"/>
                  </a:schemeClr>
                </a:solidFill>
                <a:ea typeface="Open Sans" panose="020B0606030504020204" pitchFamily="34" charset="0"/>
                <a:cs typeface="Open Sans" panose="020B0606030504020204" pitchFamily="34" charset="0"/>
              </a:rPr>
              <a:t>(A) </a:t>
            </a:r>
          </a:p>
        </p:txBody>
      </p:sp>
      <p:sp>
        <p:nvSpPr>
          <p:cNvPr id="154" name="TextBox 153">
            <a:extLst>
              <a:ext uri="{FF2B5EF4-FFF2-40B4-BE49-F238E27FC236}">
                <a16:creationId xmlns:a16="http://schemas.microsoft.com/office/drawing/2014/main" id="{4A31E092-481D-0C7D-4173-7396CF170285}"/>
              </a:ext>
            </a:extLst>
          </p:cNvPr>
          <p:cNvSpPr txBox="1"/>
          <p:nvPr/>
        </p:nvSpPr>
        <p:spPr>
          <a:xfrm>
            <a:off x="7034321" y="22384733"/>
            <a:ext cx="635243" cy="455830"/>
          </a:xfrm>
          <a:prstGeom prst="rect">
            <a:avLst/>
          </a:prstGeom>
          <a:noFill/>
        </p:spPr>
        <p:txBody>
          <a:bodyPr wrap="square" rtlCol="0">
            <a:spAutoFit/>
          </a:bodyPr>
          <a:lstStyle>
            <a:defPPr>
              <a:defRPr kern="1200"/>
            </a:defPPr>
          </a:lstStyle>
          <a:p>
            <a:pPr algn="ctr"/>
            <a:r>
              <a:rPr lang="en-US" sz="2362" b="1" dirty="0">
                <a:solidFill>
                  <a:schemeClr val="tx1">
                    <a:lumMod val="65000"/>
                    <a:lumOff val="35000"/>
                  </a:schemeClr>
                </a:solidFill>
                <a:ea typeface="Open Sans" panose="020B0606030504020204" pitchFamily="34" charset="0"/>
                <a:cs typeface="Open Sans" panose="020B0606030504020204" pitchFamily="34" charset="0"/>
              </a:rPr>
              <a:t>(B)</a:t>
            </a:r>
          </a:p>
        </p:txBody>
      </p:sp>
      <p:grpSp>
        <p:nvGrpSpPr>
          <p:cNvPr id="243" name="Group 242">
            <a:extLst>
              <a:ext uri="{FF2B5EF4-FFF2-40B4-BE49-F238E27FC236}">
                <a16:creationId xmlns:a16="http://schemas.microsoft.com/office/drawing/2014/main" id="{F1A428BF-4B4B-38C0-2584-71AB3F4A2F30}"/>
              </a:ext>
            </a:extLst>
          </p:cNvPr>
          <p:cNvGrpSpPr/>
          <p:nvPr/>
        </p:nvGrpSpPr>
        <p:grpSpPr>
          <a:xfrm>
            <a:off x="2133893" y="17597339"/>
            <a:ext cx="7022572" cy="2088224"/>
            <a:chOff x="2151511" y="17363558"/>
            <a:chExt cx="7022572" cy="2088224"/>
          </a:xfrm>
        </p:grpSpPr>
        <p:sp>
          <p:nvSpPr>
            <p:cNvPr id="96" name="Rectangle 95">
              <a:extLst>
                <a:ext uri="{FF2B5EF4-FFF2-40B4-BE49-F238E27FC236}">
                  <a16:creationId xmlns:a16="http://schemas.microsoft.com/office/drawing/2014/main" id="{47847144-0AC7-8C32-1435-F62BBC526D85}"/>
                </a:ext>
              </a:extLst>
            </p:cNvPr>
            <p:cNvSpPr/>
            <p:nvPr/>
          </p:nvSpPr>
          <p:spPr>
            <a:xfrm>
              <a:off x="2151511" y="17363558"/>
              <a:ext cx="7022572" cy="208822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2" name="Group 241">
              <a:extLst>
                <a:ext uri="{FF2B5EF4-FFF2-40B4-BE49-F238E27FC236}">
                  <a16:creationId xmlns:a16="http://schemas.microsoft.com/office/drawing/2014/main" id="{70C4523B-C225-4708-303C-47036E189FAE}"/>
                </a:ext>
              </a:extLst>
            </p:cNvPr>
            <p:cNvGrpSpPr>
              <a:grpSpLocks noChangeAspect="1"/>
            </p:cNvGrpSpPr>
            <p:nvPr/>
          </p:nvGrpSpPr>
          <p:grpSpPr>
            <a:xfrm>
              <a:off x="2216188" y="17363560"/>
              <a:ext cx="2160000" cy="2026073"/>
              <a:chOff x="2216188" y="17363560"/>
              <a:chExt cx="2460876" cy="2329985"/>
            </a:xfrm>
          </p:grpSpPr>
          <p:pic>
            <p:nvPicPr>
              <p:cNvPr id="98" name="Picture 97" descr="Schema of a central composite design with three factors, A, B and C. It...  | Download Scientific Diagram">
                <a:extLst>
                  <a:ext uri="{FF2B5EF4-FFF2-40B4-BE49-F238E27FC236}">
                    <a16:creationId xmlns:a16="http://schemas.microsoft.com/office/drawing/2014/main" id="{75D23BCD-6149-B616-FF61-C82A15A95DC0}"/>
                  </a:ext>
                </a:extLst>
              </p:cNvPr>
              <p:cNvPicPr>
                <a:picLocks noChangeAspect="1"/>
              </p:cNvPicPr>
              <p:nvPr/>
            </p:nvPicPr>
            <p:blipFill>
              <a:blip r:embed="rId11"/>
              <a:srcRect l="28408"/>
              <a:stretch>
                <a:fillRect/>
              </a:stretch>
            </p:blipFill>
            <p:spPr>
              <a:xfrm rot="5400000">
                <a:off x="2282069" y="17297679"/>
                <a:ext cx="2327956" cy="2459718"/>
              </a:xfrm>
              <a:prstGeom prst="snipRoundRect">
                <a:avLst>
                  <a:gd name="adj1" fmla="val 50000"/>
                  <a:gd name="adj2" fmla="val 16667"/>
                </a:avLst>
              </a:prstGeom>
            </p:spPr>
          </p:pic>
          <p:sp>
            <p:nvSpPr>
              <p:cNvPr id="99" name="Oval 98">
                <a:extLst>
                  <a:ext uri="{FF2B5EF4-FFF2-40B4-BE49-F238E27FC236}">
                    <a16:creationId xmlns:a16="http://schemas.microsoft.com/office/drawing/2014/main" id="{329E6080-B559-BAC6-9F13-3D8A709063A0}"/>
                  </a:ext>
                </a:extLst>
              </p:cNvPr>
              <p:cNvSpPr>
                <a:spLocks noChangeAspect="1"/>
              </p:cNvSpPr>
              <p:nvPr/>
            </p:nvSpPr>
            <p:spPr>
              <a:xfrm>
                <a:off x="3379446" y="17427997"/>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3AC7C95-D1D8-6B01-B9CD-4BEB485213DC}"/>
                  </a:ext>
                </a:extLst>
              </p:cNvPr>
              <p:cNvSpPr>
                <a:spLocks noChangeAspect="1"/>
              </p:cNvSpPr>
              <p:nvPr/>
            </p:nvSpPr>
            <p:spPr>
              <a:xfrm>
                <a:off x="3087187" y="18231024"/>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52F04484-F508-8DAB-1AB4-E5D86D887641}"/>
                  </a:ext>
                </a:extLst>
              </p:cNvPr>
              <p:cNvSpPr>
                <a:spLocks noChangeAspect="1"/>
              </p:cNvSpPr>
              <p:nvPr/>
            </p:nvSpPr>
            <p:spPr>
              <a:xfrm>
                <a:off x="3669095" y="18768187"/>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AD80B757-2342-0868-3ACE-A57B415CAC5E}"/>
                  </a:ext>
                </a:extLst>
              </p:cNvPr>
              <p:cNvSpPr>
                <a:spLocks noChangeAspect="1"/>
              </p:cNvSpPr>
              <p:nvPr/>
            </p:nvSpPr>
            <p:spPr>
              <a:xfrm>
                <a:off x="4543863" y="18499605"/>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7ADD4621-BB69-B4DF-2CB0-E2E2611EA04F}"/>
                  </a:ext>
                </a:extLst>
              </p:cNvPr>
              <p:cNvSpPr>
                <a:spLocks noChangeAspect="1"/>
              </p:cNvSpPr>
              <p:nvPr/>
            </p:nvSpPr>
            <p:spPr>
              <a:xfrm>
                <a:off x="2218109" y="18502796"/>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14AB83B-B9E6-D7FC-01F5-007317BFFC8A}"/>
                  </a:ext>
                </a:extLst>
              </p:cNvPr>
              <p:cNvSpPr>
                <a:spLocks noChangeAspect="1"/>
              </p:cNvSpPr>
              <p:nvPr/>
            </p:nvSpPr>
            <p:spPr>
              <a:xfrm>
                <a:off x="2577650" y="18951337"/>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330A467-5A3C-4157-3727-2947CC06AA9D}"/>
                  </a:ext>
                </a:extLst>
              </p:cNvPr>
              <p:cNvSpPr>
                <a:spLocks noChangeAspect="1"/>
              </p:cNvSpPr>
              <p:nvPr/>
            </p:nvSpPr>
            <p:spPr>
              <a:xfrm>
                <a:off x="3381649" y="19571388"/>
                <a:ext cx="133201" cy="122157"/>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B879395F-61D2-DD0E-AD16-5B0A018884E0}"/>
                  </a:ext>
                </a:extLst>
              </p:cNvPr>
              <p:cNvSpPr>
                <a:spLocks noChangeAspect="1"/>
              </p:cNvSpPr>
              <p:nvPr/>
            </p:nvSpPr>
            <p:spPr>
              <a:xfrm>
                <a:off x="2901442" y="19247622"/>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9663E85-EE14-3E85-B2E3-4FE0F2BFC492}"/>
                  </a:ext>
                </a:extLst>
              </p:cNvPr>
              <p:cNvSpPr>
                <a:spLocks noChangeAspect="1"/>
              </p:cNvSpPr>
              <p:nvPr/>
            </p:nvSpPr>
            <p:spPr>
              <a:xfrm>
                <a:off x="3866209" y="18947586"/>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2EE8BCC7-AA8D-DB71-61DB-39AFD373B089}"/>
                  </a:ext>
                </a:extLst>
              </p:cNvPr>
              <p:cNvSpPr>
                <a:spLocks noChangeAspect="1"/>
              </p:cNvSpPr>
              <p:nvPr/>
            </p:nvSpPr>
            <p:spPr>
              <a:xfrm>
                <a:off x="4190002" y="19245593"/>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A0C956-5CE9-79C5-EF91-7DF9259ED633}"/>
                  </a:ext>
                </a:extLst>
              </p:cNvPr>
              <p:cNvSpPr>
                <a:spLocks noChangeAspect="1"/>
              </p:cNvSpPr>
              <p:nvPr/>
            </p:nvSpPr>
            <p:spPr>
              <a:xfrm>
                <a:off x="2899239" y="18053648"/>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70555503-C090-FD21-1289-233A95FE4305}"/>
                  </a:ext>
                </a:extLst>
              </p:cNvPr>
              <p:cNvSpPr>
                <a:spLocks noChangeAspect="1"/>
              </p:cNvSpPr>
              <p:nvPr/>
            </p:nvSpPr>
            <p:spPr>
              <a:xfrm>
                <a:off x="3868412" y="17755800"/>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98BC0A5C-842F-C3AB-1586-C5DE0D748419}"/>
                  </a:ext>
                </a:extLst>
              </p:cNvPr>
              <p:cNvSpPr>
                <a:spLocks noChangeAspect="1"/>
              </p:cNvSpPr>
              <p:nvPr/>
            </p:nvSpPr>
            <p:spPr>
              <a:xfrm>
                <a:off x="4190002" y="18054718"/>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2A39D878-0624-BD2E-CD3E-2C14A5C8A61A}"/>
                  </a:ext>
                </a:extLst>
              </p:cNvPr>
              <p:cNvSpPr>
                <a:spLocks noChangeAspect="1"/>
              </p:cNvSpPr>
              <p:nvPr/>
            </p:nvSpPr>
            <p:spPr>
              <a:xfrm>
                <a:off x="2577650" y="17759341"/>
                <a:ext cx="133201" cy="122157"/>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C00DC684-8888-2276-8A65-5BF30E3E6516}"/>
                  </a:ext>
                </a:extLst>
              </p:cNvPr>
              <p:cNvSpPr>
                <a:spLocks noChangeAspect="1"/>
              </p:cNvSpPr>
              <p:nvPr/>
            </p:nvSpPr>
            <p:spPr>
              <a:xfrm>
                <a:off x="3362430" y="18487192"/>
                <a:ext cx="166501" cy="152697"/>
              </a:xfrm>
              <a:prstGeom prst="ellipse">
                <a:avLst/>
              </a:prstGeom>
              <a:solidFill>
                <a:srgbClr val="87DFE1"/>
              </a:solidFill>
              <a:ln>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Oval 137">
              <a:extLst>
                <a:ext uri="{FF2B5EF4-FFF2-40B4-BE49-F238E27FC236}">
                  <a16:creationId xmlns:a16="http://schemas.microsoft.com/office/drawing/2014/main" id="{E6728235-9AFA-ADC6-9526-69DD99DA9500}"/>
                </a:ext>
              </a:extLst>
            </p:cNvPr>
            <p:cNvSpPr>
              <a:spLocks noChangeAspect="1"/>
            </p:cNvSpPr>
            <p:nvPr/>
          </p:nvSpPr>
          <p:spPr>
            <a:xfrm>
              <a:off x="4826119" y="18056864"/>
              <a:ext cx="312662" cy="286740"/>
            </a:xfrm>
            <a:prstGeom prst="ellipse">
              <a:avLst/>
            </a:prstGeom>
            <a:solidFill>
              <a:srgbClr val="0065BD"/>
            </a:solid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5231281C-BAFC-6EF5-108A-832320C3708E}"/>
                </a:ext>
              </a:extLst>
            </p:cNvPr>
            <p:cNvSpPr>
              <a:spLocks noChangeAspect="1"/>
            </p:cNvSpPr>
            <p:nvPr/>
          </p:nvSpPr>
          <p:spPr>
            <a:xfrm>
              <a:off x="4826119" y="17615170"/>
              <a:ext cx="312662" cy="286740"/>
            </a:xfrm>
            <a:prstGeom prst="ellipse">
              <a:avLst/>
            </a:prstGeom>
            <a:solidFill>
              <a:srgbClr val="BFE2A8"/>
            </a:solidFill>
            <a:ln>
              <a:solidFill>
                <a:srgbClr val="BFE2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63731D7F-AD6E-0E00-EE7E-78A7A4B565C7}"/>
                </a:ext>
              </a:extLst>
            </p:cNvPr>
            <p:cNvSpPr>
              <a:spLocks noChangeAspect="1"/>
            </p:cNvSpPr>
            <p:nvPr/>
          </p:nvSpPr>
          <p:spPr>
            <a:xfrm>
              <a:off x="4826119" y="18498559"/>
              <a:ext cx="312662" cy="286740"/>
            </a:xfrm>
            <a:prstGeom prst="ellipse">
              <a:avLst/>
            </a:prstGeom>
            <a:solidFill>
              <a:srgbClr val="87DFE1"/>
            </a:solidFill>
            <a:ln>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TextBox 143">
              <a:extLst>
                <a:ext uri="{FF2B5EF4-FFF2-40B4-BE49-F238E27FC236}">
                  <a16:creationId xmlns:a16="http://schemas.microsoft.com/office/drawing/2014/main" id="{116383BA-D6F4-E032-0A1D-3445F70C0254}"/>
                </a:ext>
              </a:extLst>
            </p:cNvPr>
            <p:cNvSpPr txBox="1"/>
            <p:nvPr/>
          </p:nvSpPr>
          <p:spPr>
            <a:xfrm>
              <a:off x="5135505" y="17504955"/>
              <a:ext cx="4000478" cy="1806970"/>
            </a:xfrm>
            <a:prstGeom prst="rect">
              <a:avLst/>
            </a:prstGeom>
            <a:noFill/>
          </p:spPr>
          <p:txBody>
            <a:bodyPr wrap="square" rtlCol="0">
              <a:spAutoFit/>
            </a:bodyPr>
            <a:lstStyle/>
            <a:p>
              <a:pPr>
                <a:lnSpc>
                  <a:spcPct val="130000"/>
                </a:lnSpc>
              </a:pPr>
              <a:r>
                <a:rPr lang="en-US" sz="2200" dirty="0">
                  <a:solidFill>
                    <a:srgbClr val="595959"/>
                  </a:solidFill>
                </a:rPr>
                <a:t>Cube points: 8 batches (</a:t>
              </a:r>
              <a:r>
                <a:rPr lang="en-US" sz="2200" dirty="0">
                  <a:solidFill>
                    <a:schemeClr val="tx1">
                      <a:lumMod val="65000"/>
                      <a:lumOff val="35000"/>
                    </a:schemeClr>
                  </a:solidFill>
                  <a:ea typeface="Open Sans" panose="020B0606030504020204" pitchFamily="34" charset="0"/>
                  <a:cs typeface="Open Sans" panose="020B0606030504020204" pitchFamily="34" charset="0"/>
                </a:rPr>
                <a:t>b</a:t>
              </a:r>
              <a:r>
                <a:rPr lang="en-US" sz="2200" baseline="-25000" dirty="0">
                  <a:solidFill>
                    <a:schemeClr val="tx1">
                      <a:lumMod val="65000"/>
                      <a:lumOff val="35000"/>
                    </a:schemeClr>
                  </a:solidFill>
                  <a:ea typeface="Open Sans" panose="020B0606030504020204" pitchFamily="34" charset="0"/>
                  <a:cs typeface="Open Sans" panose="020B0606030504020204" pitchFamily="34" charset="0"/>
                </a:rPr>
                <a:t>c</a:t>
              </a:r>
              <a:r>
                <a:rPr lang="en-US" sz="2200" dirty="0">
                  <a:solidFill>
                    <a:schemeClr val="tx1">
                      <a:lumMod val="65000"/>
                      <a:lumOff val="35000"/>
                    </a:schemeClr>
                  </a:solidFill>
                  <a:ea typeface="Open Sans" panose="020B0606030504020204" pitchFamily="34" charset="0"/>
                  <a:cs typeface="Open Sans" panose="020B0606030504020204" pitchFamily="34" charset="0"/>
                </a:rPr>
                <a:t>)</a:t>
              </a:r>
              <a:endParaRPr lang="en-US" sz="2200" dirty="0">
                <a:solidFill>
                  <a:srgbClr val="595959"/>
                </a:solidFill>
              </a:endParaRPr>
            </a:p>
            <a:p>
              <a:pPr>
                <a:lnSpc>
                  <a:spcPct val="130000"/>
                </a:lnSpc>
              </a:pPr>
              <a:r>
                <a:rPr lang="en-US" sz="2200" dirty="0">
                  <a:solidFill>
                    <a:srgbClr val="595959"/>
                  </a:solidFill>
                </a:rPr>
                <a:t>Star points: 6 batches (</a:t>
              </a:r>
              <a:r>
                <a:rPr lang="en-US" sz="2200" dirty="0">
                  <a:solidFill>
                    <a:schemeClr val="tx1">
                      <a:lumMod val="65000"/>
                      <a:lumOff val="35000"/>
                    </a:schemeClr>
                  </a:solidFill>
                  <a:ea typeface="Open Sans" panose="020B0606030504020204" pitchFamily="34" charset="0"/>
                  <a:cs typeface="Open Sans" panose="020B0606030504020204" pitchFamily="34" charset="0"/>
                </a:rPr>
                <a:t>b</a:t>
              </a:r>
              <a:r>
                <a:rPr lang="en-US" sz="2200" baseline="-25000" dirty="0">
                  <a:solidFill>
                    <a:schemeClr val="tx1">
                      <a:lumMod val="65000"/>
                      <a:lumOff val="35000"/>
                    </a:schemeClr>
                  </a:solidFill>
                  <a:ea typeface="Open Sans" panose="020B0606030504020204" pitchFamily="34" charset="0"/>
                  <a:cs typeface="Open Sans" panose="020B0606030504020204" pitchFamily="34" charset="0"/>
                </a:rPr>
                <a:t>s</a:t>
              </a:r>
              <a:r>
                <a:rPr lang="en-US" sz="2200" dirty="0">
                  <a:solidFill>
                    <a:schemeClr val="tx1">
                      <a:lumMod val="65000"/>
                      <a:lumOff val="35000"/>
                    </a:schemeClr>
                  </a:solidFill>
                  <a:ea typeface="Open Sans" panose="020B0606030504020204" pitchFamily="34" charset="0"/>
                  <a:cs typeface="Open Sans" panose="020B0606030504020204" pitchFamily="34" charset="0"/>
                </a:rPr>
                <a:t>)</a:t>
              </a:r>
              <a:endParaRPr lang="en-US" sz="2200" dirty="0">
                <a:solidFill>
                  <a:srgbClr val="595959"/>
                </a:solidFill>
              </a:endParaRPr>
            </a:p>
            <a:p>
              <a:pPr>
                <a:lnSpc>
                  <a:spcPct val="130000"/>
                </a:lnSpc>
              </a:pPr>
              <a:r>
                <a:rPr lang="en-US" sz="2200" dirty="0">
                  <a:solidFill>
                    <a:srgbClr val="595959"/>
                  </a:solidFill>
                </a:rPr>
                <a:t>Central point (</a:t>
              </a:r>
              <a:r>
                <a:rPr lang="en-US" sz="2200" dirty="0">
                  <a:solidFill>
                    <a:schemeClr val="tx1">
                      <a:lumMod val="65000"/>
                      <a:lumOff val="35000"/>
                    </a:schemeClr>
                  </a:solidFill>
                  <a:ea typeface="Open Sans" panose="020B0606030504020204" pitchFamily="34" charset="0"/>
                  <a:cs typeface="Open Sans" panose="020B0606030504020204" pitchFamily="34" charset="0"/>
                </a:rPr>
                <a:t>b</a:t>
              </a:r>
              <a:r>
                <a:rPr lang="en-US" sz="2200" baseline="-25000" dirty="0">
                  <a:solidFill>
                    <a:schemeClr val="tx1">
                      <a:lumMod val="65000"/>
                      <a:lumOff val="35000"/>
                    </a:schemeClr>
                  </a:solidFill>
                  <a:ea typeface="Open Sans" panose="020B0606030504020204" pitchFamily="34" charset="0"/>
                  <a:cs typeface="Open Sans" panose="020B0606030504020204" pitchFamily="34" charset="0"/>
                </a:rPr>
                <a:t>C</a:t>
              </a:r>
              <a:r>
                <a:rPr lang="en-US" sz="2200" dirty="0">
                  <a:solidFill>
                    <a:schemeClr val="tx1">
                      <a:lumMod val="65000"/>
                      <a:lumOff val="35000"/>
                    </a:schemeClr>
                  </a:solidFill>
                  <a:ea typeface="Open Sans" panose="020B0606030504020204" pitchFamily="34" charset="0"/>
                  <a:cs typeface="Open Sans" panose="020B0606030504020204" pitchFamily="34" charset="0"/>
                </a:rPr>
                <a:t>)</a:t>
              </a:r>
              <a:endParaRPr lang="en-US" sz="2200" dirty="0">
                <a:solidFill>
                  <a:srgbClr val="595959"/>
                </a:solidFill>
              </a:endParaRPr>
            </a:p>
            <a:p>
              <a:pPr>
                <a:lnSpc>
                  <a:spcPct val="130000"/>
                </a:lnSpc>
              </a:pPr>
              <a:endParaRPr lang="en-US" sz="2200" dirty="0">
                <a:solidFill>
                  <a:srgbClr val="595959"/>
                </a:solidFill>
              </a:endParaRPr>
            </a:p>
          </p:txBody>
        </p:sp>
        <p:sp>
          <p:nvSpPr>
            <p:cNvPr id="156" name="TextBox 155">
              <a:extLst>
                <a:ext uri="{FF2B5EF4-FFF2-40B4-BE49-F238E27FC236}">
                  <a16:creationId xmlns:a16="http://schemas.microsoft.com/office/drawing/2014/main" id="{06AD376A-270A-105F-4353-F409A58F9F1B}"/>
                </a:ext>
              </a:extLst>
            </p:cNvPr>
            <p:cNvSpPr txBox="1"/>
            <p:nvPr/>
          </p:nvSpPr>
          <p:spPr>
            <a:xfrm>
              <a:off x="5754024" y="18858861"/>
              <a:ext cx="2459719" cy="486608"/>
            </a:xfrm>
            <a:prstGeom prst="rect">
              <a:avLst/>
            </a:prstGeom>
            <a:noFill/>
          </p:spPr>
          <p:txBody>
            <a:bodyPr wrap="square">
              <a:spAutoFit/>
            </a:bodyPr>
            <a:lstStyle/>
            <a:p>
              <a:pPr>
                <a:lnSpc>
                  <a:spcPct val="130000"/>
                </a:lnSpc>
              </a:pPr>
              <a:r>
                <a:rPr lang="en-US" sz="2200" b="1" dirty="0">
                  <a:solidFill>
                    <a:srgbClr val="595959"/>
                  </a:solidFill>
                </a:rPr>
                <a:t>Total: </a:t>
              </a:r>
              <a:r>
                <a:rPr lang="en-US" sz="2200" dirty="0">
                  <a:solidFill>
                    <a:srgbClr val="595959"/>
                  </a:solidFill>
                </a:rPr>
                <a:t>15 batches</a:t>
              </a:r>
            </a:p>
          </p:txBody>
        </p:sp>
      </p:grpSp>
      <p:sp>
        <p:nvSpPr>
          <p:cNvPr id="158" name="TextBox 157">
            <a:extLst>
              <a:ext uri="{FF2B5EF4-FFF2-40B4-BE49-F238E27FC236}">
                <a16:creationId xmlns:a16="http://schemas.microsoft.com/office/drawing/2014/main" id="{87656545-A792-7ED7-D290-31E8E2F396CF}"/>
              </a:ext>
            </a:extLst>
          </p:cNvPr>
          <p:cNvSpPr txBox="1"/>
          <p:nvPr/>
        </p:nvSpPr>
        <p:spPr>
          <a:xfrm>
            <a:off x="778321" y="25714477"/>
            <a:ext cx="9534108" cy="707886"/>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2: (A) </a:t>
            </a:r>
            <a:r>
              <a:rPr lang="en-US" sz="2000" dirty="0">
                <a:solidFill>
                  <a:schemeClr val="tx1">
                    <a:lumMod val="65000"/>
                    <a:lumOff val="35000"/>
                  </a:schemeClr>
                </a:solidFill>
                <a:ea typeface="Open Sans" panose="020B0606030504020204" pitchFamily="34" charset="0"/>
                <a:cs typeface="Open Sans" panose="020B0606030504020204" pitchFamily="34" charset="0"/>
              </a:rPr>
              <a:t>V</a:t>
            </a:r>
            <a:r>
              <a:rPr lang="en-US" sz="2000" baseline="-25000" dirty="0">
                <a:solidFill>
                  <a:schemeClr val="tx1">
                    <a:lumMod val="65000"/>
                    <a:lumOff val="35000"/>
                  </a:schemeClr>
                </a:solidFill>
                <a:ea typeface="Open Sans" panose="020B0606030504020204" pitchFamily="34" charset="0"/>
                <a:cs typeface="Open Sans" panose="020B0606030504020204" pitchFamily="34" charset="0"/>
              </a:rPr>
              <a:t>maxmAb</a:t>
            </a:r>
            <a:r>
              <a:rPr lang="en-GB" sz="2000" baseline="-25000" dirty="0">
                <a:solidFill>
                  <a:schemeClr val="tx1">
                    <a:lumMod val="65000"/>
                    <a:lumOff val="35000"/>
                  </a:schemeClr>
                </a:solidFill>
                <a:ea typeface="Open Sans" panose="020B0606030504020204" pitchFamily="34" charset="0"/>
                <a:cs typeface="Open Sans" panose="020B0606030504020204" pitchFamily="34" charset="0"/>
              </a:rPr>
              <a:t> </a:t>
            </a:r>
            <a:r>
              <a:rPr lang="en-GB" sz="2000" dirty="0">
                <a:solidFill>
                  <a:schemeClr val="tx1">
                    <a:lumMod val="65000"/>
                    <a:lumOff val="35000"/>
                  </a:schemeClr>
                </a:solidFill>
                <a:ea typeface="Open Sans" panose="020B0606030504020204" pitchFamily="34" charset="0"/>
                <a:cs typeface="Open Sans" panose="020B0606030504020204" pitchFamily="34" charset="0"/>
              </a:rPr>
              <a:t>variation of </a:t>
            </a:r>
            <a:r>
              <a:rPr lang="en-US" sz="2000" dirty="0">
                <a:solidFill>
                  <a:schemeClr val="tx1">
                    <a:lumMod val="65000"/>
                    <a:lumOff val="35000"/>
                  </a:schemeClr>
                </a:solidFill>
                <a:ea typeface="Open Sans" panose="020B0606030504020204" pitchFamily="34" charset="0"/>
                <a:cs typeface="Open Sans" panose="020B0606030504020204" pitchFamily="34" charset="0"/>
              </a:rPr>
              <a:t>for 72 mAbs, divided into high (blue) or low productivity (green)</a:t>
            </a:r>
            <a:r>
              <a:rPr lang="en-GB" sz="2000" dirty="0">
                <a:solidFill>
                  <a:schemeClr val="tx1">
                    <a:lumMod val="65000"/>
                    <a:lumOff val="35000"/>
                  </a:schemeClr>
                </a:solidFill>
                <a:ea typeface="Open Sans" panose="020B0606030504020204" pitchFamily="34" charset="0"/>
                <a:cs typeface="Open Sans" panose="020B0606030504020204" pitchFamily="34" charset="0"/>
              </a:rPr>
              <a:t>; </a:t>
            </a:r>
            <a:r>
              <a:rPr lang="en-GB" sz="2000" b="1" dirty="0">
                <a:solidFill>
                  <a:schemeClr val="tx1">
                    <a:lumMod val="65000"/>
                    <a:lumOff val="35000"/>
                  </a:schemeClr>
                </a:solidFill>
                <a:ea typeface="Open Sans" panose="020B0606030504020204" pitchFamily="34" charset="0"/>
                <a:cs typeface="Open Sans" panose="020B0606030504020204" pitchFamily="34" charset="0"/>
              </a:rPr>
              <a:t>(B) </a:t>
            </a:r>
            <a:r>
              <a:rPr lang="en-GB" sz="2000" dirty="0">
                <a:solidFill>
                  <a:schemeClr val="tx1">
                    <a:lumMod val="65000"/>
                    <a:lumOff val="35000"/>
                  </a:schemeClr>
                </a:solidFill>
                <a:ea typeface="Open Sans" panose="020B0606030504020204" pitchFamily="34" charset="0"/>
                <a:cs typeface="Open Sans" panose="020B0606030504020204" pitchFamily="34" charset="0"/>
              </a:rPr>
              <a:t>mAb concentration evolution over time (all batches/mAbs).</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160" name="TextBox 159">
            <a:extLst>
              <a:ext uri="{FF2B5EF4-FFF2-40B4-BE49-F238E27FC236}">
                <a16:creationId xmlns:a16="http://schemas.microsoft.com/office/drawing/2014/main" id="{6E584FB4-6887-358A-4EF3-053AA210C575}"/>
              </a:ext>
            </a:extLst>
          </p:cNvPr>
          <p:cNvSpPr txBox="1"/>
          <p:nvPr/>
        </p:nvSpPr>
        <p:spPr>
          <a:xfrm>
            <a:off x="880736" y="28204160"/>
            <a:ext cx="9349042" cy="1797095"/>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The hybrid model was adapted from Pinto et al. (2022), composed by a deep FFNN and an ODE system. The FFNN inputs are the state variables and outputs are reaction rates (</a:t>
            </a:r>
            <a:r>
              <a:rPr lang="el-GR" sz="2362"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ν</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r>
              <a:rPr lang="pt-PT" sz="2362" dirty="0">
                <a:solidFill>
                  <a:schemeClr val="tx1">
                    <a:lumMod val="65000"/>
                    <a:lumOff val="35000"/>
                  </a:schemeClr>
                </a:solidFill>
                <a:ea typeface="Open Sans" panose="020B0606030504020204" pitchFamily="34" charset="0"/>
                <a:cs typeface="Open Sans" panose="020B0606030504020204" pitchFamily="34" charset="0"/>
              </a:rPr>
              <a:t>Rates</a:t>
            </a:r>
            <a:r>
              <a:rPr lang="en-US" sz="2362" dirty="0">
                <a:solidFill>
                  <a:schemeClr val="tx1">
                    <a:lumMod val="65000"/>
                    <a:lumOff val="35000"/>
                  </a:schemeClr>
                </a:solidFill>
                <a:ea typeface="Open Sans" panose="020B0606030504020204" pitchFamily="34" charset="0"/>
                <a:cs typeface="Open Sans" panose="020B0606030504020204" pitchFamily="34" charset="0"/>
              </a:rPr>
              <a:t> are fed to the ODE system that outputs state variables </a:t>
            </a:r>
            <a:r>
              <a:rPr lang="en-US" sz="2362" b="1" dirty="0">
                <a:solidFill>
                  <a:schemeClr val="tx1">
                    <a:lumMod val="65000"/>
                    <a:lumOff val="35000"/>
                  </a:schemeClr>
                </a:solidFill>
                <a:ea typeface="Open Sans" panose="020B0606030504020204" pitchFamily="34" charset="0"/>
                <a:cs typeface="Open Sans" panose="020B0606030504020204" pitchFamily="34" charset="0"/>
              </a:rPr>
              <a:t>(Figure 3)</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p>
        </p:txBody>
      </p:sp>
      <p:grpSp>
        <p:nvGrpSpPr>
          <p:cNvPr id="219" name="Group 218">
            <a:extLst>
              <a:ext uri="{FF2B5EF4-FFF2-40B4-BE49-F238E27FC236}">
                <a16:creationId xmlns:a16="http://schemas.microsoft.com/office/drawing/2014/main" id="{343CFCC3-E090-C930-7C24-90B05718741D}"/>
              </a:ext>
            </a:extLst>
          </p:cNvPr>
          <p:cNvGrpSpPr>
            <a:grpSpLocks noChangeAspect="1"/>
          </p:cNvGrpSpPr>
          <p:nvPr/>
        </p:nvGrpSpPr>
        <p:grpSpPr>
          <a:xfrm>
            <a:off x="3294719" y="30237074"/>
            <a:ext cx="5250357" cy="2673039"/>
            <a:chOff x="1682853" y="30253879"/>
            <a:chExt cx="7720349" cy="3930542"/>
          </a:xfrm>
        </p:grpSpPr>
        <p:sp>
          <p:nvSpPr>
            <p:cNvPr id="217" name="Rectangle 216">
              <a:extLst>
                <a:ext uri="{FF2B5EF4-FFF2-40B4-BE49-F238E27FC236}">
                  <a16:creationId xmlns:a16="http://schemas.microsoft.com/office/drawing/2014/main" id="{6A4D6CA9-9976-261E-A284-02B3FEA680AC}"/>
                </a:ext>
              </a:extLst>
            </p:cNvPr>
            <p:cNvSpPr/>
            <p:nvPr/>
          </p:nvSpPr>
          <p:spPr>
            <a:xfrm>
              <a:off x="1682853" y="33438870"/>
              <a:ext cx="7718400" cy="74555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5" name="Group 214">
              <a:extLst>
                <a:ext uri="{FF2B5EF4-FFF2-40B4-BE49-F238E27FC236}">
                  <a16:creationId xmlns:a16="http://schemas.microsoft.com/office/drawing/2014/main" id="{8AE787E7-1395-9D2C-F0AB-BDCA2036B88F}"/>
                </a:ext>
              </a:extLst>
            </p:cNvPr>
            <p:cNvGrpSpPr/>
            <p:nvPr/>
          </p:nvGrpSpPr>
          <p:grpSpPr>
            <a:xfrm>
              <a:off x="1682853" y="30253879"/>
              <a:ext cx="7720349" cy="3859028"/>
              <a:chOff x="1682853" y="30253879"/>
              <a:chExt cx="7720349" cy="3859028"/>
            </a:xfrm>
          </p:grpSpPr>
          <p:sp>
            <p:nvSpPr>
              <p:cNvPr id="214" name="Rectangle 213">
                <a:extLst>
                  <a:ext uri="{FF2B5EF4-FFF2-40B4-BE49-F238E27FC236}">
                    <a16:creationId xmlns:a16="http://schemas.microsoft.com/office/drawing/2014/main" id="{F6D9CC42-6EB4-134A-208B-E9FA34EFB8CC}"/>
                  </a:ext>
                </a:extLst>
              </p:cNvPr>
              <p:cNvSpPr/>
              <p:nvPr/>
            </p:nvSpPr>
            <p:spPr>
              <a:xfrm>
                <a:off x="1682853" y="30253879"/>
                <a:ext cx="7718400" cy="74555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1" name="Group 160">
                <a:extLst>
                  <a:ext uri="{FF2B5EF4-FFF2-40B4-BE49-F238E27FC236}">
                    <a16:creationId xmlns:a16="http://schemas.microsoft.com/office/drawing/2014/main" id="{A046D352-E75B-EC38-7580-9F91A1D1DB44}"/>
                  </a:ext>
                </a:extLst>
              </p:cNvPr>
              <p:cNvGrpSpPr>
                <a:grpSpLocks noChangeAspect="1"/>
              </p:cNvGrpSpPr>
              <p:nvPr/>
            </p:nvGrpSpPr>
            <p:grpSpPr>
              <a:xfrm>
                <a:off x="1683703" y="30341923"/>
                <a:ext cx="7719499" cy="3770984"/>
                <a:chOff x="875593" y="11905611"/>
                <a:chExt cx="8984420" cy="4388883"/>
              </a:xfrm>
            </p:grpSpPr>
            <p:grpSp>
              <p:nvGrpSpPr>
                <p:cNvPr id="162" name="Group 161">
                  <a:extLst>
                    <a:ext uri="{FF2B5EF4-FFF2-40B4-BE49-F238E27FC236}">
                      <a16:creationId xmlns:a16="http://schemas.microsoft.com/office/drawing/2014/main" id="{8E4DDFD6-CFA0-034B-B57B-7A8A579981A4}"/>
                    </a:ext>
                  </a:extLst>
                </p:cNvPr>
                <p:cNvGrpSpPr/>
                <p:nvPr/>
              </p:nvGrpSpPr>
              <p:grpSpPr>
                <a:xfrm>
                  <a:off x="875593" y="11905611"/>
                  <a:ext cx="8984420" cy="4388883"/>
                  <a:chOff x="875593" y="11905611"/>
                  <a:chExt cx="8984420" cy="4388883"/>
                </a:xfrm>
              </p:grpSpPr>
              <p:pic>
                <p:nvPicPr>
                  <p:cNvPr id="200" name="Picture 2">
                    <a:extLst>
                      <a:ext uri="{FF2B5EF4-FFF2-40B4-BE49-F238E27FC236}">
                        <a16:creationId xmlns:a16="http://schemas.microsoft.com/office/drawing/2014/main" id="{3E7D836A-ABC8-F8F6-9861-CE3C861DA8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5593" y="11905611"/>
                    <a:ext cx="8984420" cy="4388883"/>
                  </a:xfrm>
                  <a:prstGeom prst="rect">
                    <a:avLst/>
                  </a:prstGeom>
                  <a:noFill/>
                  <a:extLst>
                    <a:ext uri="{909E8E84-426E-40DD-AFC4-6F175D3DCCD1}">
                      <a14:hiddenFill xmlns:a14="http://schemas.microsoft.com/office/drawing/2010/main">
                        <a:solidFill>
                          <a:srgbClr val="FFFFFF"/>
                        </a:solidFill>
                      </a14:hiddenFill>
                    </a:ext>
                  </a:extLst>
                </p:spPr>
              </p:pic>
              <p:sp>
                <p:nvSpPr>
                  <p:cNvPr id="201" name="Rectangle 200">
                    <a:extLst>
                      <a:ext uri="{FF2B5EF4-FFF2-40B4-BE49-F238E27FC236}">
                        <a16:creationId xmlns:a16="http://schemas.microsoft.com/office/drawing/2014/main" id="{B35A8F8A-EB1E-7CA9-6A8B-F4A0A4573DDF}"/>
                      </a:ext>
                    </a:extLst>
                  </p:cNvPr>
                  <p:cNvSpPr/>
                  <p:nvPr/>
                </p:nvSpPr>
                <p:spPr>
                  <a:xfrm>
                    <a:off x="4471916" y="13534030"/>
                    <a:ext cx="664191" cy="545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179314C-5F25-28F1-71E1-C4A29262F1AE}"/>
                      </a:ext>
                    </a:extLst>
                  </p:cNvPr>
                  <p:cNvSpPr/>
                  <p:nvPr/>
                </p:nvSpPr>
                <p:spPr>
                  <a:xfrm>
                    <a:off x="4387755" y="14244480"/>
                    <a:ext cx="664191" cy="545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26ED1736-57D6-1D9D-A2EB-AE4F57B0BC82}"/>
                      </a:ext>
                    </a:extLst>
                  </p:cNvPr>
                  <p:cNvSpPr/>
                  <p:nvPr/>
                </p:nvSpPr>
                <p:spPr>
                  <a:xfrm>
                    <a:off x="3659874" y="13231454"/>
                    <a:ext cx="664191" cy="10804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82B305C9-5E95-A625-4AF1-7E4266286409}"/>
                      </a:ext>
                    </a:extLst>
                  </p:cNvPr>
                  <p:cNvSpPr/>
                  <p:nvPr/>
                </p:nvSpPr>
                <p:spPr>
                  <a:xfrm>
                    <a:off x="4023816" y="13649102"/>
                    <a:ext cx="580030" cy="13998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3CD360E7-74E5-5DF5-2EFC-7CCC2608F887}"/>
                      </a:ext>
                    </a:extLst>
                  </p:cNvPr>
                  <p:cNvSpPr/>
                  <p:nvPr/>
                </p:nvSpPr>
                <p:spPr>
                  <a:xfrm>
                    <a:off x="1729739" y="13207004"/>
                    <a:ext cx="1588941" cy="11049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2660D29D-5ED5-0FC6-65D3-FF2117E84CB9}"/>
                      </a:ext>
                    </a:extLst>
                  </p:cNvPr>
                  <p:cNvSpPr/>
                  <p:nvPr/>
                </p:nvSpPr>
                <p:spPr>
                  <a:xfrm>
                    <a:off x="901691" y="13581558"/>
                    <a:ext cx="1304697"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Rectangle 206">
                    <a:extLst>
                      <a:ext uri="{FF2B5EF4-FFF2-40B4-BE49-F238E27FC236}">
                        <a16:creationId xmlns:a16="http://schemas.microsoft.com/office/drawing/2014/main" id="{96B40A64-93B5-8BDF-B3D8-129BC1C0D6E1}"/>
                      </a:ext>
                    </a:extLst>
                  </p:cNvPr>
                  <p:cNvSpPr/>
                  <p:nvPr/>
                </p:nvSpPr>
                <p:spPr>
                  <a:xfrm>
                    <a:off x="4624316" y="13686430"/>
                    <a:ext cx="664191" cy="5457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EFE5779-262E-65D9-3F82-D2382D160FAB}"/>
                      </a:ext>
                    </a:extLst>
                  </p:cNvPr>
                  <p:cNvSpPr/>
                  <p:nvPr/>
                </p:nvSpPr>
                <p:spPr>
                  <a:xfrm>
                    <a:off x="904561" y="14228550"/>
                    <a:ext cx="951536"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28F95916-C30C-7B32-D99B-87C99F252BB8}"/>
                      </a:ext>
                    </a:extLst>
                  </p:cNvPr>
                  <p:cNvSpPr/>
                  <p:nvPr/>
                </p:nvSpPr>
                <p:spPr>
                  <a:xfrm>
                    <a:off x="1830449" y="14477680"/>
                    <a:ext cx="1502510" cy="6276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8A0C195E-45FE-ACC9-C8B8-D81D106D4621}"/>
                      </a:ext>
                    </a:extLst>
                  </p:cNvPr>
                  <p:cNvSpPr/>
                  <p:nvPr/>
                </p:nvSpPr>
                <p:spPr>
                  <a:xfrm>
                    <a:off x="3646738" y="14595610"/>
                    <a:ext cx="612110"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CC581917-B268-2532-C2EB-68377AF42A1E}"/>
                      </a:ext>
                    </a:extLst>
                  </p:cNvPr>
                  <p:cNvSpPr/>
                  <p:nvPr/>
                </p:nvSpPr>
                <p:spPr>
                  <a:xfrm>
                    <a:off x="901688" y="13850052"/>
                    <a:ext cx="166827"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E84BDAAE-F930-494F-D064-9B523015336A}"/>
                      </a:ext>
                    </a:extLst>
                  </p:cNvPr>
                  <p:cNvSpPr/>
                  <p:nvPr/>
                </p:nvSpPr>
                <p:spPr>
                  <a:xfrm>
                    <a:off x="1425772" y="13946264"/>
                    <a:ext cx="388128"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C2C93117-B66E-D5F3-7C6C-A89CC431F730}"/>
                      </a:ext>
                    </a:extLst>
                  </p:cNvPr>
                  <p:cNvSpPr/>
                  <p:nvPr/>
                </p:nvSpPr>
                <p:spPr>
                  <a:xfrm>
                    <a:off x="2394043" y="14099182"/>
                    <a:ext cx="416910" cy="49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3" name="Group 162">
                  <a:extLst>
                    <a:ext uri="{FF2B5EF4-FFF2-40B4-BE49-F238E27FC236}">
                      <a16:creationId xmlns:a16="http://schemas.microsoft.com/office/drawing/2014/main" id="{2A8A7565-B9DD-0528-C3D4-3EFA3AFB4C5D}"/>
                    </a:ext>
                  </a:extLst>
                </p:cNvPr>
                <p:cNvGrpSpPr/>
                <p:nvPr/>
              </p:nvGrpSpPr>
              <p:grpSpPr>
                <a:xfrm>
                  <a:off x="1035931" y="13257647"/>
                  <a:ext cx="4003757" cy="1846134"/>
                  <a:chOff x="1912626" y="10347163"/>
                  <a:chExt cx="4003757" cy="1846134"/>
                </a:xfrm>
              </p:grpSpPr>
              <p:sp>
                <p:nvSpPr>
                  <p:cNvPr id="166" name="Oval 165">
                    <a:extLst>
                      <a:ext uri="{FF2B5EF4-FFF2-40B4-BE49-F238E27FC236}">
                        <a16:creationId xmlns:a16="http://schemas.microsoft.com/office/drawing/2014/main" id="{03AEDCBA-39E8-B8A3-2712-323A51C8F1FD}"/>
                      </a:ext>
                    </a:extLst>
                  </p:cNvPr>
                  <p:cNvSpPr>
                    <a:spLocks noChangeAspect="1"/>
                  </p:cNvSpPr>
                  <p:nvPr/>
                </p:nvSpPr>
                <p:spPr>
                  <a:xfrm>
                    <a:off x="3721367" y="10878233"/>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3E544BDE-5598-A72A-8A5D-31A7BB4B401A}"/>
                      </a:ext>
                    </a:extLst>
                  </p:cNvPr>
                  <p:cNvSpPr>
                    <a:spLocks noChangeAspect="1"/>
                  </p:cNvSpPr>
                  <p:nvPr/>
                </p:nvSpPr>
                <p:spPr>
                  <a:xfrm>
                    <a:off x="3721367" y="10351579"/>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Oval 167">
                    <a:extLst>
                      <a:ext uri="{FF2B5EF4-FFF2-40B4-BE49-F238E27FC236}">
                        <a16:creationId xmlns:a16="http://schemas.microsoft.com/office/drawing/2014/main" id="{09412396-1E19-4AFB-5259-66BEFDA40F94}"/>
                      </a:ext>
                    </a:extLst>
                  </p:cNvPr>
                  <p:cNvSpPr>
                    <a:spLocks noChangeAspect="1"/>
                  </p:cNvSpPr>
                  <p:nvPr/>
                </p:nvSpPr>
                <p:spPr>
                  <a:xfrm>
                    <a:off x="3721367" y="11737559"/>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271CB711-A7FD-89BC-D250-D82D080C5B77}"/>
                      </a:ext>
                    </a:extLst>
                  </p:cNvPr>
                  <p:cNvSpPr>
                    <a:spLocks noChangeAspect="1"/>
                  </p:cNvSpPr>
                  <p:nvPr/>
                </p:nvSpPr>
                <p:spPr>
                  <a:xfrm>
                    <a:off x="4558155" y="11737559"/>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FA248378-93D4-582A-1667-D94979EAE379}"/>
                      </a:ext>
                    </a:extLst>
                  </p:cNvPr>
                  <p:cNvSpPr>
                    <a:spLocks noChangeAspect="1"/>
                  </p:cNvSpPr>
                  <p:nvPr/>
                </p:nvSpPr>
                <p:spPr>
                  <a:xfrm>
                    <a:off x="2847671" y="10878233"/>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C3ED7065-EF32-9490-B110-C3CAAE7A6EAE}"/>
                      </a:ext>
                    </a:extLst>
                  </p:cNvPr>
                  <p:cNvSpPr>
                    <a:spLocks noChangeAspect="1"/>
                  </p:cNvSpPr>
                  <p:nvPr/>
                </p:nvSpPr>
                <p:spPr>
                  <a:xfrm>
                    <a:off x="2847671" y="10351579"/>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1DD79628-3805-844C-50D8-38E2C857FE91}"/>
                      </a:ext>
                    </a:extLst>
                  </p:cNvPr>
                  <p:cNvSpPr>
                    <a:spLocks noChangeAspect="1"/>
                  </p:cNvSpPr>
                  <p:nvPr/>
                </p:nvSpPr>
                <p:spPr>
                  <a:xfrm>
                    <a:off x="4558155" y="10873817"/>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8E7A91C2-A850-036C-79EC-665FA9F4C83F}"/>
                      </a:ext>
                    </a:extLst>
                  </p:cNvPr>
                  <p:cNvSpPr>
                    <a:spLocks noChangeAspect="1"/>
                  </p:cNvSpPr>
                  <p:nvPr/>
                </p:nvSpPr>
                <p:spPr>
                  <a:xfrm>
                    <a:off x="4558155" y="10347163"/>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F2039419-539B-FC00-A665-41C857ED6A7C}"/>
                      </a:ext>
                    </a:extLst>
                  </p:cNvPr>
                  <p:cNvSpPr>
                    <a:spLocks/>
                  </p:cNvSpPr>
                  <p:nvPr/>
                </p:nvSpPr>
                <p:spPr>
                  <a:xfrm>
                    <a:off x="5556383" y="10732274"/>
                    <a:ext cx="360000" cy="360000"/>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2E6DBBBD-A181-65C9-C37B-20C0D77A1D63}"/>
                      </a:ext>
                    </a:extLst>
                  </p:cNvPr>
                  <p:cNvSpPr>
                    <a:spLocks/>
                  </p:cNvSpPr>
                  <p:nvPr/>
                </p:nvSpPr>
                <p:spPr>
                  <a:xfrm>
                    <a:off x="5551834" y="11293767"/>
                    <a:ext cx="360000" cy="360000"/>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10B5964C-0590-2865-8498-5BC535DA5046}"/>
                      </a:ext>
                    </a:extLst>
                  </p:cNvPr>
                  <p:cNvSpPr>
                    <a:spLocks/>
                  </p:cNvSpPr>
                  <p:nvPr/>
                </p:nvSpPr>
                <p:spPr>
                  <a:xfrm>
                    <a:off x="1917175" y="10760887"/>
                    <a:ext cx="360000" cy="360000"/>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EC4B3696-57CB-9C14-AF9B-3D84A23119D3}"/>
                      </a:ext>
                    </a:extLst>
                  </p:cNvPr>
                  <p:cNvSpPr>
                    <a:spLocks/>
                  </p:cNvSpPr>
                  <p:nvPr/>
                </p:nvSpPr>
                <p:spPr>
                  <a:xfrm>
                    <a:off x="1912626" y="11334412"/>
                    <a:ext cx="360000" cy="360000"/>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86E052F2-A32D-41FF-E525-232C176EDF04}"/>
                      </a:ext>
                    </a:extLst>
                  </p:cNvPr>
                  <p:cNvSpPr>
                    <a:spLocks noChangeAspect="1"/>
                  </p:cNvSpPr>
                  <p:nvPr/>
                </p:nvSpPr>
                <p:spPr>
                  <a:xfrm>
                    <a:off x="2854312" y="11756881"/>
                    <a:ext cx="432000" cy="436416"/>
                  </a:xfrm>
                  <a:prstGeom prst="ellipse">
                    <a:avLst/>
                  </a:prstGeom>
                  <a:solidFill>
                    <a:srgbClr val="BFE2A8"/>
                  </a:solidFill>
                  <a:ln w="57150">
                    <a:solidFill>
                      <a:srgbClr val="87D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9" name="Straight Connector 178">
                    <a:extLst>
                      <a:ext uri="{FF2B5EF4-FFF2-40B4-BE49-F238E27FC236}">
                        <a16:creationId xmlns:a16="http://schemas.microsoft.com/office/drawing/2014/main" id="{AF7E627B-7016-7AB2-6372-E5A00C3C21A9}"/>
                      </a:ext>
                    </a:extLst>
                  </p:cNvPr>
                  <p:cNvCxnSpPr>
                    <a:cxnSpLocks/>
                    <a:stCxn id="176" idx="6"/>
                    <a:endCxn id="171" idx="2"/>
                  </p:cNvCxnSpPr>
                  <p:nvPr/>
                </p:nvCxnSpPr>
                <p:spPr>
                  <a:xfrm flipV="1">
                    <a:off x="2277175" y="10569787"/>
                    <a:ext cx="570496" cy="371100"/>
                  </a:xfrm>
                  <a:prstGeom prst="line">
                    <a:avLst/>
                  </a:prstGeom>
                  <a:ln w="5715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1C59538-E3E7-4AE3-AAB9-5EE27E9FEAC1}"/>
                      </a:ext>
                    </a:extLst>
                  </p:cNvPr>
                  <p:cNvCxnSpPr>
                    <a:cxnSpLocks/>
                    <a:stCxn id="177" idx="6"/>
                    <a:endCxn id="171" idx="2"/>
                  </p:cNvCxnSpPr>
                  <p:nvPr/>
                </p:nvCxnSpPr>
                <p:spPr>
                  <a:xfrm flipV="1">
                    <a:off x="2272626" y="10569787"/>
                    <a:ext cx="575045" cy="944625"/>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27549D5-A2B8-8EB4-F614-DEC0EF454467}"/>
                      </a:ext>
                    </a:extLst>
                  </p:cNvPr>
                  <p:cNvCxnSpPr>
                    <a:cxnSpLocks/>
                    <a:stCxn id="176" idx="6"/>
                    <a:endCxn id="170" idx="2"/>
                  </p:cNvCxnSpPr>
                  <p:nvPr/>
                </p:nvCxnSpPr>
                <p:spPr>
                  <a:xfrm>
                    <a:off x="2277175" y="10940887"/>
                    <a:ext cx="570496" cy="155554"/>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E4363DB-4783-9820-4A10-2268BF1294AC}"/>
                      </a:ext>
                    </a:extLst>
                  </p:cNvPr>
                  <p:cNvCxnSpPr>
                    <a:cxnSpLocks/>
                    <a:stCxn id="176" idx="6"/>
                    <a:endCxn id="178" idx="2"/>
                  </p:cNvCxnSpPr>
                  <p:nvPr/>
                </p:nvCxnSpPr>
                <p:spPr>
                  <a:xfrm>
                    <a:off x="2277175" y="10940887"/>
                    <a:ext cx="577137" cy="1034202"/>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3CD60B2D-4B41-EE22-516B-F1EE935BB7AF}"/>
                      </a:ext>
                    </a:extLst>
                  </p:cNvPr>
                  <p:cNvCxnSpPr>
                    <a:cxnSpLocks/>
                    <a:stCxn id="177" idx="6"/>
                    <a:endCxn id="178" idx="2"/>
                  </p:cNvCxnSpPr>
                  <p:nvPr/>
                </p:nvCxnSpPr>
                <p:spPr>
                  <a:xfrm>
                    <a:off x="2272626" y="11514412"/>
                    <a:ext cx="581686" cy="460677"/>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15729A3B-8229-7E0C-3C3E-E5BA0A30FCD3}"/>
                      </a:ext>
                    </a:extLst>
                  </p:cNvPr>
                  <p:cNvCxnSpPr>
                    <a:cxnSpLocks/>
                    <a:stCxn id="177" idx="6"/>
                    <a:endCxn id="170" idx="2"/>
                  </p:cNvCxnSpPr>
                  <p:nvPr/>
                </p:nvCxnSpPr>
                <p:spPr>
                  <a:xfrm flipV="1">
                    <a:off x="2272626" y="11096441"/>
                    <a:ext cx="575045" cy="417971"/>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0E6715A9-C80C-6409-8951-35653F1F471E}"/>
                      </a:ext>
                    </a:extLst>
                  </p:cNvPr>
                  <p:cNvCxnSpPr>
                    <a:cxnSpLocks/>
                    <a:stCxn id="171" idx="6"/>
                    <a:endCxn id="167" idx="2"/>
                  </p:cNvCxnSpPr>
                  <p:nvPr/>
                </p:nvCxnSpPr>
                <p:spPr>
                  <a:xfrm>
                    <a:off x="3279671" y="10569787"/>
                    <a:ext cx="441696" cy="0"/>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CA98E21D-9E1A-624A-EAD4-304CC0C9B80A}"/>
                      </a:ext>
                    </a:extLst>
                  </p:cNvPr>
                  <p:cNvCxnSpPr>
                    <a:cxnSpLocks/>
                    <a:stCxn id="170" idx="6"/>
                    <a:endCxn id="166" idx="2"/>
                  </p:cNvCxnSpPr>
                  <p:nvPr/>
                </p:nvCxnSpPr>
                <p:spPr>
                  <a:xfrm>
                    <a:off x="3279671" y="11096441"/>
                    <a:ext cx="441696" cy="0"/>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89EED6B1-3FED-1AE2-802C-269345DDE99E}"/>
                      </a:ext>
                    </a:extLst>
                  </p:cNvPr>
                  <p:cNvCxnSpPr>
                    <a:cxnSpLocks/>
                    <a:stCxn id="178" idx="6"/>
                    <a:endCxn id="168" idx="2"/>
                  </p:cNvCxnSpPr>
                  <p:nvPr/>
                </p:nvCxnSpPr>
                <p:spPr>
                  <a:xfrm flipV="1">
                    <a:off x="3286312" y="11955767"/>
                    <a:ext cx="435055" cy="19322"/>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6ACCE2E0-3F6F-AA84-91A7-BAC79CE46310}"/>
                      </a:ext>
                    </a:extLst>
                  </p:cNvPr>
                  <p:cNvCxnSpPr>
                    <a:cxnSpLocks/>
                    <a:stCxn id="169" idx="6"/>
                    <a:endCxn id="174" idx="2"/>
                  </p:cNvCxnSpPr>
                  <p:nvPr/>
                </p:nvCxnSpPr>
                <p:spPr>
                  <a:xfrm flipV="1">
                    <a:off x="4990155" y="10912274"/>
                    <a:ext cx="566228" cy="1043493"/>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FF5992ED-4AA8-67D2-7D68-9566DB889381}"/>
                      </a:ext>
                    </a:extLst>
                  </p:cNvPr>
                  <p:cNvCxnSpPr>
                    <a:cxnSpLocks/>
                    <a:stCxn id="173" idx="6"/>
                    <a:endCxn id="174" idx="2"/>
                  </p:cNvCxnSpPr>
                  <p:nvPr/>
                </p:nvCxnSpPr>
                <p:spPr>
                  <a:xfrm>
                    <a:off x="4990155" y="10565371"/>
                    <a:ext cx="566228" cy="346903"/>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7815F086-CA88-F717-D5B3-CADCBD7E2305}"/>
                      </a:ext>
                    </a:extLst>
                  </p:cNvPr>
                  <p:cNvCxnSpPr>
                    <a:cxnSpLocks/>
                    <a:stCxn id="173" idx="6"/>
                    <a:endCxn id="175" idx="2"/>
                  </p:cNvCxnSpPr>
                  <p:nvPr/>
                </p:nvCxnSpPr>
                <p:spPr>
                  <a:xfrm>
                    <a:off x="4990155" y="10565371"/>
                    <a:ext cx="561679" cy="908396"/>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B6F30772-54B8-DEEB-ACA3-0475A5BC799D}"/>
                      </a:ext>
                    </a:extLst>
                  </p:cNvPr>
                  <p:cNvCxnSpPr>
                    <a:cxnSpLocks/>
                    <a:stCxn id="175" idx="2"/>
                    <a:endCxn id="169" idx="6"/>
                  </p:cNvCxnSpPr>
                  <p:nvPr/>
                </p:nvCxnSpPr>
                <p:spPr>
                  <a:xfrm flipH="1">
                    <a:off x="4990155" y="11473767"/>
                    <a:ext cx="561679" cy="482000"/>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05E68DE-2426-33FF-DE08-AC8BF8F9F900}"/>
                      </a:ext>
                    </a:extLst>
                  </p:cNvPr>
                  <p:cNvCxnSpPr>
                    <a:cxnSpLocks/>
                    <a:stCxn id="172" idx="6"/>
                    <a:endCxn id="174" idx="2"/>
                  </p:cNvCxnSpPr>
                  <p:nvPr/>
                </p:nvCxnSpPr>
                <p:spPr>
                  <a:xfrm flipV="1">
                    <a:off x="4990155" y="10912274"/>
                    <a:ext cx="566228" cy="179751"/>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88B45F5B-C650-7DF9-F5BA-F38DEEBC3B9C}"/>
                      </a:ext>
                    </a:extLst>
                  </p:cNvPr>
                  <p:cNvCxnSpPr>
                    <a:cxnSpLocks/>
                    <a:stCxn id="172" idx="6"/>
                    <a:endCxn id="175" idx="2"/>
                  </p:cNvCxnSpPr>
                  <p:nvPr/>
                </p:nvCxnSpPr>
                <p:spPr>
                  <a:xfrm>
                    <a:off x="4990155" y="11092025"/>
                    <a:ext cx="561679" cy="381742"/>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ACDD5171-3F4A-E18F-D81C-902BA190E636}"/>
                      </a:ext>
                    </a:extLst>
                  </p:cNvPr>
                  <p:cNvCxnSpPr>
                    <a:cxnSpLocks/>
                    <a:stCxn id="171" idx="6"/>
                    <a:endCxn id="168" idx="2"/>
                  </p:cNvCxnSpPr>
                  <p:nvPr/>
                </p:nvCxnSpPr>
                <p:spPr>
                  <a:xfrm>
                    <a:off x="3279671" y="10569787"/>
                    <a:ext cx="441696" cy="1385980"/>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C01B3ADC-16C7-9376-5D35-F582C2C7F8D4}"/>
                      </a:ext>
                    </a:extLst>
                  </p:cNvPr>
                  <p:cNvCxnSpPr>
                    <a:cxnSpLocks/>
                    <a:stCxn id="170" idx="6"/>
                    <a:endCxn id="167" idx="2"/>
                  </p:cNvCxnSpPr>
                  <p:nvPr/>
                </p:nvCxnSpPr>
                <p:spPr>
                  <a:xfrm flipV="1">
                    <a:off x="3279671" y="10569787"/>
                    <a:ext cx="441696" cy="526654"/>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7EF4F70-F125-C896-0282-B2E7D0907DD7}"/>
                      </a:ext>
                    </a:extLst>
                  </p:cNvPr>
                  <p:cNvCxnSpPr>
                    <a:cxnSpLocks/>
                    <a:stCxn id="171" idx="6"/>
                    <a:endCxn id="166" idx="2"/>
                  </p:cNvCxnSpPr>
                  <p:nvPr/>
                </p:nvCxnSpPr>
                <p:spPr>
                  <a:xfrm>
                    <a:off x="3279671" y="10569787"/>
                    <a:ext cx="441696" cy="526654"/>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35BEB27-AA0F-3680-A63D-19580764DC80}"/>
                      </a:ext>
                    </a:extLst>
                  </p:cNvPr>
                  <p:cNvCxnSpPr>
                    <a:cxnSpLocks/>
                    <a:stCxn id="170" idx="6"/>
                    <a:endCxn id="168" idx="2"/>
                  </p:cNvCxnSpPr>
                  <p:nvPr/>
                </p:nvCxnSpPr>
                <p:spPr>
                  <a:xfrm>
                    <a:off x="3279671" y="11096441"/>
                    <a:ext cx="441696" cy="859326"/>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FA6C225-7B14-BBD2-8D27-506103081226}"/>
                      </a:ext>
                    </a:extLst>
                  </p:cNvPr>
                  <p:cNvCxnSpPr>
                    <a:cxnSpLocks/>
                    <a:stCxn id="167" idx="2"/>
                    <a:endCxn id="178" idx="6"/>
                  </p:cNvCxnSpPr>
                  <p:nvPr/>
                </p:nvCxnSpPr>
                <p:spPr>
                  <a:xfrm flipH="1">
                    <a:off x="3286312" y="10569787"/>
                    <a:ext cx="435055" cy="1405302"/>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B3B298D-CF9D-8412-19E5-0644762A5BA1}"/>
                      </a:ext>
                    </a:extLst>
                  </p:cNvPr>
                  <p:cNvCxnSpPr>
                    <a:cxnSpLocks/>
                    <a:stCxn id="166" idx="2"/>
                    <a:endCxn id="178" idx="6"/>
                  </p:cNvCxnSpPr>
                  <p:nvPr/>
                </p:nvCxnSpPr>
                <p:spPr>
                  <a:xfrm flipH="1">
                    <a:off x="3286312" y="11096441"/>
                    <a:ext cx="435055" cy="878648"/>
                  </a:xfrm>
                  <a:prstGeom prst="line">
                    <a:avLst/>
                  </a:prstGeom>
                  <a:ln w="38100">
                    <a:solidFill>
                      <a:srgbClr val="87DFE1"/>
                    </a:solidFill>
                  </a:ln>
                </p:spPr>
                <p:style>
                  <a:lnRef idx="1">
                    <a:schemeClr val="accent1"/>
                  </a:lnRef>
                  <a:fillRef idx="0">
                    <a:schemeClr val="accent1"/>
                  </a:fillRef>
                  <a:effectRef idx="0">
                    <a:schemeClr val="accent1"/>
                  </a:effectRef>
                  <a:fontRef idx="minor">
                    <a:schemeClr val="tx1"/>
                  </a:fontRef>
                </p:style>
              </p:cxnSp>
            </p:grpSp>
            <p:sp>
              <p:nvSpPr>
                <p:cNvPr id="164" name="Rectangle: Rounded Corners 163">
                  <a:extLst>
                    <a:ext uri="{FF2B5EF4-FFF2-40B4-BE49-F238E27FC236}">
                      <a16:creationId xmlns:a16="http://schemas.microsoft.com/office/drawing/2014/main" id="{B77D85CC-768E-13B3-3B83-4EDD2E9BF6B7}"/>
                    </a:ext>
                  </a:extLst>
                </p:cNvPr>
                <p:cNvSpPr/>
                <p:nvPr/>
              </p:nvSpPr>
              <p:spPr>
                <a:xfrm>
                  <a:off x="950946" y="13606839"/>
                  <a:ext cx="572378" cy="1055843"/>
                </a:xfrm>
                <a:prstGeom prst="roundRect">
                  <a:avLst/>
                </a:prstGeom>
                <a:no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Rounded Corners 164">
                  <a:extLst>
                    <a:ext uri="{FF2B5EF4-FFF2-40B4-BE49-F238E27FC236}">
                      <a16:creationId xmlns:a16="http://schemas.microsoft.com/office/drawing/2014/main" id="{77465489-522B-EA0F-582B-53506FA9A5BD}"/>
                    </a:ext>
                  </a:extLst>
                </p:cNvPr>
                <p:cNvSpPr/>
                <p:nvPr/>
              </p:nvSpPr>
              <p:spPr>
                <a:xfrm>
                  <a:off x="4527496" y="13581558"/>
                  <a:ext cx="640280" cy="1055843"/>
                </a:xfrm>
                <a:prstGeom prst="roundRect">
                  <a:avLst/>
                </a:prstGeom>
                <a:noFill/>
                <a:ln>
                  <a:solidFill>
                    <a:srgbClr val="006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21" name="TextBox 220">
            <a:extLst>
              <a:ext uri="{FF2B5EF4-FFF2-40B4-BE49-F238E27FC236}">
                <a16:creationId xmlns:a16="http://schemas.microsoft.com/office/drawing/2014/main" id="{85E393A3-D41B-08FE-7A74-FEE19C8A551F}"/>
              </a:ext>
            </a:extLst>
          </p:cNvPr>
          <p:cNvSpPr txBox="1"/>
          <p:nvPr/>
        </p:nvSpPr>
        <p:spPr>
          <a:xfrm>
            <a:off x="2804021" y="32973426"/>
            <a:ext cx="6084000" cy="400110"/>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3: </a:t>
            </a:r>
            <a:r>
              <a:rPr lang="en-GB" sz="2000" dirty="0">
                <a:solidFill>
                  <a:schemeClr val="tx1">
                    <a:lumMod val="65000"/>
                    <a:lumOff val="35000"/>
                  </a:schemeClr>
                </a:solidFill>
                <a:ea typeface="Open Sans" panose="020B0606030504020204" pitchFamily="34" charset="0"/>
                <a:cs typeface="Open Sans" panose="020B0606030504020204" pitchFamily="34" charset="0"/>
              </a:rPr>
              <a:t>Example of deep hybrid model structure.</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223" name="TextBox 222">
            <a:extLst>
              <a:ext uri="{FF2B5EF4-FFF2-40B4-BE49-F238E27FC236}">
                <a16:creationId xmlns:a16="http://schemas.microsoft.com/office/drawing/2014/main" id="{5406D608-DFB4-008E-BC7C-020C66894AFD}"/>
              </a:ext>
            </a:extLst>
          </p:cNvPr>
          <p:cNvSpPr txBox="1"/>
          <p:nvPr/>
        </p:nvSpPr>
        <p:spPr>
          <a:xfrm>
            <a:off x="880736" y="33467329"/>
            <a:ext cx="9349042" cy="1804084"/>
          </a:xfrm>
          <a:prstGeom prst="rect">
            <a:avLst/>
          </a:prstGeom>
          <a:noFill/>
        </p:spPr>
        <p:txBody>
          <a:bodyPr wrap="square" rtlCol="0">
            <a:spAutoFit/>
          </a:bodyPr>
          <a:lstStyle>
            <a:defPPr>
              <a:defRPr kern="1200"/>
            </a:defPPr>
          </a:lstStyle>
          <a:p>
            <a:pPr algn="just">
              <a:lnSpc>
                <a:spcPct val="120000"/>
              </a:lnSpc>
            </a:pPr>
            <a:r>
              <a:rPr lang="en-US" sz="2400" dirty="0">
                <a:solidFill>
                  <a:schemeClr val="tx1">
                    <a:lumMod val="65000"/>
                    <a:lumOff val="35000"/>
                  </a:schemeClr>
                </a:solidFill>
                <a:ea typeface="Open Sans" panose="020B0606030504020204" pitchFamily="34" charset="0"/>
                <a:cs typeface="Open Sans" panose="020B0606030504020204" pitchFamily="34" charset="0"/>
              </a:rPr>
              <a:t>Uses</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r>
              <a:rPr lang="en-US" sz="2362" u="sng" dirty="0">
                <a:solidFill>
                  <a:schemeClr val="tx1">
                    <a:lumMod val="65000"/>
                    <a:lumOff val="35000"/>
                  </a:schemeClr>
                </a:solidFill>
                <a:ea typeface="Open Sans" panose="020B0606030504020204" pitchFamily="34" charset="0"/>
                <a:cs typeface="Open Sans" panose="020B0606030504020204" pitchFamily="34" charset="0"/>
              </a:rPr>
              <a:t>ADAMw as an optimizer</a:t>
            </a:r>
            <a:r>
              <a:rPr lang="en-US" sz="2362" dirty="0">
                <a:solidFill>
                  <a:schemeClr val="tx1">
                    <a:lumMod val="65000"/>
                    <a:lumOff val="35000"/>
                  </a:schemeClr>
                </a:solidFill>
                <a:ea typeface="Open Sans" panose="020B0606030504020204" pitchFamily="34" charset="0"/>
                <a:cs typeface="Open Sans" panose="020B0606030504020204" pitchFamily="34" charset="0"/>
              </a:rPr>
              <a:t> and </a:t>
            </a:r>
            <a:r>
              <a:rPr lang="en-US" sz="2362" u="sng" dirty="0">
                <a:solidFill>
                  <a:schemeClr val="tx1">
                    <a:lumMod val="65000"/>
                    <a:lumOff val="35000"/>
                  </a:schemeClr>
                </a:solidFill>
                <a:ea typeface="Open Sans" panose="020B0606030504020204" pitchFamily="34" charset="0"/>
                <a:cs typeface="Open Sans" panose="020B0606030504020204" pitchFamily="34" charset="0"/>
              </a:rPr>
              <a:t>stochastic regularization </a:t>
            </a:r>
            <a:r>
              <a:rPr lang="en-US" sz="2362" dirty="0">
                <a:solidFill>
                  <a:schemeClr val="tx1">
                    <a:lumMod val="65000"/>
                    <a:lumOff val="35000"/>
                  </a:schemeClr>
                </a:solidFill>
                <a:ea typeface="Open Sans" panose="020B0606030504020204" pitchFamily="34" charset="0"/>
                <a:cs typeface="Open Sans" panose="020B0606030504020204" pitchFamily="34" charset="0"/>
              </a:rPr>
              <a:t>with mini-batch and weight dropout. The hyperparameter values were based on the work of Pinto et al. (2022), including the use of ‘tanh’ activation function for shallow NNs and ‘relu’ for deep NNs.</a:t>
            </a:r>
          </a:p>
        </p:txBody>
      </p:sp>
      <p:sp>
        <p:nvSpPr>
          <p:cNvPr id="227" name="TextBox 226">
            <a:extLst>
              <a:ext uri="{FF2B5EF4-FFF2-40B4-BE49-F238E27FC236}">
                <a16:creationId xmlns:a16="http://schemas.microsoft.com/office/drawing/2014/main" id="{6A1371ED-E728-84A9-220E-169D7B4ADF31}"/>
              </a:ext>
            </a:extLst>
          </p:cNvPr>
          <p:cNvSpPr txBox="1"/>
          <p:nvPr/>
        </p:nvSpPr>
        <p:spPr>
          <a:xfrm>
            <a:off x="407533" y="30933511"/>
            <a:ext cx="2921560" cy="1015663"/>
          </a:xfrm>
          <a:prstGeom prst="rect">
            <a:avLst/>
          </a:prstGeom>
          <a:noFill/>
        </p:spPr>
        <p:txBody>
          <a:bodyPr wrap="square">
            <a:spAutoFit/>
          </a:bodyPr>
          <a:lstStyle/>
          <a:p>
            <a:pPr algn="ctr"/>
            <a:r>
              <a:rPr lang="en-US" sz="2000" b="1" dirty="0">
                <a:solidFill>
                  <a:schemeClr val="tx1">
                    <a:lumMod val="65000"/>
                    <a:lumOff val="35000"/>
                  </a:schemeClr>
                </a:solidFill>
                <a:ea typeface="Open Sans" panose="020B0606030504020204" pitchFamily="34" charset="0"/>
                <a:cs typeface="Open Sans" panose="020B0606030504020204" pitchFamily="34" charset="0"/>
              </a:rPr>
              <a:t>26 inputs </a:t>
            </a:r>
          </a:p>
          <a:p>
            <a:pPr algn="ctr"/>
            <a:r>
              <a:rPr lang="en-US" sz="2000" dirty="0">
                <a:solidFill>
                  <a:schemeClr val="tx1">
                    <a:lumMod val="65000"/>
                    <a:lumOff val="35000"/>
                  </a:schemeClr>
                </a:solidFill>
                <a:ea typeface="Open Sans" panose="020B0606030504020204" pitchFamily="34" charset="0"/>
                <a:cs typeface="Open Sans" panose="020B0606030504020204" pitchFamily="34" charset="0"/>
              </a:rPr>
              <a:t>1 feed state + </a:t>
            </a:r>
          </a:p>
          <a:p>
            <a:pPr algn="ctr"/>
            <a:r>
              <a:rPr lang="en-US" sz="2000" dirty="0">
                <a:solidFill>
                  <a:schemeClr val="tx1">
                    <a:lumMod val="65000"/>
                    <a:lumOff val="35000"/>
                  </a:schemeClr>
                </a:solidFill>
                <a:ea typeface="Open Sans" panose="020B0606030504020204" pitchFamily="34" charset="0"/>
                <a:cs typeface="Open Sans" panose="020B0606030504020204" pitchFamily="34" charset="0"/>
              </a:rPr>
              <a:t>25 state variables </a:t>
            </a:r>
            <a:endParaRPr lang="en-US" sz="2000" dirty="0"/>
          </a:p>
        </p:txBody>
      </p:sp>
      <p:sp>
        <p:nvSpPr>
          <p:cNvPr id="229" name="TextBox 228">
            <a:extLst>
              <a:ext uri="{FF2B5EF4-FFF2-40B4-BE49-F238E27FC236}">
                <a16:creationId xmlns:a16="http://schemas.microsoft.com/office/drawing/2014/main" id="{BEF01556-70A0-FB7A-A9F5-37FF97D62460}"/>
              </a:ext>
            </a:extLst>
          </p:cNvPr>
          <p:cNvSpPr txBox="1"/>
          <p:nvPr/>
        </p:nvSpPr>
        <p:spPr>
          <a:xfrm>
            <a:off x="8664685" y="30979231"/>
            <a:ext cx="1814694" cy="1015663"/>
          </a:xfrm>
          <a:prstGeom prst="rect">
            <a:avLst/>
          </a:prstGeom>
          <a:noFill/>
        </p:spPr>
        <p:txBody>
          <a:bodyPr wrap="square">
            <a:spAutoFit/>
          </a:bodyPr>
          <a:lstStyle/>
          <a:p>
            <a:pPr algn="ctr"/>
            <a:r>
              <a:rPr lang="en-US" sz="2000" b="1" dirty="0">
                <a:solidFill>
                  <a:schemeClr val="tx1">
                    <a:lumMod val="65000"/>
                    <a:lumOff val="35000"/>
                  </a:schemeClr>
                </a:solidFill>
                <a:ea typeface="Open Sans" panose="020B0606030504020204" pitchFamily="34" charset="0"/>
                <a:cs typeface="Open Sans" panose="020B0606030504020204" pitchFamily="34" charset="0"/>
              </a:rPr>
              <a:t>25 outputs </a:t>
            </a:r>
          </a:p>
          <a:p>
            <a:pPr algn="ctr"/>
            <a:r>
              <a:rPr lang="en-US" sz="2000" dirty="0">
                <a:solidFill>
                  <a:schemeClr val="tx1">
                    <a:lumMod val="65000"/>
                    <a:lumOff val="35000"/>
                  </a:schemeClr>
                </a:solidFill>
                <a:ea typeface="Open Sans" panose="020B0606030504020204" pitchFamily="34" charset="0"/>
                <a:cs typeface="Open Sans" panose="020B0606030504020204" pitchFamily="34" charset="0"/>
              </a:rPr>
              <a:t>25 state variables</a:t>
            </a:r>
            <a:endParaRPr lang="en-US" sz="2000" dirty="0"/>
          </a:p>
        </p:txBody>
      </p:sp>
      <p:sp>
        <p:nvSpPr>
          <p:cNvPr id="233" name="TextBox 232">
            <a:extLst>
              <a:ext uri="{FF2B5EF4-FFF2-40B4-BE49-F238E27FC236}">
                <a16:creationId xmlns:a16="http://schemas.microsoft.com/office/drawing/2014/main" id="{882A93AD-685A-D1AD-074E-9174193FCD20}"/>
              </a:ext>
            </a:extLst>
          </p:cNvPr>
          <p:cNvSpPr txBox="1"/>
          <p:nvPr/>
        </p:nvSpPr>
        <p:spPr>
          <a:xfrm>
            <a:off x="880736" y="26441234"/>
            <a:ext cx="9349042" cy="924677"/>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The concentration of 25 state variables (including mAb), as well as the volume and feed state (0 if t &lt;</a:t>
            </a:r>
            <a:r>
              <a:rPr lang="en-GB" sz="2362" dirty="0">
                <a:solidFill>
                  <a:schemeClr val="tx1">
                    <a:lumMod val="65000"/>
                    <a:lumOff val="35000"/>
                  </a:schemeClr>
                </a:solidFill>
                <a:ea typeface="Open Sans" panose="020B0606030504020204" pitchFamily="34" charset="0"/>
                <a:cs typeface="Open Sans" panose="020B0606030504020204" pitchFamily="34" charset="0"/>
              </a:rPr>
              <a:t> T</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ind</a:t>
            </a:r>
            <a:r>
              <a:rPr lang="en-GB" sz="2362" dirty="0">
                <a:solidFill>
                  <a:schemeClr val="tx1">
                    <a:lumMod val="65000"/>
                    <a:lumOff val="35000"/>
                  </a:schemeClr>
                </a:solidFill>
                <a:ea typeface="Open Sans" panose="020B0606030504020204" pitchFamily="34" charset="0"/>
                <a:cs typeface="Open Sans" panose="020B0606030504020204" pitchFamily="34" charset="0"/>
              </a:rPr>
              <a:t>, 1 afterwards) were tracked.</a:t>
            </a:r>
          </a:p>
        </p:txBody>
      </p:sp>
      <p:sp>
        <p:nvSpPr>
          <p:cNvPr id="235" name="Rectangle: Rounded Corners 234">
            <a:extLst>
              <a:ext uri="{FF2B5EF4-FFF2-40B4-BE49-F238E27FC236}">
                <a16:creationId xmlns:a16="http://schemas.microsoft.com/office/drawing/2014/main" id="{9FDDD01F-32D5-EEE0-96EE-26712F7B0FB9}"/>
              </a:ext>
            </a:extLst>
          </p:cNvPr>
          <p:cNvSpPr/>
          <p:nvPr/>
        </p:nvSpPr>
        <p:spPr>
          <a:xfrm>
            <a:off x="11073826" y="5151707"/>
            <a:ext cx="10283946" cy="5679228"/>
          </a:xfrm>
          <a:prstGeom prst="roundRect">
            <a:avLst>
              <a:gd name="adj" fmla="val 5222"/>
            </a:avLst>
          </a:prstGeom>
          <a:solidFill>
            <a:srgbClr val="B4E6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245" name="TextBox 244">
            <a:extLst>
              <a:ext uri="{FF2B5EF4-FFF2-40B4-BE49-F238E27FC236}">
                <a16:creationId xmlns:a16="http://schemas.microsoft.com/office/drawing/2014/main" id="{B4F5737A-0BD0-815B-5504-D17D21F7E1C4}"/>
              </a:ext>
            </a:extLst>
          </p:cNvPr>
          <p:cNvSpPr txBox="1"/>
          <p:nvPr/>
        </p:nvSpPr>
        <p:spPr>
          <a:xfrm>
            <a:off x="11428117" y="5435555"/>
            <a:ext cx="9495795"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Model Selection</a:t>
            </a:r>
          </a:p>
        </p:txBody>
      </p:sp>
      <p:sp>
        <p:nvSpPr>
          <p:cNvPr id="247" name="TextBox 246">
            <a:extLst>
              <a:ext uri="{FF2B5EF4-FFF2-40B4-BE49-F238E27FC236}">
                <a16:creationId xmlns:a16="http://schemas.microsoft.com/office/drawing/2014/main" id="{3FE860DE-682D-677F-8162-221E1E3B8803}"/>
              </a:ext>
            </a:extLst>
          </p:cNvPr>
          <p:cNvSpPr txBox="1"/>
          <p:nvPr/>
        </p:nvSpPr>
        <p:spPr>
          <a:xfrm>
            <a:off x="11428117" y="5953551"/>
            <a:ext cx="9543490" cy="2233304"/>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Phase I assesses different structures of hidden layers: </a:t>
            </a:r>
          </a:p>
          <a:p>
            <a:pPr algn="ctr">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[5], [10], [20]; [5 5], [10 10], [20 20]</a:t>
            </a:r>
          </a:p>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Phase I compares models based on the </a:t>
            </a:r>
            <a:r>
              <a:rPr lang="en-US" sz="2362" u="sng" dirty="0">
                <a:solidFill>
                  <a:schemeClr val="tx1">
                    <a:lumMod val="65000"/>
                    <a:lumOff val="35000"/>
                  </a:schemeClr>
                </a:solidFill>
                <a:ea typeface="Open Sans" panose="020B0606030504020204" pitchFamily="34" charset="0"/>
                <a:cs typeface="Open Sans" panose="020B0606030504020204" pitchFamily="34" charset="0"/>
              </a:rPr>
              <a:t>test loss</a:t>
            </a:r>
            <a:r>
              <a:rPr lang="en-US" sz="2362" dirty="0">
                <a:solidFill>
                  <a:schemeClr val="tx1">
                    <a:lumMod val="65000"/>
                    <a:lumOff val="35000"/>
                  </a:schemeClr>
                </a:solidFill>
                <a:ea typeface="Open Sans" panose="020B0606030504020204" pitchFamily="34" charset="0"/>
                <a:cs typeface="Open Sans" panose="020B0606030504020204" pitchFamily="34" charset="0"/>
              </a:rPr>
              <a:t>.</a:t>
            </a:r>
          </a:p>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Selected model is used in Phase II (train set reduction).</a:t>
            </a:r>
          </a:p>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Selected model/test set is used in Phase III (multiple mAb). </a:t>
            </a:r>
          </a:p>
        </p:txBody>
      </p:sp>
      <p:sp>
        <p:nvSpPr>
          <p:cNvPr id="249" name="TextBox 248">
            <a:extLst>
              <a:ext uri="{FF2B5EF4-FFF2-40B4-BE49-F238E27FC236}">
                <a16:creationId xmlns:a16="http://schemas.microsoft.com/office/drawing/2014/main" id="{3CE39FA2-36AA-7733-8387-FDD39383587D}"/>
              </a:ext>
            </a:extLst>
          </p:cNvPr>
          <p:cNvSpPr txBox="1"/>
          <p:nvPr/>
        </p:nvSpPr>
        <p:spPr>
          <a:xfrm>
            <a:off x="11428117" y="12452313"/>
            <a:ext cx="9543490" cy="1797095"/>
          </a:xfrm>
          <a:prstGeom prst="rect">
            <a:avLst/>
          </a:prstGeom>
          <a:noFill/>
        </p:spPr>
        <p:txBody>
          <a:bodyPr wrap="square" rtlCol="0">
            <a:spAutoFit/>
          </a:bodyPr>
          <a:lstStyle>
            <a:defPPr>
              <a:defRPr kern="1200"/>
            </a:defPPr>
          </a:lstStyle>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The 6 model structures were validated using a single mAb.</a:t>
            </a:r>
          </a:p>
          <a:p>
            <a:pPr algn="just">
              <a:lnSpc>
                <a:spcPct val="120000"/>
              </a:lnSpc>
            </a:pPr>
            <a:r>
              <a:rPr lang="en-US" sz="2362" dirty="0">
                <a:solidFill>
                  <a:schemeClr val="tx1">
                    <a:lumMod val="65000"/>
                    <a:lumOff val="35000"/>
                  </a:schemeClr>
                </a:solidFill>
                <a:ea typeface="Open Sans" panose="020B0606030504020204" pitchFamily="34" charset="0"/>
                <a:cs typeface="Open Sans" panose="020B0606030504020204" pitchFamily="34" charset="0"/>
              </a:rPr>
              <a:t>The selected model had a single </a:t>
            </a:r>
            <a:r>
              <a:rPr lang="en-US" sz="2362" b="1" dirty="0">
                <a:solidFill>
                  <a:schemeClr val="tx1">
                    <a:lumMod val="65000"/>
                    <a:lumOff val="35000"/>
                  </a:schemeClr>
                </a:solidFill>
                <a:ea typeface="Open Sans" panose="020B0606030504020204" pitchFamily="34" charset="0"/>
                <a:cs typeface="Open Sans" panose="020B0606030504020204" pitchFamily="34" charset="0"/>
              </a:rPr>
              <a:t>20-node hidden layer </a:t>
            </a:r>
            <a:r>
              <a:rPr lang="en-US" sz="2362" dirty="0">
                <a:solidFill>
                  <a:schemeClr val="tx1">
                    <a:lumMod val="65000"/>
                    <a:lumOff val="35000"/>
                  </a:schemeClr>
                </a:solidFill>
                <a:ea typeface="Open Sans" panose="020B0606030504020204" pitchFamily="34" charset="0"/>
                <a:cs typeface="Open Sans" panose="020B0606030504020204" pitchFamily="34" charset="0"/>
              </a:rPr>
              <a:t>([20]). The training WMSE and R</a:t>
            </a:r>
            <a:r>
              <a:rPr lang="en-US" sz="2362" baseline="30000" dirty="0">
                <a:solidFill>
                  <a:schemeClr val="tx1">
                    <a:lumMod val="65000"/>
                    <a:lumOff val="35000"/>
                  </a:schemeClr>
                </a:solidFill>
                <a:ea typeface="Open Sans" panose="020B0606030504020204" pitchFamily="34" charset="0"/>
                <a:cs typeface="Open Sans" panose="020B0606030504020204" pitchFamily="34" charset="0"/>
              </a:rPr>
              <a:t>2</a:t>
            </a:r>
            <a:r>
              <a:rPr lang="en-US" sz="2362" dirty="0">
                <a:solidFill>
                  <a:schemeClr val="tx1">
                    <a:lumMod val="65000"/>
                    <a:lumOff val="35000"/>
                  </a:schemeClr>
                </a:solidFill>
                <a:ea typeface="Open Sans" panose="020B0606030504020204" pitchFamily="34" charset="0"/>
                <a:cs typeface="Open Sans" panose="020B0606030504020204" pitchFamily="34" charset="0"/>
              </a:rPr>
              <a:t> corresponded to 0.1970 and 0.9550. The results for the test batch are shown in </a:t>
            </a:r>
            <a:r>
              <a:rPr lang="en-US" sz="2362" b="1" dirty="0">
                <a:solidFill>
                  <a:schemeClr val="tx1">
                    <a:lumMod val="65000"/>
                    <a:lumOff val="35000"/>
                  </a:schemeClr>
                </a:solidFill>
                <a:ea typeface="Open Sans" panose="020B0606030504020204" pitchFamily="34" charset="0"/>
                <a:cs typeface="Open Sans" panose="020B0606030504020204" pitchFamily="34" charset="0"/>
              </a:rPr>
              <a:t>Figure 4</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p>
        </p:txBody>
      </p:sp>
      <p:sp>
        <p:nvSpPr>
          <p:cNvPr id="252" name="TextBox 251">
            <a:extLst>
              <a:ext uri="{FF2B5EF4-FFF2-40B4-BE49-F238E27FC236}">
                <a16:creationId xmlns:a16="http://schemas.microsoft.com/office/drawing/2014/main" id="{BE57B39C-5866-AB93-EE7E-8C556AB92C03}"/>
              </a:ext>
            </a:extLst>
          </p:cNvPr>
          <p:cNvSpPr txBox="1"/>
          <p:nvPr/>
        </p:nvSpPr>
        <p:spPr>
          <a:xfrm>
            <a:off x="11428117" y="8296329"/>
            <a:ext cx="9495795"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Data Splitting</a:t>
            </a:r>
          </a:p>
        </p:txBody>
      </p:sp>
      <p:sp>
        <p:nvSpPr>
          <p:cNvPr id="254" name="TextBox 253">
            <a:extLst>
              <a:ext uri="{FF2B5EF4-FFF2-40B4-BE49-F238E27FC236}">
                <a16:creationId xmlns:a16="http://schemas.microsoft.com/office/drawing/2014/main" id="{B8D6DACD-3CD9-FFBC-E434-E55013F62132}"/>
              </a:ext>
            </a:extLst>
          </p:cNvPr>
          <p:cNvSpPr txBox="1"/>
          <p:nvPr/>
        </p:nvSpPr>
        <p:spPr>
          <a:xfrm>
            <a:off x="11428117" y="8825211"/>
            <a:ext cx="9543490" cy="1797095"/>
          </a:xfrm>
          <a:prstGeom prst="rect">
            <a:avLst/>
          </a:prstGeom>
          <a:noFill/>
        </p:spPr>
        <p:txBody>
          <a:bodyPr wrap="square" rtlCol="0">
            <a:spAutoFit/>
          </a:bodyPr>
          <a:lstStyle>
            <a:defPPr>
              <a:defRPr kern="1200"/>
            </a:defPPr>
          </a:lstStyle>
          <a:p>
            <a:pPr marL="432000" indent="-432000" algn="just">
              <a:lnSpc>
                <a:spcPct val="120000"/>
              </a:lnSpc>
              <a:buAutoNum type="romanUcPeriod"/>
            </a:pPr>
            <a:r>
              <a:rPr lang="en-US" sz="2362" dirty="0">
                <a:solidFill>
                  <a:schemeClr val="tx1">
                    <a:lumMod val="65000"/>
                    <a:lumOff val="35000"/>
                  </a:schemeClr>
                </a:solidFill>
                <a:ea typeface="Open Sans" panose="020B0606030504020204" pitchFamily="34" charset="0"/>
                <a:cs typeface="Open Sans" panose="020B0606030504020204" pitchFamily="34" charset="0"/>
              </a:rPr>
              <a:t>1 mAb. 14 train batches. 1 for test (</a:t>
            </a:r>
            <a:r>
              <a:rPr lang="en-US" sz="2362" u="sng" dirty="0">
                <a:solidFill>
                  <a:schemeClr val="tx1">
                    <a:lumMod val="65000"/>
                    <a:lumOff val="35000"/>
                  </a:schemeClr>
                </a:solidFill>
                <a:ea typeface="Open Sans" panose="020B0606030504020204" pitchFamily="34" charset="0"/>
                <a:cs typeface="Open Sans" panose="020B0606030504020204" pitchFamily="34" charset="0"/>
              </a:rPr>
              <a:t>maximum mAb</a:t>
            </a:r>
            <a:r>
              <a:rPr lang="en-US" sz="2362" dirty="0">
                <a:solidFill>
                  <a:schemeClr val="tx1">
                    <a:lumMod val="65000"/>
                    <a:lumOff val="35000"/>
                  </a:schemeClr>
                </a:solidFill>
                <a:ea typeface="Open Sans" panose="020B0606030504020204" pitchFamily="34" charset="0"/>
                <a:cs typeface="Open Sans" panose="020B0606030504020204" pitchFamily="34" charset="0"/>
              </a:rPr>
              <a:t> (b</a:t>
            </a:r>
            <a:r>
              <a:rPr lang="en-US"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US" sz="2362" dirty="0">
                <a:solidFill>
                  <a:schemeClr val="tx1">
                    <a:lumMod val="65000"/>
                    <a:lumOff val="35000"/>
                  </a:schemeClr>
                </a:solidFill>
                <a:ea typeface="Open Sans" panose="020B0606030504020204" pitchFamily="34" charset="0"/>
                <a:cs typeface="Open Sans" panose="020B0606030504020204" pitchFamily="34" charset="0"/>
              </a:rPr>
              <a:t>)). </a:t>
            </a:r>
          </a:p>
          <a:p>
            <a:pPr marL="432000" indent="-432000" algn="just">
              <a:lnSpc>
                <a:spcPct val="120000"/>
              </a:lnSpc>
              <a:buAutoNum type="romanUcPeriod"/>
            </a:pPr>
            <a:r>
              <a:rPr lang="en-US" sz="2362" dirty="0">
                <a:solidFill>
                  <a:schemeClr val="tx1">
                    <a:lumMod val="65000"/>
                    <a:lumOff val="35000"/>
                  </a:schemeClr>
                </a:solidFill>
                <a:ea typeface="Open Sans" panose="020B0606030504020204" pitchFamily="34" charset="0"/>
                <a:cs typeface="Open Sans" panose="020B0606030504020204" pitchFamily="34" charset="0"/>
              </a:rPr>
              <a:t>1 mAb. 6 test sets assed: </a:t>
            </a:r>
            <a:r>
              <a:rPr lang="en-GB" sz="2362" dirty="0">
                <a:solidFill>
                  <a:schemeClr val="tx1">
                    <a:lumMod val="65000"/>
                    <a:lumOff val="35000"/>
                  </a:schemeClr>
                </a:solidFill>
                <a:ea typeface="Open Sans" panose="020B0606030504020204" pitchFamily="34" charset="0"/>
                <a:cs typeface="Open Sans" panose="020B0606030504020204" pitchFamily="34" charset="0"/>
              </a:rPr>
              <a:t>{b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s</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s</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s</a:t>
            </a:r>
            <a:r>
              <a:rPr lang="en-GB" sz="2362" dirty="0">
                <a:solidFill>
                  <a:schemeClr val="tx1">
                    <a:lumMod val="65000"/>
                    <a:lumOff val="35000"/>
                  </a:schemeClr>
                </a:solidFill>
                <a:ea typeface="Open Sans" panose="020B0606030504020204" pitchFamily="34" charset="0"/>
                <a:cs typeface="Open Sans" panose="020B0606030504020204" pitchFamily="34" charset="0"/>
              </a:rPr>
              <a:t>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with 9, 8, 6, 5 or 1 training batches, respectively.</a:t>
            </a:r>
            <a:endParaRPr lang="en-US" sz="2362" dirty="0">
              <a:solidFill>
                <a:schemeClr val="tx1">
                  <a:lumMod val="65000"/>
                  <a:lumOff val="35000"/>
                </a:schemeClr>
              </a:solidFill>
              <a:ea typeface="Open Sans" panose="020B0606030504020204" pitchFamily="34" charset="0"/>
              <a:cs typeface="Open Sans" panose="020B0606030504020204" pitchFamily="34" charset="0"/>
            </a:endParaRPr>
          </a:p>
          <a:p>
            <a:pPr marL="432000" indent="-432000" algn="just">
              <a:lnSpc>
                <a:spcPct val="120000"/>
              </a:lnSpc>
              <a:buAutoNum type="romanUcPeriod"/>
            </a:pPr>
            <a:r>
              <a:rPr lang="en-US" sz="2362" dirty="0">
                <a:solidFill>
                  <a:schemeClr val="tx1">
                    <a:lumMod val="65000"/>
                    <a:lumOff val="35000"/>
                  </a:schemeClr>
                </a:solidFill>
                <a:ea typeface="Open Sans" panose="020B0606030504020204" pitchFamily="34" charset="0"/>
                <a:cs typeface="Open Sans" panose="020B0606030504020204" pitchFamily="34" charset="0"/>
              </a:rPr>
              <a:t>10 randomly chosen mAbs are used. </a:t>
            </a:r>
          </a:p>
        </p:txBody>
      </p:sp>
      <p:pic>
        <p:nvPicPr>
          <p:cNvPr id="260" name="Picture 259">
            <a:extLst>
              <a:ext uri="{FF2B5EF4-FFF2-40B4-BE49-F238E27FC236}">
                <a16:creationId xmlns:a16="http://schemas.microsoft.com/office/drawing/2014/main" id="{2FCB175C-4B38-A556-2DE5-B3925CCAAF75}"/>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629269" y="14445558"/>
            <a:ext cx="9140750" cy="6839486"/>
          </a:xfrm>
          <a:prstGeom prst="rect">
            <a:avLst/>
          </a:prstGeom>
        </p:spPr>
      </p:pic>
      <p:sp>
        <p:nvSpPr>
          <p:cNvPr id="262" name="TextBox 261">
            <a:extLst>
              <a:ext uri="{FF2B5EF4-FFF2-40B4-BE49-F238E27FC236}">
                <a16:creationId xmlns:a16="http://schemas.microsoft.com/office/drawing/2014/main" id="{33DA5644-47CE-1F5F-8B8E-4B46DF9F4E1A}"/>
              </a:ext>
            </a:extLst>
          </p:cNvPr>
          <p:cNvSpPr txBox="1"/>
          <p:nvPr/>
        </p:nvSpPr>
        <p:spPr>
          <a:xfrm>
            <a:off x="11437855" y="21291973"/>
            <a:ext cx="9555887" cy="1015663"/>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4: </a:t>
            </a:r>
            <a:r>
              <a:rPr lang="en-GB" sz="2000" dirty="0">
                <a:solidFill>
                  <a:schemeClr val="tx1">
                    <a:lumMod val="65000"/>
                    <a:lumOff val="35000"/>
                  </a:schemeClr>
                </a:solidFill>
                <a:ea typeface="Open Sans" panose="020B0606030504020204" pitchFamily="34" charset="0"/>
                <a:cs typeface="Open Sans" panose="020B0606030504020204" pitchFamily="34" charset="0"/>
              </a:rPr>
              <a:t>Predicted (green line) vs Measured (blue circles) concentrations for test batch in </a:t>
            </a:r>
            <a:r>
              <a:rPr lang="en-GB" sz="2000" b="1" dirty="0">
                <a:solidFill>
                  <a:schemeClr val="tx1">
                    <a:lumMod val="65000"/>
                    <a:lumOff val="35000"/>
                  </a:schemeClr>
                </a:solidFill>
                <a:ea typeface="Open Sans" panose="020B0606030504020204" pitchFamily="34" charset="0"/>
                <a:cs typeface="Open Sans" panose="020B0606030504020204" pitchFamily="34" charset="0"/>
              </a:rPr>
              <a:t>Phase I</a:t>
            </a:r>
            <a:r>
              <a:rPr lang="en-GB" sz="2000" dirty="0">
                <a:solidFill>
                  <a:schemeClr val="tx1">
                    <a:lumMod val="65000"/>
                    <a:lumOff val="35000"/>
                  </a:schemeClr>
                </a:solidFill>
                <a:ea typeface="Open Sans" panose="020B0606030504020204" pitchFamily="34" charset="0"/>
                <a:cs typeface="Open Sans" panose="020B0606030504020204" pitchFamily="34" charset="0"/>
              </a:rPr>
              <a:t> model (all species). The WMSE and </a:t>
            </a:r>
            <a:r>
              <a:rPr lang="en-US" sz="2000" dirty="0">
                <a:solidFill>
                  <a:schemeClr val="tx1">
                    <a:lumMod val="65000"/>
                    <a:lumOff val="35000"/>
                  </a:schemeClr>
                </a:solidFill>
                <a:ea typeface="Open Sans" panose="020B0606030504020204" pitchFamily="34" charset="0"/>
                <a:cs typeface="Open Sans" panose="020B0606030504020204" pitchFamily="34" charset="0"/>
              </a:rPr>
              <a:t>R</a:t>
            </a:r>
            <a:r>
              <a:rPr lang="en-US" sz="2000" baseline="30000" dirty="0">
                <a:solidFill>
                  <a:schemeClr val="tx1">
                    <a:lumMod val="65000"/>
                    <a:lumOff val="35000"/>
                  </a:schemeClr>
                </a:solidFill>
                <a:ea typeface="Open Sans" panose="020B0606030504020204" pitchFamily="34" charset="0"/>
                <a:cs typeface="Open Sans" panose="020B0606030504020204" pitchFamily="34" charset="0"/>
              </a:rPr>
              <a:t>2</a:t>
            </a:r>
            <a:r>
              <a:rPr lang="en-GB" sz="2000" dirty="0">
                <a:solidFill>
                  <a:schemeClr val="tx1">
                    <a:lumMod val="65000"/>
                    <a:lumOff val="35000"/>
                  </a:schemeClr>
                </a:solidFill>
                <a:ea typeface="Open Sans" panose="020B0606030504020204" pitchFamily="34" charset="0"/>
                <a:cs typeface="Open Sans" panose="020B0606030504020204" pitchFamily="34" charset="0"/>
              </a:rPr>
              <a:t> corresponded to 0.2123 and 0.9454. For mAb, these values were 0.1313 and 0.9460, respectively. </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266" name="TextBox 265">
            <a:extLst>
              <a:ext uri="{FF2B5EF4-FFF2-40B4-BE49-F238E27FC236}">
                <a16:creationId xmlns:a16="http://schemas.microsoft.com/office/drawing/2014/main" id="{1AAA74B9-108B-32B8-78CF-F6A10E423263}"/>
              </a:ext>
            </a:extLst>
          </p:cNvPr>
          <p:cNvSpPr txBox="1"/>
          <p:nvPr/>
        </p:nvSpPr>
        <p:spPr>
          <a:xfrm>
            <a:off x="11428117" y="23992292"/>
            <a:ext cx="9543490" cy="523220"/>
          </a:xfrm>
          <a:prstGeom prst="rect">
            <a:avLst/>
          </a:prstGeom>
          <a:noFill/>
        </p:spPr>
        <p:txBody>
          <a:bodyPr wrap="square" rtlCol="0">
            <a:spAutoFit/>
          </a:bodyPr>
          <a:lstStyle>
            <a:defPPr>
              <a:defRPr kern="1200"/>
            </a:defPPr>
          </a:lstStyle>
          <a:p>
            <a:r>
              <a:rPr lang="en-US" sz="2800" dirty="0">
                <a:solidFill>
                  <a:schemeClr val="tx1">
                    <a:lumMod val="65000"/>
                    <a:lumOff val="35000"/>
                  </a:schemeClr>
                </a:solidFill>
                <a:ea typeface="Open Sans" panose="020B0606030504020204" pitchFamily="34" charset="0"/>
                <a:cs typeface="Open Sans" panose="020B0606030504020204" pitchFamily="34" charset="0"/>
              </a:rPr>
              <a:t>II. </a:t>
            </a:r>
            <a:r>
              <a:rPr lang="en-US" sz="2800" u="sng" dirty="0">
                <a:solidFill>
                  <a:schemeClr val="tx1">
                    <a:lumMod val="65000"/>
                    <a:lumOff val="35000"/>
                  </a:schemeClr>
                </a:solidFill>
                <a:ea typeface="Open Sans" panose="020B0606030504020204" pitchFamily="34" charset="0"/>
                <a:cs typeface="Open Sans" panose="020B0606030504020204" pitchFamily="34" charset="0"/>
              </a:rPr>
              <a:t>Single mAb prediction: Test Sets</a:t>
            </a:r>
          </a:p>
        </p:txBody>
      </p:sp>
      <p:sp>
        <p:nvSpPr>
          <p:cNvPr id="268" name="TextBox 267">
            <a:extLst>
              <a:ext uri="{FF2B5EF4-FFF2-40B4-BE49-F238E27FC236}">
                <a16:creationId xmlns:a16="http://schemas.microsoft.com/office/drawing/2014/main" id="{51B78F59-AC4B-8B4B-AC15-FDBE2BEC573C}"/>
              </a:ext>
            </a:extLst>
          </p:cNvPr>
          <p:cNvSpPr txBox="1"/>
          <p:nvPr/>
        </p:nvSpPr>
        <p:spPr>
          <a:xfrm>
            <a:off x="11434315" y="22509215"/>
            <a:ext cx="9543490" cy="1360885"/>
          </a:xfrm>
          <a:prstGeom prst="rect">
            <a:avLst/>
          </a:prstGeom>
          <a:noFill/>
        </p:spPr>
        <p:txBody>
          <a:bodyPr wrap="square" rtlCol="0">
            <a:spAutoFit/>
          </a:bodyPr>
          <a:lstStyle>
            <a:defPPr>
              <a:defRPr kern="1200"/>
            </a:defP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Deeper architectures did not improve performance. [20 20] showed clear overfitting, obtaining highest test error. This indicates that shallow models </a:t>
            </a:r>
            <a:r>
              <a:rPr lang="en-US" sz="2362" noProof="0" dirty="0">
                <a:solidFill>
                  <a:schemeClr val="tx1">
                    <a:lumMod val="65000"/>
                    <a:lumOff val="35000"/>
                  </a:schemeClr>
                </a:solidFill>
                <a:ea typeface="Open Sans" panose="020B0606030504020204" pitchFamily="34" charset="0"/>
                <a:cs typeface="Open Sans" panose="020B0606030504020204" pitchFamily="34" charset="0"/>
              </a:rPr>
              <a:t>can accurately capture </a:t>
            </a:r>
            <a:r>
              <a:rPr lang="en-GB" sz="2362" dirty="0">
                <a:solidFill>
                  <a:schemeClr val="tx1">
                    <a:lumMod val="65000"/>
                    <a:lumOff val="35000"/>
                  </a:schemeClr>
                </a:solidFill>
                <a:ea typeface="Open Sans" panose="020B0606030504020204" pitchFamily="34" charset="0"/>
                <a:cs typeface="Open Sans" panose="020B0606030504020204" pitchFamily="34" charset="0"/>
              </a:rPr>
              <a:t>the system’s dynamics.</a:t>
            </a:r>
            <a:endParaRPr lang="en-US" sz="2362"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270" name="Rectangle: Rounded Corners 269">
            <a:extLst>
              <a:ext uri="{FF2B5EF4-FFF2-40B4-BE49-F238E27FC236}">
                <a16:creationId xmlns:a16="http://schemas.microsoft.com/office/drawing/2014/main" id="{F2DE0183-E88A-B1EC-0983-F35CA4E41412}"/>
              </a:ext>
            </a:extLst>
          </p:cNvPr>
          <p:cNvSpPr/>
          <p:nvPr/>
        </p:nvSpPr>
        <p:spPr>
          <a:xfrm>
            <a:off x="21764387" y="5151705"/>
            <a:ext cx="10283946" cy="11840581"/>
          </a:xfrm>
          <a:prstGeom prst="roundRect">
            <a:avLst>
              <a:gd name="adj" fmla="val 4285"/>
            </a:avLst>
          </a:prstGeom>
          <a:solidFill>
            <a:srgbClr val="DFF1D3"/>
          </a:solidFill>
          <a:ln>
            <a:solidFill>
              <a:srgbClr val="DFF1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7086"/>
          </a:p>
        </p:txBody>
      </p:sp>
      <p:sp>
        <p:nvSpPr>
          <p:cNvPr id="272" name="TextBox 271">
            <a:extLst>
              <a:ext uri="{FF2B5EF4-FFF2-40B4-BE49-F238E27FC236}">
                <a16:creationId xmlns:a16="http://schemas.microsoft.com/office/drawing/2014/main" id="{7988ACB9-50D0-38BA-C3C9-1E162828C1CC}"/>
              </a:ext>
            </a:extLst>
          </p:cNvPr>
          <p:cNvSpPr txBox="1"/>
          <p:nvPr/>
        </p:nvSpPr>
        <p:spPr>
          <a:xfrm>
            <a:off x="11427899" y="24540651"/>
            <a:ext cx="9543490" cy="2669513"/>
          </a:xfrm>
          <a:prstGeom prst="rect">
            <a:avLst/>
          </a:prstGeom>
          <a:noFill/>
        </p:spPr>
        <p:txBody>
          <a:bodyPr wrap="square" rtlCol="0">
            <a:spAutoFit/>
          </a:bodyPr>
          <a:lstStyle>
            <a:defPPr>
              <a:defRPr kern="1200"/>
            </a:defP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Using the previously selected structure, the model performance was assed using 6 different data partitions. </a:t>
            </a:r>
          </a:p>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Both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and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obtained lower test errors than the original set, {bM}. </a:t>
            </a:r>
            <a:r>
              <a:rPr lang="en-GB" sz="2362" b="1" dirty="0">
                <a:solidFill>
                  <a:schemeClr val="tx1">
                    <a:lumMod val="65000"/>
                    <a:lumOff val="35000"/>
                  </a:schemeClr>
                </a:solidFill>
                <a:ea typeface="Open Sans" panose="020B0606030504020204" pitchFamily="34" charset="0"/>
                <a:cs typeface="Open Sans" panose="020B0606030504020204" pitchFamily="34" charset="0"/>
              </a:rPr>
              <a:t>{b</a:t>
            </a:r>
            <a:r>
              <a:rPr lang="en-GB" sz="2362" b="1"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b="1" dirty="0">
                <a:solidFill>
                  <a:schemeClr val="tx1">
                    <a:lumMod val="65000"/>
                    <a:lumOff val="35000"/>
                  </a:schemeClr>
                </a:solidFill>
                <a:ea typeface="Open Sans" panose="020B0606030504020204" pitchFamily="34" charset="0"/>
                <a:cs typeface="Open Sans" panose="020B0606030504020204" pitchFamily="34" charset="0"/>
              </a:rPr>
              <a:t> + b</a:t>
            </a:r>
            <a:r>
              <a:rPr lang="en-GB" sz="2362" b="1"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b="1" dirty="0">
                <a:solidFill>
                  <a:schemeClr val="tx1">
                    <a:lumMod val="65000"/>
                    <a:lumOff val="35000"/>
                  </a:schemeClr>
                </a:solidFill>
                <a:ea typeface="Open Sans" panose="020B0606030504020204" pitchFamily="34" charset="0"/>
                <a:cs typeface="Open Sans" panose="020B0606030504020204" pitchFamily="34" charset="0"/>
              </a:rPr>
              <a:t> + b</a:t>
            </a:r>
            <a:r>
              <a:rPr lang="en-GB" sz="2362" b="1"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b="1" dirty="0">
                <a:solidFill>
                  <a:schemeClr val="tx1">
                    <a:lumMod val="65000"/>
                    <a:lumOff val="35000"/>
                  </a:schemeClr>
                </a:solidFill>
                <a:ea typeface="Open Sans" panose="020B0606030504020204" pitchFamily="34" charset="0"/>
                <a:cs typeface="Open Sans" panose="020B0606030504020204" pitchFamily="34" charset="0"/>
              </a:rPr>
              <a:t>} </a:t>
            </a:r>
            <a:r>
              <a:rPr lang="en-GB" sz="2362" dirty="0">
                <a:solidFill>
                  <a:schemeClr val="tx1">
                    <a:lumMod val="65000"/>
                    <a:lumOff val="35000"/>
                  </a:schemeClr>
                </a:solidFill>
                <a:ea typeface="Open Sans" panose="020B0606030504020204" pitchFamily="34" charset="0"/>
                <a:cs typeface="Open Sans" panose="020B0606030504020204" pitchFamily="34" charset="0"/>
              </a:rPr>
              <a:t>had the </a:t>
            </a:r>
            <a:r>
              <a:rPr lang="en-GB" sz="2362" b="1" dirty="0">
                <a:solidFill>
                  <a:schemeClr val="tx1">
                    <a:lumMod val="65000"/>
                    <a:lumOff val="35000"/>
                  </a:schemeClr>
                </a:solidFill>
                <a:ea typeface="Open Sans" panose="020B0606030504020204" pitchFamily="34" charset="0"/>
                <a:cs typeface="Open Sans" panose="020B0606030504020204" pitchFamily="34" charset="0"/>
              </a:rPr>
              <a:t>lowest test WSME </a:t>
            </a:r>
            <a:r>
              <a:rPr lang="en-GB" sz="2362" dirty="0">
                <a:solidFill>
                  <a:schemeClr val="tx1">
                    <a:lumMod val="65000"/>
                    <a:lumOff val="35000"/>
                  </a:schemeClr>
                </a:solidFill>
                <a:ea typeface="Open Sans" panose="020B0606030504020204" pitchFamily="34" charset="0"/>
                <a:cs typeface="Open Sans" panose="020B0606030504020204" pitchFamily="34" charset="0"/>
              </a:rPr>
              <a:t>(0.2113), and a </a:t>
            </a:r>
            <a:r>
              <a:rPr lang="en-US" sz="2362" dirty="0">
                <a:solidFill>
                  <a:schemeClr val="tx1">
                    <a:lumMod val="65000"/>
                    <a:lumOff val="35000"/>
                  </a:schemeClr>
                </a:solidFill>
                <a:ea typeface="Open Sans" panose="020B0606030504020204" pitchFamily="34" charset="0"/>
                <a:cs typeface="Open Sans" panose="020B0606030504020204" pitchFamily="34" charset="0"/>
              </a:rPr>
              <a:t>R</a:t>
            </a:r>
            <a:r>
              <a:rPr lang="en-US" sz="2362" baseline="30000" dirty="0">
                <a:solidFill>
                  <a:schemeClr val="tx1">
                    <a:lumMod val="65000"/>
                    <a:lumOff val="35000"/>
                  </a:schemeClr>
                </a:solidFill>
                <a:ea typeface="Open Sans" panose="020B0606030504020204" pitchFamily="34" charset="0"/>
                <a:cs typeface="Open Sans" panose="020B0606030504020204" pitchFamily="34" charset="0"/>
              </a:rPr>
              <a:t>2</a:t>
            </a:r>
            <a:r>
              <a:rPr lang="en-GB" sz="2362" dirty="0">
                <a:solidFill>
                  <a:schemeClr val="tx1">
                    <a:lumMod val="65000"/>
                    <a:lumOff val="35000"/>
                  </a:schemeClr>
                </a:solidFill>
                <a:ea typeface="Open Sans" panose="020B0606030504020204" pitchFamily="34" charset="0"/>
                <a:cs typeface="Open Sans" panose="020B0606030504020204" pitchFamily="34" charset="0"/>
              </a:rPr>
              <a:t> of 0.9447, but the highest training error. The worst results occurred in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M</a:t>
            </a:r>
            <a:r>
              <a:rPr lang="en-GB" sz="2362" dirty="0">
                <a:solidFill>
                  <a:schemeClr val="tx1">
                    <a:lumMod val="65000"/>
                    <a:lumOff val="35000"/>
                  </a:schemeClr>
                </a:solidFill>
                <a:ea typeface="Open Sans" panose="020B0606030504020204" pitchFamily="34" charset="0"/>
                <a:cs typeface="Open Sans" panose="020B0606030504020204" pitchFamily="34" charset="0"/>
              </a:rPr>
              <a:t> +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s</a:t>
            </a:r>
            <a:r>
              <a:rPr lang="en-GB" sz="2362" dirty="0">
                <a:solidFill>
                  <a:schemeClr val="tx1">
                    <a:lumMod val="65000"/>
                    <a:lumOff val="35000"/>
                  </a:schemeClr>
                </a:solidFill>
                <a:ea typeface="Open Sans" panose="020B0606030504020204" pitchFamily="34" charset="0"/>
                <a:cs typeface="Open Sans" panose="020B0606030504020204" pitchFamily="34" charset="0"/>
              </a:rPr>
              <a:t> + b</a:t>
            </a:r>
            <a:r>
              <a:rPr lang="en-GB" sz="2362" baseline="-25000" dirty="0">
                <a:solidFill>
                  <a:schemeClr val="tx1">
                    <a:lumMod val="65000"/>
                    <a:lumOff val="35000"/>
                  </a:schemeClr>
                </a:solidFill>
                <a:ea typeface="Open Sans" panose="020B0606030504020204" pitchFamily="34" charset="0"/>
                <a:cs typeface="Open Sans" panose="020B0606030504020204" pitchFamily="34" charset="0"/>
              </a:rPr>
              <a:t>c</a:t>
            </a:r>
            <a:r>
              <a:rPr lang="en-GB" sz="2362" dirty="0">
                <a:solidFill>
                  <a:schemeClr val="tx1">
                    <a:lumMod val="65000"/>
                    <a:lumOff val="35000"/>
                  </a:schemeClr>
                </a:solidFill>
                <a:ea typeface="Open Sans" panose="020B0606030504020204" pitchFamily="34" charset="0"/>
                <a:cs typeface="Open Sans" panose="020B0606030504020204" pitchFamily="34" charset="0"/>
              </a:rPr>
              <a:t>}, attributed again to overfitting </a:t>
            </a:r>
            <a:r>
              <a:rPr lang="en-GB" sz="2362" b="1" dirty="0">
                <a:solidFill>
                  <a:schemeClr val="tx1">
                    <a:lumMod val="65000"/>
                    <a:lumOff val="35000"/>
                  </a:schemeClr>
                </a:solidFill>
                <a:ea typeface="Open Sans" panose="020B0606030504020204" pitchFamily="34" charset="0"/>
                <a:cs typeface="Open Sans" panose="020B0606030504020204" pitchFamily="34" charset="0"/>
              </a:rPr>
              <a:t>(Figure 5)</a:t>
            </a:r>
            <a:r>
              <a:rPr lang="en-GB" sz="2362" dirty="0">
                <a:solidFill>
                  <a:schemeClr val="tx1">
                    <a:lumMod val="65000"/>
                    <a:lumOff val="35000"/>
                  </a:schemeClr>
                </a:solidFill>
                <a:ea typeface="Open Sans" panose="020B0606030504020204" pitchFamily="34" charset="0"/>
                <a:cs typeface="Open Sans" panose="020B0606030504020204" pitchFamily="34" charset="0"/>
              </a:rPr>
              <a:t>.</a:t>
            </a:r>
          </a:p>
        </p:txBody>
      </p:sp>
      <p:pic>
        <p:nvPicPr>
          <p:cNvPr id="284" name="Picture 283">
            <a:extLst>
              <a:ext uri="{FF2B5EF4-FFF2-40B4-BE49-F238E27FC236}">
                <a16:creationId xmlns:a16="http://schemas.microsoft.com/office/drawing/2014/main" id="{C9B19B49-3D50-9AA4-0AC2-1BD39DB85071}"/>
              </a:ext>
            </a:extLst>
          </p:cNvPr>
          <p:cNvPicPr>
            <a:picLocks noChangeAspect="1"/>
          </p:cNvPicPr>
          <p:nvPr/>
        </p:nvPicPr>
        <p:blipFill>
          <a:blip r:embed="rId14"/>
          <a:srcRect r="27254"/>
          <a:stretch>
            <a:fillRect/>
          </a:stretch>
        </p:blipFill>
        <p:spPr>
          <a:xfrm>
            <a:off x="11789989" y="27416976"/>
            <a:ext cx="4425832" cy="2831402"/>
          </a:xfrm>
          <a:prstGeom prst="rect">
            <a:avLst/>
          </a:prstGeom>
        </p:spPr>
      </p:pic>
      <p:sp>
        <p:nvSpPr>
          <p:cNvPr id="290" name="TextBox 289">
            <a:extLst>
              <a:ext uri="{FF2B5EF4-FFF2-40B4-BE49-F238E27FC236}">
                <a16:creationId xmlns:a16="http://schemas.microsoft.com/office/drawing/2014/main" id="{425387F1-4A7E-15B2-FA0D-8766A4546A46}"/>
              </a:ext>
            </a:extLst>
          </p:cNvPr>
          <p:cNvSpPr txBox="1"/>
          <p:nvPr/>
        </p:nvSpPr>
        <p:spPr>
          <a:xfrm>
            <a:off x="11434315" y="30280462"/>
            <a:ext cx="5137180" cy="1015663"/>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5: </a:t>
            </a:r>
            <a:r>
              <a:rPr lang="en-GB" sz="2000" dirty="0">
                <a:solidFill>
                  <a:schemeClr val="tx1">
                    <a:lumMod val="65000"/>
                    <a:lumOff val="35000"/>
                  </a:schemeClr>
                </a:solidFill>
                <a:ea typeface="Open Sans" panose="020B0606030504020204" pitchFamily="34" charset="0"/>
                <a:cs typeface="Open Sans" panose="020B0606030504020204" pitchFamily="34" charset="0"/>
              </a:rPr>
              <a:t>WMSE (solid line) and </a:t>
            </a:r>
            <a:r>
              <a:rPr lang="en-US" sz="2000" dirty="0">
                <a:solidFill>
                  <a:schemeClr val="tx1">
                    <a:lumMod val="65000"/>
                    <a:lumOff val="35000"/>
                  </a:schemeClr>
                </a:solidFill>
                <a:ea typeface="Open Sans" panose="020B0606030504020204" pitchFamily="34" charset="0"/>
                <a:cs typeface="Open Sans" panose="020B0606030504020204" pitchFamily="34" charset="0"/>
              </a:rPr>
              <a:t>R</a:t>
            </a:r>
            <a:r>
              <a:rPr lang="en-US" sz="2000" baseline="30000" dirty="0">
                <a:solidFill>
                  <a:schemeClr val="tx1">
                    <a:lumMod val="65000"/>
                    <a:lumOff val="35000"/>
                  </a:schemeClr>
                </a:solidFill>
                <a:ea typeface="Open Sans" panose="020B0606030504020204" pitchFamily="34" charset="0"/>
                <a:cs typeface="Open Sans" panose="020B0606030504020204" pitchFamily="34" charset="0"/>
              </a:rPr>
              <a:t>2</a:t>
            </a:r>
            <a:r>
              <a:rPr lang="en-GB" sz="2000" baseline="30000" dirty="0">
                <a:solidFill>
                  <a:schemeClr val="tx1">
                    <a:lumMod val="65000"/>
                    <a:lumOff val="35000"/>
                  </a:schemeClr>
                </a:solidFill>
                <a:ea typeface="Open Sans" panose="020B0606030504020204" pitchFamily="34" charset="0"/>
                <a:cs typeface="Open Sans" panose="020B0606030504020204" pitchFamily="34" charset="0"/>
              </a:rPr>
              <a:t>  </a:t>
            </a:r>
            <a:r>
              <a:rPr lang="en-GB" sz="2000" dirty="0">
                <a:solidFill>
                  <a:schemeClr val="tx1">
                    <a:lumMod val="65000"/>
                    <a:lumOff val="35000"/>
                  </a:schemeClr>
                </a:solidFill>
                <a:ea typeface="Open Sans" panose="020B0606030504020204" pitchFamily="34" charset="0"/>
                <a:cs typeface="Open Sans" panose="020B0606030504020204" pitchFamily="34" charset="0"/>
              </a:rPr>
              <a:t>(dashed line) for train (dark blue) and test (light blue) per batches for training.</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294" name="TextBox 293">
            <a:extLst>
              <a:ext uri="{FF2B5EF4-FFF2-40B4-BE49-F238E27FC236}">
                <a16:creationId xmlns:a16="http://schemas.microsoft.com/office/drawing/2014/main" id="{1AFE1977-4C63-E410-9951-4A6F95CA20F6}"/>
              </a:ext>
            </a:extLst>
          </p:cNvPr>
          <p:cNvSpPr txBox="1"/>
          <p:nvPr/>
        </p:nvSpPr>
        <p:spPr>
          <a:xfrm>
            <a:off x="16768758" y="27474598"/>
            <a:ext cx="4149870" cy="3978140"/>
          </a:xfrm>
          <a:prstGeom prst="rect">
            <a:avLst/>
          </a:prstGeom>
          <a:noFill/>
        </p:spPr>
        <p:txBody>
          <a:bodyPr wrap="square" rtlCol="0">
            <a:spAutoFit/>
          </a:bodyPr>
          <a:lstStyle>
            <a:defPPr>
              <a:defRPr kern="1200"/>
            </a:defP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 selected split also resulted in a 25.9% reduction in training time compared to Phase I. </a:t>
            </a:r>
          </a:p>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These results evidenced how reducing the training data size can improve efficiency without compromising the model’s predictive capability.</a:t>
            </a:r>
          </a:p>
        </p:txBody>
      </p:sp>
      <p:sp>
        <p:nvSpPr>
          <p:cNvPr id="296" name="TextBox 295">
            <a:extLst>
              <a:ext uri="{FF2B5EF4-FFF2-40B4-BE49-F238E27FC236}">
                <a16:creationId xmlns:a16="http://schemas.microsoft.com/office/drawing/2014/main" id="{FD0A59FC-6C18-0EC9-8B78-854430BD143D}"/>
              </a:ext>
            </a:extLst>
          </p:cNvPr>
          <p:cNvSpPr txBox="1"/>
          <p:nvPr/>
        </p:nvSpPr>
        <p:spPr>
          <a:xfrm>
            <a:off x="11427899" y="31378801"/>
            <a:ext cx="9543490" cy="523220"/>
          </a:xfrm>
          <a:prstGeom prst="rect">
            <a:avLst/>
          </a:prstGeom>
          <a:noFill/>
        </p:spPr>
        <p:txBody>
          <a:bodyPr wrap="square" rtlCol="0">
            <a:spAutoFit/>
          </a:bodyPr>
          <a:lstStyle>
            <a:defPPr>
              <a:defRPr kern="1200"/>
            </a:defPPr>
          </a:lstStyle>
          <a:p>
            <a:r>
              <a:rPr lang="en-US" sz="2800" dirty="0">
                <a:solidFill>
                  <a:schemeClr val="tx1">
                    <a:lumMod val="65000"/>
                    <a:lumOff val="35000"/>
                  </a:schemeClr>
                </a:solidFill>
                <a:ea typeface="Open Sans" panose="020B0606030504020204" pitchFamily="34" charset="0"/>
                <a:cs typeface="Open Sans" panose="020B0606030504020204" pitchFamily="34" charset="0"/>
              </a:rPr>
              <a:t>III. </a:t>
            </a:r>
            <a:r>
              <a:rPr lang="en-US" sz="2800" u="sng" dirty="0">
                <a:solidFill>
                  <a:schemeClr val="tx1">
                    <a:lumMod val="65000"/>
                    <a:lumOff val="35000"/>
                  </a:schemeClr>
                </a:solidFill>
                <a:ea typeface="Open Sans" panose="020B0606030504020204" pitchFamily="34" charset="0"/>
                <a:cs typeface="Open Sans" panose="020B0606030504020204" pitchFamily="34" charset="0"/>
              </a:rPr>
              <a:t>Multiple mAb prediction</a:t>
            </a:r>
          </a:p>
        </p:txBody>
      </p:sp>
      <p:sp>
        <p:nvSpPr>
          <p:cNvPr id="300" name="TextBox 299">
            <a:extLst>
              <a:ext uri="{FF2B5EF4-FFF2-40B4-BE49-F238E27FC236}">
                <a16:creationId xmlns:a16="http://schemas.microsoft.com/office/drawing/2014/main" id="{D75E0F5E-DAFD-5B6D-126C-2330568E37ED}"/>
              </a:ext>
            </a:extLst>
          </p:cNvPr>
          <p:cNvSpPr txBox="1"/>
          <p:nvPr/>
        </p:nvSpPr>
        <p:spPr>
          <a:xfrm>
            <a:off x="11427899" y="31953911"/>
            <a:ext cx="9543490" cy="3105722"/>
          </a:xfrm>
          <a:prstGeom prst="rect">
            <a:avLst/>
          </a:prstGeom>
          <a:noFill/>
        </p:spPr>
        <p:txBody>
          <a:bodyPr wrap="square" rtlCol="0">
            <a:spAutoFit/>
          </a:bodyPr>
          <a:lstStyle>
            <a:defPPr>
              <a:defRPr kern="1200"/>
            </a:defP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 structure selected in Phase I and the data split selected in Phase II are used to train 10 mAbs (</a:t>
            </a:r>
            <a:r>
              <a:rPr lang="en-US" sz="2362" dirty="0">
                <a:solidFill>
                  <a:schemeClr val="tx1">
                    <a:lumMod val="65000"/>
                    <a:lumOff val="35000"/>
                  </a:schemeClr>
                </a:solidFill>
                <a:ea typeface="Open Sans" panose="020B0606030504020204" pitchFamily="34" charset="0"/>
                <a:cs typeface="Open Sans" panose="020B0606030504020204" pitchFamily="34" charset="0"/>
              </a:rPr>
              <a:t>6 high titer + 4 low titer</a:t>
            </a:r>
            <a:r>
              <a:rPr lang="en-GB" sz="2362" dirty="0">
                <a:solidFill>
                  <a:schemeClr val="tx1">
                    <a:lumMod val="65000"/>
                    <a:lumOff val="35000"/>
                  </a:schemeClr>
                </a:solidFill>
                <a:ea typeface="Open Sans" panose="020B0606030504020204" pitchFamily="34" charset="0"/>
                <a:cs typeface="Open Sans" panose="020B0606030504020204" pitchFamily="34" charset="0"/>
              </a:rPr>
              <a:t>). 56 batches were used for training + regularization and 104 for testing.</a:t>
            </a:r>
          </a:p>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 model showed some agreement with the training and test data, with WMSE values corresponding to 0.2665 and 0.2830. However, it was unable to describe mAbs dynamics, predicting null </a:t>
            </a:r>
            <a:r>
              <a:rPr lang="en-GB" sz="2362" b="1" dirty="0">
                <a:solidFill>
                  <a:schemeClr val="tx1">
                    <a:lumMod val="65000"/>
                    <a:lumOff val="35000"/>
                  </a:schemeClr>
                </a:solidFill>
                <a:ea typeface="Open Sans" panose="020B0606030504020204" pitchFamily="34" charset="0"/>
                <a:cs typeface="Open Sans" panose="020B0606030504020204" pitchFamily="34" charset="0"/>
              </a:rPr>
              <a:t>mAb </a:t>
            </a:r>
            <a:r>
              <a:rPr lang="en-GB" sz="2362" dirty="0">
                <a:solidFill>
                  <a:schemeClr val="tx1">
                    <a:lumMod val="65000"/>
                    <a:lumOff val="35000"/>
                  </a:schemeClr>
                </a:solidFill>
                <a:ea typeface="Open Sans" panose="020B0606030504020204" pitchFamily="34" charset="0"/>
                <a:cs typeface="Open Sans" panose="020B0606030504020204" pitchFamily="34" charset="0"/>
              </a:rPr>
              <a:t>in both training and testing sets, evidenced in the parity plot in </a:t>
            </a:r>
            <a:r>
              <a:rPr lang="en-GB" sz="2362" b="1" dirty="0">
                <a:solidFill>
                  <a:schemeClr val="tx1">
                    <a:lumMod val="65000"/>
                    <a:lumOff val="35000"/>
                  </a:schemeClr>
                </a:solidFill>
                <a:ea typeface="Open Sans" panose="020B0606030504020204" pitchFamily="34" charset="0"/>
                <a:cs typeface="Open Sans" panose="020B0606030504020204" pitchFamily="34" charset="0"/>
              </a:rPr>
              <a:t>Figure 6</a:t>
            </a:r>
            <a:r>
              <a:rPr lang="en-GB" sz="2362" dirty="0">
                <a:solidFill>
                  <a:schemeClr val="tx1">
                    <a:lumMod val="65000"/>
                    <a:lumOff val="35000"/>
                  </a:schemeClr>
                </a:solidFill>
                <a:ea typeface="Open Sans" panose="020B0606030504020204" pitchFamily="34" charset="0"/>
                <a:cs typeface="Open Sans" panose="020B0606030504020204" pitchFamily="34" charset="0"/>
              </a:rPr>
              <a:t>.</a:t>
            </a:r>
          </a:p>
        </p:txBody>
      </p:sp>
      <p:sp>
        <p:nvSpPr>
          <p:cNvPr id="305" name="TextBox 304">
            <a:extLst>
              <a:ext uri="{FF2B5EF4-FFF2-40B4-BE49-F238E27FC236}">
                <a16:creationId xmlns:a16="http://schemas.microsoft.com/office/drawing/2014/main" id="{660B1089-24D4-321E-4911-422835FB30C4}"/>
              </a:ext>
            </a:extLst>
          </p:cNvPr>
          <p:cNvSpPr txBox="1"/>
          <p:nvPr/>
        </p:nvSpPr>
        <p:spPr>
          <a:xfrm>
            <a:off x="22375739" y="14462778"/>
            <a:ext cx="9349042" cy="400110"/>
          </a:xfrm>
          <a:prstGeom prst="rect">
            <a:avLst/>
          </a:prstGeom>
          <a:noFill/>
        </p:spPr>
        <p:txBody>
          <a:bodyPr wrap="square" rtlCol="0">
            <a:spAutoFit/>
          </a:bodyPr>
          <a:lstStyle>
            <a:defPPr>
              <a:defRPr kern="1200"/>
            </a:defPPr>
          </a:lstStyle>
          <a:p>
            <a:pPr algn="ctr"/>
            <a:r>
              <a:rPr lang="en-GB" sz="2000" b="1" dirty="0">
                <a:solidFill>
                  <a:schemeClr val="tx1">
                    <a:lumMod val="65000"/>
                    <a:lumOff val="35000"/>
                  </a:schemeClr>
                </a:solidFill>
                <a:ea typeface="Open Sans" panose="020B0606030504020204" pitchFamily="34" charset="0"/>
                <a:cs typeface="Open Sans" panose="020B0606030504020204" pitchFamily="34" charset="0"/>
              </a:rPr>
              <a:t>Figure 6: </a:t>
            </a:r>
            <a:r>
              <a:rPr lang="en-GB" sz="2000" dirty="0">
                <a:solidFill>
                  <a:schemeClr val="tx1">
                    <a:lumMod val="65000"/>
                    <a:lumOff val="35000"/>
                  </a:schemeClr>
                </a:solidFill>
                <a:ea typeface="Open Sans" panose="020B0606030504020204" pitchFamily="34" charset="0"/>
                <a:cs typeface="Open Sans" panose="020B0606030504020204" pitchFamily="34" charset="0"/>
              </a:rPr>
              <a:t>Parity plot for training (light blue) and test data (dark blue) for </a:t>
            </a:r>
            <a:r>
              <a:rPr lang="en-GB" sz="2000" b="1" dirty="0">
                <a:solidFill>
                  <a:schemeClr val="tx1">
                    <a:lumMod val="65000"/>
                    <a:lumOff val="35000"/>
                  </a:schemeClr>
                </a:solidFill>
                <a:ea typeface="Open Sans" panose="020B0606030504020204" pitchFamily="34" charset="0"/>
                <a:cs typeface="Open Sans" panose="020B0606030504020204" pitchFamily="34" charset="0"/>
              </a:rPr>
              <a:t>Phase III</a:t>
            </a:r>
            <a:r>
              <a:rPr lang="en-GB" sz="2000" dirty="0">
                <a:solidFill>
                  <a:schemeClr val="tx1">
                    <a:lumMod val="65000"/>
                    <a:lumOff val="35000"/>
                  </a:schemeClr>
                </a:solidFill>
                <a:ea typeface="Open Sans" panose="020B0606030504020204" pitchFamily="34" charset="0"/>
                <a:cs typeface="Open Sans" panose="020B0606030504020204" pitchFamily="34" charset="0"/>
              </a:rPr>
              <a:t>. </a:t>
            </a:r>
            <a:endParaRPr lang="en-US" sz="2000"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309" name="TextBox 308">
            <a:extLst>
              <a:ext uri="{FF2B5EF4-FFF2-40B4-BE49-F238E27FC236}">
                <a16:creationId xmlns:a16="http://schemas.microsoft.com/office/drawing/2014/main" id="{1446E98F-4350-B965-DB3F-A3CA5A2D9B37}"/>
              </a:ext>
            </a:extLst>
          </p:cNvPr>
          <p:cNvSpPr txBox="1"/>
          <p:nvPr/>
        </p:nvSpPr>
        <p:spPr>
          <a:xfrm>
            <a:off x="22231839" y="14905972"/>
            <a:ext cx="9349042" cy="1797095"/>
          </a:xfrm>
          <a:prstGeom prst="rect">
            <a:avLst/>
          </a:prstGeom>
          <a:noFill/>
        </p:spPr>
        <p:txBody>
          <a:bodyPr wrap="square">
            <a:spAutoFit/>
          </a:body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 model lacks this information and therefore cannot learn or predict mAb </a:t>
            </a:r>
            <a:r>
              <a:rPr lang="en-US" sz="2362" noProof="0" dirty="0">
                <a:solidFill>
                  <a:schemeClr val="tx1">
                    <a:lumMod val="65000"/>
                    <a:lumOff val="35000"/>
                  </a:schemeClr>
                </a:solidFill>
                <a:ea typeface="Open Sans" panose="020B0606030504020204" pitchFamily="34" charset="0"/>
                <a:cs typeface="Open Sans" panose="020B0606030504020204" pitchFamily="34" charset="0"/>
              </a:rPr>
              <a:t>behavior</a:t>
            </a:r>
            <a:r>
              <a:rPr lang="en-GB" sz="2362" dirty="0">
                <a:solidFill>
                  <a:schemeClr val="tx1">
                    <a:lumMod val="65000"/>
                    <a:lumOff val="35000"/>
                  </a:schemeClr>
                </a:solidFill>
                <a:ea typeface="Open Sans" panose="020B0606030504020204" pitchFamily="34" charset="0"/>
                <a:cs typeface="Open Sans" panose="020B0606030504020204" pitchFamily="34" charset="0"/>
              </a:rPr>
              <a:t> based solely on batch conditions. </a:t>
            </a:r>
          </a:p>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These results indicate that it is necessary to provide the model with further information regarding mAb features.</a:t>
            </a:r>
            <a:endParaRPr lang="en-US" dirty="0"/>
          </a:p>
        </p:txBody>
      </p:sp>
      <p:sp>
        <p:nvSpPr>
          <p:cNvPr id="311" name="TextBox 310">
            <a:extLst>
              <a:ext uri="{FF2B5EF4-FFF2-40B4-BE49-F238E27FC236}">
                <a16:creationId xmlns:a16="http://schemas.microsoft.com/office/drawing/2014/main" id="{6D89032C-46A2-CFF4-2E4F-AB8B116A4011}"/>
              </a:ext>
            </a:extLst>
          </p:cNvPr>
          <p:cNvSpPr txBox="1"/>
          <p:nvPr/>
        </p:nvSpPr>
        <p:spPr>
          <a:xfrm>
            <a:off x="22231839" y="5421234"/>
            <a:ext cx="9349042" cy="1797095"/>
          </a:xfrm>
          <a:prstGeom prst="rect">
            <a:avLst/>
          </a:prstGeom>
          <a:noFill/>
        </p:spPr>
        <p:txBody>
          <a:bodyPr wrap="square" rtlCol="0">
            <a:spAutoFit/>
          </a:bodyPr>
          <a:lstStyle>
            <a:defPPr>
              <a:defRPr kern="1200"/>
            </a:defPPr>
          </a:lstStyle>
          <a:p>
            <a:pPr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These results are explained by the significant differences in mAb production across the 10 mAbs data set. While the behaviour of the other species is largely dictated by the batch conditions, the production of mAb differs heavily across the different products.</a:t>
            </a:r>
            <a:endParaRPr lang="en-US" sz="2362" dirty="0">
              <a:solidFill>
                <a:schemeClr val="tx1">
                  <a:lumMod val="65000"/>
                  <a:lumOff val="35000"/>
                </a:schemeClr>
              </a:solidFill>
              <a:ea typeface="Open Sans" panose="020B0606030504020204" pitchFamily="34" charset="0"/>
              <a:cs typeface="Open Sans" panose="020B0606030504020204" pitchFamily="34" charset="0"/>
            </a:endParaRPr>
          </a:p>
        </p:txBody>
      </p:sp>
      <p:sp>
        <p:nvSpPr>
          <p:cNvPr id="319" name="TextBox 318">
            <a:extLst>
              <a:ext uri="{FF2B5EF4-FFF2-40B4-BE49-F238E27FC236}">
                <a16:creationId xmlns:a16="http://schemas.microsoft.com/office/drawing/2014/main" id="{170E1E34-099D-C08C-AB9E-710CA6F5DDC4}"/>
              </a:ext>
            </a:extLst>
          </p:cNvPr>
          <p:cNvSpPr txBox="1"/>
          <p:nvPr/>
        </p:nvSpPr>
        <p:spPr>
          <a:xfrm>
            <a:off x="22209619" y="22179235"/>
            <a:ext cx="9349042" cy="2233304"/>
          </a:xfrm>
          <a:prstGeom prst="rect">
            <a:avLst/>
          </a:prstGeom>
          <a:noFill/>
        </p:spPr>
        <p:txBody>
          <a:bodyPr wrap="square" rtlCol="0">
            <a:spAutoFit/>
          </a:bodyPr>
          <a:lstStyle>
            <a:defPPr>
              <a:defRPr kern="1200"/>
            </a:defPPr>
          </a:lstStyle>
          <a:p>
            <a:pPr lvl="0" algn="just">
              <a:lnSpc>
                <a:spcPct val="120000"/>
              </a:lnSpc>
            </a:pPr>
            <a:r>
              <a:rPr lang="en-GB" sz="2362" dirty="0">
                <a:solidFill>
                  <a:schemeClr val="tx1">
                    <a:lumMod val="65000"/>
                    <a:lumOff val="35000"/>
                  </a:schemeClr>
                </a:solidFill>
                <a:ea typeface="Open Sans" panose="020B0606030504020204" pitchFamily="34" charset="0"/>
                <a:cs typeface="Open Sans" panose="020B0606030504020204" pitchFamily="34" charset="0"/>
              </a:rPr>
              <a:t>Hybrid model can achieve strong predictive performance for a single mAb with a reduced dataset, supporting a lower experimental burden for new biotherapeutics development. Overall, objectives I and II were met; knowledge transfer in objective III highlighted a key limitation to address in future work.</a:t>
            </a:r>
          </a:p>
        </p:txBody>
      </p:sp>
      <p:sp>
        <p:nvSpPr>
          <p:cNvPr id="325" name="TextBox 324">
            <a:extLst>
              <a:ext uri="{FF2B5EF4-FFF2-40B4-BE49-F238E27FC236}">
                <a16:creationId xmlns:a16="http://schemas.microsoft.com/office/drawing/2014/main" id="{7FA8085C-FEF3-9E3B-B1DC-E36F3159F4ED}"/>
              </a:ext>
            </a:extLst>
          </p:cNvPr>
          <p:cNvSpPr txBox="1"/>
          <p:nvPr/>
        </p:nvSpPr>
        <p:spPr>
          <a:xfrm>
            <a:off x="22053671" y="25143449"/>
            <a:ext cx="9349042" cy="2669513"/>
          </a:xfrm>
          <a:prstGeom prst="rect">
            <a:avLst/>
          </a:prstGeom>
          <a:noFill/>
        </p:spPr>
        <p:txBody>
          <a:bodyPr wrap="square" rtlCol="0">
            <a:spAutoFit/>
          </a:bodyPr>
          <a:lstStyle>
            <a:defPPr>
              <a:defRPr kern="1200"/>
            </a:defPPr>
          </a:lstStyle>
          <a:p>
            <a:pPr marL="342900" lvl="0" indent="-342900" algn="just">
              <a:lnSpc>
                <a:spcPct val="120000"/>
              </a:lnSpc>
              <a:buFont typeface="Arial" panose="020B0604020202020204" pitchFamily="34" charset="0"/>
              <a:buChar char="•"/>
            </a:pPr>
            <a:r>
              <a:rPr lang="en-GB" sz="2362" dirty="0">
                <a:solidFill>
                  <a:schemeClr val="tx1">
                    <a:lumMod val="65000"/>
                    <a:lumOff val="35000"/>
                  </a:schemeClr>
                </a:solidFill>
                <a:ea typeface="Open Sans" panose="020B0606030504020204" pitchFamily="34" charset="0"/>
                <a:cs typeface="Open Sans" panose="020B0606030504020204" pitchFamily="34" charset="0"/>
              </a:rPr>
              <a:t>Evaluate hybrid model structures allowing distinction between production profiles;</a:t>
            </a:r>
          </a:p>
          <a:p>
            <a:pPr marL="342900" lvl="0" indent="-342900" algn="just">
              <a:lnSpc>
                <a:spcPct val="120000"/>
              </a:lnSpc>
              <a:buFont typeface="Arial" panose="020B0604020202020204" pitchFamily="34" charset="0"/>
              <a:buChar char="•"/>
            </a:pPr>
            <a:r>
              <a:rPr lang="en-GB" sz="2362" dirty="0">
                <a:solidFill>
                  <a:schemeClr val="tx1">
                    <a:lumMod val="65000"/>
                    <a:lumOff val="35000"/>
                  </a:schemeClr>
                </a:solidFill>
                <a:ea typeface="Open Sans" panose="020B0606030504020204" pitchFamily="34" charset="0"/>
                <a:cs typeface="Open Sans" panose="020B0606030504020204" pitchFamily="34" charset="0"/>
              </a:rPr>
              <a:t>Evaluate whether the training-set reduction strategy from Phase II also holds for multiple-mAb models;</a:t>
            </a:r>
          </a:p>
          <a:p>
            <a:pPr marL="342900" lvl="0" indent="-342900" algn="just">
              <a:lnSpc>
                <a:spcPct val="120000"/>
              </a:lnSpc>
              <a:buFont typeface="Arial" panose="020B0604020202020204" pitchFamily="34" charset="0"/>
              <a:buChar char="•"/>
            </a:pPr>
            <a:r>
              <a:rPr lang="en-GB" sz="2362" dirty="0">
                <a:solidFill>
                  <a:schemeClr val="tx1">
                    <a:lumMod val="65000"/>
                    <a:lumOff val="35000"/>
                  </a:schemeClr>
                </a:solidFill>
                <a:ea typeface="Open Sans" panose="020B0606030504020204" pitchFamily="34" charset="0"/>
                <a:cs typeface="Open Sans" panose="020B0606030504020204" pitchFamily="34" charset="0"/>
              </a:rPr>
              <a:t>Test the extended model structure on the full set of 72 mAbs to assess generalization.</a:t>
            </a:r>
          </a:p>
        </p:txBody>
      </p:sp>
      <p:sp>
        <p:nvSpPr>
          <p:cNvPr id="155" name="TextBox 154">
            <a:extLst>
              <a:ext uri="{FF2B5EF4-FFF2-40B4-BE49-F238E27FC236}">
                <a16:creationId xmlns:a16="http://schemas.microsoft.com/office/drawing/2014/main" id="{68A14A76-369D-4817-A44E-5A3E058A29AC}"/>
              </a:ext>
            </a:extLst>
          </p:cNvPr>
          <p:cNvSpPr txBox="1"/>
          <p:nvPr/>
        </p:nvSpPr>
        <p:spPr>
          <a:xfrm>
            <a:off x="11422833" y="11971332"/>
            <a:ext cx="9495795"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I. Single mAb prediction</a:t>
            </a:r>
          </a:p>
        </p:txBody>
      </p:sp>
      <p:sp>
        <p:nvSpPr>
          <p:cNvPr id="222" name="TextBox 221">
            <a:extLst>
              <a:ext uri="{FF2B5EF4-FFF2-40B4-BE49-F238E27FC236}">
                <a16:creationId xmlns:a16="http://schemas.microsoft.com/office/drawing/2014/main" id="{6B953C62-AC74-42B5-825E-43FBB6F3CC4F}"/>
              </a:ext>
            </a:extLst>
          </p:cNvPr>
          <p:cNvSpPr txBox="1"/>
          <p:nvPr/>
        </p:nvSpPr>
        <p:spPr>
          <a:xfrm>
            <a:off x="22112394" y="24600187"/>
            <a:ext cx="9543490" cy="523220"/>
          </a:xfrm>
          <a:prstGeom prst="rect">
            <a:avLst/>
          </a:prstGeom>
          <a:noFill/>
        </p:spPr>
        <p:txBody>
          <a:bodyPr wrap="square" rtlCol="0">
            <a:spAutoFit/>
          </a:bodyPr>
          <a:lstStyle>
            <a:defPPr>
              <a:defRPr kern="1200"/>
            </a:defPPr>
          </a:lstStyle>
          <a:p>
            <a:r>
              <a:rPr lang="en-US" sz="2800" u="sng" dirty="0">
                <a:solidFill>
                  <a:schemeClr val="tx1">
                    <a:lumMod val="65000"/>
                    <a:lumOff val="35000"/>
                  </a:schemeClr>
                </a:solidFill>
                <a:ea typeface="Open Sans" panose="020B0606030504020204" pitchFamily="34" charset="0"/>
                <a:cs typeface="Open Sans" panose="020B0606030504020204" pitchFamily="34" charset="0"/>
              </a:rPr>
              <a:t>Future Work</a:t>
            </a:r>
          </a:p>
        </p:txBody>
      </p:sp>
      <p:grpSp>
        <p:nvGrpSpPr>
          <p:cNvPr id="6" name="Group 5">
            <a:extLst>
              <a:ext uri="{FF2B5EF4-FFF2-40B4-BE49-F238E27FC236}">
                <a16:creationId xmlns:a16="http://schemas.microsoft.com/office/drawing/2014/main" id="{9AB9FB32-62AC-4E1A-9092-E4D9D4A5ECF0}"/>
              </a:ext>
            </a:extLst>
          </p:cNvPr>
          <p:cNvGrpSpPr/>
          <p:nvPr/>
        </p:nvGrpSpPr>
        <p:grpSpPr>
          <a:xfrm>
            <a:off x="23247292" y="7291840"/>
            <a:ext cx="7605936" cy="7100651"/>
            <a:chOff x="22843584" y="7260748"/>
            <a:chExt cx="7823926" cy="7223760"/>
          </a:xfrm>
        </p:grpSpPr>
        <p:pic>
          <p:nvPicPr>
            <p:cNvPr id="303" name="Picture 302">
              <a:extLst>
                <a:ext uri="{FF2B5EF4-FFF2-40B4-BE49-F238E27FC236}">
                  <a16:creationId xmlns:a16="http://schemas.microsoft.com/office/drawing/2014/main" id="{06EC48E6-4B2D-79FC-8393-271F7C0A82D0}"/>
                </a:ext>
              </a:extLst>
            </p:cNvPr>
            <p:cNvPicPr>
              <a:picLocks noChangeAspect="1"/>
            </p:cNvPicPr>
            <p:nvPr/>
          </p:nvPicPr>
          <p:blipFill rotWithShape="1">
            <a:blip r:embed="rId15">
              <a:extLst>
                <a:ext uri="{28A0092B-C50C-407E-A947-70E740481C1C}">
                  <a14:useLocalDpi xmlns:a14="http://schemas.microsoft.com/office/drawing/2010/main" val="0"/>
                </a:ext>
              </a:extLst>
            </a:blip>
            <a:srcRect r="3752"/>
            <a:stretch/>
          </p:blipFill>
          <p:spPr>
            <a:xfrm>
              <a:off x="22843584" y="7260748"/>
              <a:ext cx="7823926" cy="7223760"/>
            </a:xfrm>
            <a:prstGeom prst="rect">
              <a:avLst/>
            </a:prstGeom>
          </p:spPr>
        </p:pic>
        <p:pic>
          <p:nvPicPr>
            <p:cNvPr id="4" name="Picture 3">
              <a:extLst>
                <a:ext uri="{FF2B5EF4-FFF2-40B4-BE49-F238E27FC236}">
                  <a16:creationId xmlns:a16="http://schemas.microsoft.com/office/drawing/2014/main" id="{4E7FF571-5115-4258-B41E-46608F814196}"/>
                </a:ext>
              </a:extLst>
            </p:cNvPr>
            <p:cNvPicPr>
              <a:picLocks noChangeAspect="1"/>
            </p:cNvPicPr>
            <p:nvPr/>
          </p:nvPicPr>
          <p:blipFill>
            <a:blip r:embed="rId16"/>
            <a:stretch>
              <a:fillRect/>
            </a:stretch>
          </p:blipFill>
          <p:spPr>
            <a:xfrm>
              <a:off x="29849128" y="13848482"/>
              <a:ext cx="818382" cy="87973"/>
            </a:xfrm>
            <a:prstGeom prst="rect">
              <a:avLst/>
            </a:prstGeom>
          </p:spPr>
        </p:pic>
        <p:pic>
          <p:nvPicPr>
            <p:cNvPr id="224" name="Picture 223">
              <a:extLst>
                <a:ext uri="{FF2B5EF4-FFF2-40B4-BE49-F238E27FC236}">
                  <a16:creationId xmlns:a16="http://schemas.microsoft.com/office/drawing/2014/main" id="{7228F7E0-759E-4ABE-B35D-D0FECCAE2398}"/>
                </a:ext>
              </a:extLst>
            </p:cNvPr>
            <p:cNvPicPr>
              <a:picLocks noChangeAspect="1"/>
            </p:cNvPicPr>
            <p:nvPr/>
          </p:nvPicPr>
          <p:blipFill>
            <a:blip r:embed="rId16"/>
            <a:stretch>
              <a:fillRect/>
            </a:stretch>
          </p:blipFill>
          <p:spPr>
            <a:xfrm>
              <a:off x="23544470" y="7308931"/>
              <a:ext cx="802338" cy="331575"/>
            </a:xfrm>
            <a:prstGeom prst="rect">
              <a:avLst/>
            </a:prstGeom>
          </p:spPr>
        </p:pic>
      </p:grpSp>
    </p:spTree>
    <p:extLst>
      <p:ext uri="{BB962C8B-B14F-4D97-AF65-F5344CB8AC3E}">
        <p14:creationId xmlns:p14="http://schemas.microsoft.com/office/powerpoint/2010/main" val="412812335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assessingslate|08-2022"/>
</p:tagLst>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Essential">
      <a:majorFont>
        <a:latin typeface="Arial Black"/>
        <a:ea typeface="Arial"/>
        <a:cs typeface="Arial"/>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6773</TotalTime>
  <Words>1679</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 Black</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SBEGroup</cp:lastModifiedBy>
  <cp:revision>61</cp:revision>
  <dcterms:modified xsi:type="dcterms:W3CDTF">2026-09-07T16:01:12Z</dcterms:modified>
  <cp:category>science research poster</cp:category>
</cp:coreProperties>
</file>